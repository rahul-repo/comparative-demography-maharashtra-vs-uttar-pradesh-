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74"/>
  </p:notesMasterIdLst>
  <p:handoutMasterIdLst>
    <p:handoutMasterId r:id="rId75"/>
  </p:handoutMasterIdLst>
  <p:sldIdLst>
    <p:sldId id="256" r:id="rId5"/>
    <p:sldId id="261" r:id="rId6"/>
    <p:sldId id="263" r:id="rId7"/>
    <p:sldId id="269" r:id="rId8"/>
    <p:sldId id="277" r:id="rId9"/>
    <p:sldId id="262" r:id="rId10"/>
    <p:sldId id="264" r:id="rId11"/>
    <p:sldId id="265" r:id="rId12"/>
    <p:sldId id="266"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303" r:id="rId26"/>
    <p:sldId id="305" r:id="rId27"/>
    <p:sldId id="307" r:id="rId28"/>
    <p:sldId id="310" r:id="rId29"/>
    <p:sldId id="306" r:id="rId30"/>
    <p:sldId id="311" r:id="rId31"/>
    <p:sldId id="314" r:id="rId32"/>
    <p:sldId id="308" r:id="rId33"/>
    <p:sldId id="309" r:id="rId34"/>
    <p:sldId id="312" r:id="rId35"/>
    <p:sldId id="315" r:id="rId36"/>
    <p:sldId id="313" r:id="rId37"/>
    <p:sldId id="321" r:id="rId38"/>
    <p:sldId id="322" r:id="rId39"/>
    <p:sldId id="316" r:id="rId40"/>
    <p:sldId id="317" r:id="rId41"/>
    <p:sldId id="318" r:id="rId42"/>
    <p:sldId id="319" r:id="rId43"/>
    <p:sldId id="323" r:id="rId44"/>
    <p:sldId id="324" r:id="rId45"/>
    <p:sldId id="325" r:id="rId46"/>
    <p:sldId id="326" r:id="rId47"/>
    <p:sldId id="327" r:id="rId48"/>
    <p:sldId id="328" r:id="rId49"/>
    <p:sldId id="329" r:id="rId50"/>
    <p:sldId id="330" r:id="rId51"/>
    <p:sldId id="331" r:id="rId52"/>
    <p:sldId id="291" r:id="rId53"/>
    <p:sldId id="292" r:id="rId54"/>
    <p:sldId id="293" r:id="rId55"/>
    <p:sldId id="294" r:id="rId56"/>
    <p:sldId id="295" r:id="rId57"/>
    <p:sldId id="296" r:id="rId58"/>
    <p:sldId id="299" r:id="rId59"/>
    <p:sldId id="300" r:id="rId60"/>
    <p:sldId id="301" r:id="rId61"/>
    <p:sldId id="302" r:id="rId62"/>
    <p:sldId id="304" r:id="rId63"/>
    <p:sldId id="267" r:id="rId64"/>
    <p:sldId id="268" r:id="rId65"/>
    <p:sldId id="271" r:id="rId66"/>
    <p:sldId id="270" r:id="rId67"/>
    <p:sldId id="272" r:id="rId68"/>
    <p:sldId id="276" r:id="rId69"/>
    <p:sldId id="274" r:id="rId70"/>
    <p:sldId id="275" r:id="rId71"/>
    <p:sldId id="273" r:id="rId72"/>
    <p:sldId id="260"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27AC30-C8B6-4C5D-AA50-1C85A972EFC9}">
          <p14:sldIdLst>
            <p14:sldId id="256"/>
            <p14:sldId id="261"/>
            <p14:sldId id="263"/>
            <p14:sldId id="269"/>
            <p14:sldId id="277"/>
            <p14:sldId id="262"/>
            <p14:sldId id="264"/>
            <p14:sldId id="265"/>
            <p14:sldId id="266"/>
            <p14:sldId id="278"/>
            <p14:sldId id="279"/>
            <p14:sldId id="280"/>
            <p14:sldId id="281"/>
            <p14:sldId id="282"/>
            <p14:sldId id="283"/>
            <p14:sldId id="284"/>
            <p14:sldId id="285"/>
            <p14:sldId id="286"/>
            <p14:sldId id="287"/>
            <p14:sldId id="288"/>
            <p14:sldId id="289"/>
            <p14:sldId id="303"/>
            <p14:sldId id="305"/>
            <p14:sldId id="307"/>
            <p14:sldId id="310"/>
            <p14:sldId id="306"/>
            <p14:sldId id="311"/>
            <p14:sldId id="314"/>
            <p14:sldId id="308"/>
            <p14:sldId id="309"/>
            <p14:sldId id="312"/>
            <p14:sldId id="315"/>
            <p14:sldId id="313"/>
            <p14:sldId id="321"/>
            <p14:sldId id="322"/>
            <p14:sldId id="316"/>
            <p14:sldId id="317"/>
            <p14:sldId id="318"/>
            <p14:sldId id="319"/>
            <p14:sldId id="323"/>
            <p14:sldId id="324"/>
            <p14:sldId id="325"/>
            <p14:sldId id="326"/>
            <p14:sldId id="327"/>
            <p14:sldId id="328"/>
            <p14:sldId id="329"/>
            <p14:sldId id="330"/>
            <p14:sldId id="331"/>
            <p14:sldId id="291"/>
            <p14:sldId id="292"/>
            <p14:sldId id="293"/>
            <p14:sldId id="294"/>
            <p14:sldId id="295"/>
            <p14:sldId id="296"/>
            <p14:sldId id="299"/>
            <p14:sldId id="300"/>
            <p14:sldId id="301"/>
            <p14:sldId id="302"/>
            <p14:sldId id="304"/>
            <p14:sldId id="267"/>
            <p14:sldId id="268"/>
            <p14:sldId id="271"/>
            <p14:sldId id="270"/>
            <p14:sldId id="272"/>
            <p14:sldId id="276"/>
            <p14:sldId id="274"/>
            <p14:sldId id="275"/>
          </p14:sldIdLst>
        </p14:section>
        <p14:section name="Untitled Section" id="{3EC156BD-9F84-4CB3-812A-B4C1303E5217}">
          <p14:sldIdLst>
            <p14:sldId id="273"/>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7AA29E-8CAD-C3AD-9A2D-205A5743C971}" v="1391" dt="2025-11-03T10:07:52.328"/>
    <p1510:client id="{3A9A7544-6E70-3475-3228-DF33F091EF52}" v="110" dt="2025-11-03T12:42:43.233"/>
    <p1510:client id="{6022D962-B69F-33D5-BBF8-509EE0920413}" v="62" dt="2025-11-04T10:03:22.825"/>
    <p1510:client id="{68617058-545A-805B-59B5-CE9CA190335F}" v="1537" dt="2025-11-04T10:06:57.317"/>
    <p1510:client id="{766F875F-636F-BFA8-6BDF-618B77B7B95F}" v="289" dt="2025-11-03T18:07:27.679"/>
    <p1510:client id="{8A892C2B-B691-4621-272B-1720367CAC4F}" v="14" dt="2025-11-04T03:58:44.344"/>
    <p1510:client id="{8DF4E7B7-E679-A9F4-16B3-8284A18BA3E2}" v="529" dt="2025-11-03T12:28:21.857"/>
    <p1510:client id="{D5377048-3C72-288C-D939-5020CDBD82C5}" v="2" dt="2025-11-03T15:18:46.016"/>
    <p1510:client id="{D61DEE09-0566-6D77-43CF-B7D33BD44F42}" v="565" dt="2025-11-03T16:53:23.065"/>
    <p1510:client id="{E8BDB154-5E2E-1957-547C-511B398860B9}" v="878" dt="2025-11-03T19:35:04.505"/>
    <p1510:client id="{EF61944D-A4DB-EB60-195C-4D626407CFB9}" v="280" dt="2025-11-03T15:03:51.663"/>
    <p1510:client id="{F5985D27-3B5F-27AA-5026-BE1C74E83F65}" v="702" dt="2025-11-03T09:21:42.269"/>
    <p1510:client id="{F7C62183-C7CB-2822-3C4F-CC11B9E8B78D}" v="21" dt="2025-11-04T08:44:26.515"/>
    <p1510:client id="{FBB2BA0A-C65B-F703-BE97-AADCD38F3432}" v="1472" dt="2025-11-03T19:20:55.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11/4/2025</a:t>
            </a:fld>
            <a:endParaRPr lang="en-US"/>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29:56.485"/>
    </inkml:context>
    <inkml:brush xml:id="br0">
      <inkml:brushProperty name="width" value="0.1" units="cm"/>
      <inkml:brushProperty name="height" value="0.1" units="cm"/>
    </inkml:brush>
  </inkml:definitions>
  <inkml:trace contextRef="#ctx0" brushRef="#br0">8625 6588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29:56.486"/>
    </inkml:context>
    <inkml:brush xml:id="br0">
      <inkml:brushProperty name="width" value="0.1" units="cm"/>
      <inkml:brushProperty name="height" value="0.1" units="cm"/>
    </inkml:brush>
  </inkml:definitions>
  <inkml:trace contextRef="#ctx0" brushRef="#br0">2805 3752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69</a:t>
            </a:fld>
            <a:endParaRPr lang="en-US"/>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11/4/2025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11/4/2025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11/4/2025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11/4/2025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11/4/2025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41.png"/><Relationship Id="rId4" Type="http://schemas.openxmlformats.org/officeDocument/2006/relationships/customXml" Target="../ink/ink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sv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 Id="rId9" Type="http://schemas.openxmlformats.org/officeDocument/2006/relationships/image" Target="../media/image45.svg"/></Relationships>
</file>

<file path=ppt/slides/_rels/slide33.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45.sv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3.svg"/><Relationship Id="rId7" Type="http://schemas.openxmlformats.org/officeDocument/2006/relationships/image" Target="../media/image41.sv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5.svg"/><Relationship Id="rId4" Type="http://schemas.openxmlformats.org/officeDocument/2006/relationships/image" Target="../media/image44.png"/><Relationship Id="rId9" Type="http://schemas.openxmlformats.org/officeDocument/2006/relationships/image" Target="../media/image47.png"/></Relationships>
</file>

<file path=ppt/slides/_rels/slide3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svg"/><Relationship Id="rId7" Type="http://schemas.openxmlformats.org/officeDocument/2006/relationships/image" Target="../media/image41.sv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5.sv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42.png"/><Relationship Id="rId7" Type="http://schemas.openxmlformats.org/officeDocument/2006/relationships/image" Target="../media/image4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slides/_rels/slide37.xml.rels><?xml version="1.0" encoding="UTF-8" standalone="yes"?>
<Relationships xmlns="http://schemas.openxmlformats.org/package/2006/relationships"><Relationship Id="rId3" Type="http://schemas.openxmlformats.org/officeDocument/2006/relationships/image" Target="../media/image43.svg"/><Relationship Id="rId7" Type="http://schemas.openxmlformats.org/officeDocument/2006/relationships/image" Target="../media/image41.sv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5.sv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43.svg"/><Relationship Id="rId7" Type="http://schemas.openxmlformats.org/officeDocument/2006/relationships/image" Target="../media/image41.sv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5.svg"/><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3.svg"/><Relationship Id="rId7" Type="http://schemas.openxmlformats.org/officeDocument/2006/relationships/image" Target="../media/image41.sv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5.svg"/><Relationship Id="rId10" Type="http://schemas.openxmlformats.org/officeDocument/2006/relationships/image" Target="../media/image52.png"/><Relationship Id="rId4" Type="http://schemas.openxmlformats.org/officeDocument/2006/relationships/image" Target="../media/image44.png"/><Relationship Id="rId9" Type="http://schemas.openxmlformats.org/officeDocument/2006/relationships/image" Target="../media/image51.png"/></Relationships>
</file>

<file path=ppt/slides/_rels/slide40.xml.rels><?xml version="1.0" encoding="UTF-8" standalone="yes"?>
<Relationships xmlns="http://schemas.openxmlformats.org/package/2006/relationships"><Relationship Id="rId3" Type="http://schemas.openxmlformats.org/officeDocument/2006/relationships/image" Target="../media/image45.svg"/><Relationship Id="rId7" Type="http://schemas.openxmlformats.org/officeDocument/2006/relationships/image" Target="../media/image41.sv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3.sv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45.svg"/><Relationship Id="rId7" Type="http://schemas.openxmlformats.org/officeDocument/2006/relationships/image" Target="../media/image40.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43.svg"/><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7.sv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55.svg"/><Relationship Id="rId7" Type="http://schemas.openxmlformats.org/officeDocument/2006/relationships/image" Target="../media/image61.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7.svg"/><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3" Type="http://schemas.openxmlformats.org/officeDocument/2006/relationships/image" Target="../media/image55.svg"/><Relationship Id="rId7" Type="http://schemas.openxmlformats.org/officeDocument/2006/relationships/image" Target="../media/image63.sv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57.svg"/><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3" Type="http://schemas.openxmlformats.org/officeDocument/2006/relationships/image" Target="../media/image55.svg"/><Relationship Id="rId7" Type="http://schemas.openxmlformats.org/officeDocument/2006/relationships/image" Target="../media/image6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57.svg"/><Relationship Id="rId4" Type="http://schemas.openxmlformats.org/officeDocument/2006/relationships/image" Target="../media/image56.png"/></Relationships>
</file>

<file path=ppt/slides/_rels/slide47.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69.svg"/><Relationship Id="rId4" Type="http://schemas.openxmlformats.org/officeDocument/2006/relationships/image" Target="../media/image68.png"/></Relationships>
</file>

<file path=ppt/slides/_rels/slide48.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3.svg"/><Relationship Id="rId4" Type="http://schemas.openxmlformats.org/officeDocument/2006/relationships/image" Target="../media/image7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9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31295"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445493" y="156576"/>
            <a:ext cx="11097932" cy="3525710"/>
          </a:xfrm>
        </p:spPr>
        <p:txBody>
          <a:bodyPr>
            <a:noAutofit/>
          </a:bodyPr>
          <a:lstStyle/>
          <a:p>
            <a:r>
              <a:rPr lang="en-US" sz="4800" b="1">
                <a:solidFill>
                  <a:schemeClr val="bg1"/>
                </a:solidFill>
                <a:latin typeface="Century Gothic"/>
              </a:rPr>
              <a:t>Demographic Analysis and Comparative Study of Maharashtra and Uttar Pradesh</a:t>
            </a:r>
            <a:endParaRPr lang="en-US" b="1">
              <a:solidFill>
                <a:schemeClr val="bg1"/>
              </a:solidFill>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91632" y="4727658"/>
            <a:ext cx="10950259" cy="1537560"/>
          </a:xfrm>
        </p:spPr>
        <p:txBody>
          <a:bodyPr>
            <a:normAutofit fontScale="85000" lnSpcReduction="20000"/>
          </a:bodyPr>
          <a:lstStyle/>
          <a:p>
            <a:pPr algn="r"/>
            <a:r>
              <a:rPr lang="en-US" sz="1800" b="1" dirty="0">
                <a:solidFill>
                  <a:srgbClr val="FF0000"/>
                </a:solidFill>
                <a:highlight>
                  <a:srgbClr val="FFFF00"/>
                </a:highlight>
                <a:latin typeface="Century Gothic"/>
              </a:rPr>
              <a:t>Adity BANERJEE</a:t>
            </a:r>
            <a:endParaRPr lang="en-US" sz="1800" b="1">
              <a:solidFill>
                <a:srgbClr val="FF0000"/>
              </a:solidFill>
              <a:highlight>
                <a:srgbClr val="FFFF00"/>
              </a:highlight>
            </a:endParaRPr>
          </a:p>
          <a:p>
            <a:pPr algn="r"/>
            <a:r>
              <a:rPr lang="en-US" sz="1800" b="1" dirty="0">
                <a:solidFill>
                  <a:srgbClr val="FF0000"/>
                </a:solidFill>
                <a:highlight>
                  <a:srgbClr val="FFFF00"/>
                </a:highlight>
                <a:latin typeface="Century Gothic"/>
              </a:rPr>
              <a:t>ANJAN SADHUKHAN</a:t>
            </a:r>
            <a:endParaRPr lang="en-US" sz="1800" b="1">
              <a:solidFill>
                <a:srgbClr val="FF0000"/>
              </a:solidFill>
              <a:highlight>
                <a:srgbClr val="FFFF00"/>
              </a:highlight>
            </a:endParaRPr>
          </a:p>
          <a:p>
            <a:pPr algn="r"/>
            <a:r>
              <a:rPr lang="en-US" sz="1800" b="1" dirty="0">
                <a:solidFill>
                  <a:srgbClr val="FF0000"/>
                </a:solidFill>
                <a:highlight>
                  <a:srgbClr val="FFFF00"/>
                </a:highlight>
                <a:latin typeface="Century Gothic"/>
              </a:rPr>
              <a:t>AYUSH BARAN SEN</a:t>
            </a:r>
            <a:endParaRPr lang="en-US" sz="1800" b="1">
              <a:solidFill>
                <a:srgbClr val="FF0000"/>
              </a:solidFill>
              <a:highlight>
                <a:srgbClr val="FFFF00"/>
              </a:highlight>
            </a:endParaRPr>
          </a:p>
          <a:p>
            <a:pPr algn="r"/>
            <a:r>
              <a:rPr lang="en-US" sz="1800" b="1" dirty="0">
                <a:solidFill>
                  <a:srgbClr val="FF0000"/>
                </a:solidFill>
                <a:highlight>
                  <a:srgbClr val="FFFF00"/>
                </a:highlight>
                <a:latin typeface="Century Gothic"/>
              </a:rPr>
              <a:t>RAHUL GANGULY</a:t>
            </a:r>
            <a:endParaRPr lang="en-US" sz="1800" b="1">
              <a:solidFill>
                <a:srgbClr val="FF0000"/>
              </a:solidFill>
              <a:highlight>
                <a:srgbClr val="FFFF00"/>
              </a:highlight>
            </a:endParaRPr>
          </a:p>
          <a:p>
            <a:pPr algn="r"/>
            <a:r>
              <a:rPr lang="en-US" sz="1800" b="1" dirty="0">
                <a:solidFill>
                  <a:srgbClr val="FF0000"/>
                </a:solidFill>
                <a:highlight>
                  <a:srgbClr val="FFFF00"/>
                </a:highlight>
                <a:latin typeface="Century Gothic"/>
              </a:rPr>
              <a:t>VINAYAK TRIPATH</a:t>
            </a:r>
            <a:r>
              <a:rPr lang="en-US" sz="1400" b="1" dirty="0">
                <a:solidFill>
                  <a:srgbClr val="FF0000"/>
                </a:solidFill>
                <a:highlight>
                  <a:srgbClr val="FFFF00"/>
                </a:highlight>
                <a:latin typeface="Century Gothic"/>
              </a:rPr>
              <a:t>I</a:t>
            </a:r>
            <a:endParaRPr lang="en-US" b="1" dirty="0">
              <a:solidFill>
                <a:srgbClr val="FF0000"/>
              </a:solidFill>
            </a:endParaRPr>
          </a:p>
        </p:txBody>
      </p:sp>
    </p:spTree>
    <p:extLst>
      <p:ext uri="{BB962C8B-B14F-4D97-AF65-F5344CB8AC3E}">
        <p14:creationId xmlns:p14="http://schemas.microsoft.com/office/powerpoint/2010/main" val="1487700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1071453-9F45-933B-BE7E-8313D90C5382}"/>
              </a:ext>
            </a:extLst>
          </p:cNvPr>
          <p:cNvSpPr>
            <a:spLocks noGrp="1"/>
          </p:cNvSpPr>
          <p:nvPr>
            <p:ph type="title"/>
          </p:nvPr>
        </p:nvSpPr>
        <p:spPr/>
        <p:txBody>
          <a:bodyPr/>
          <a:lstStyle/>
          <a:p>
            <a:pPr algn="ctr"/>
            <a:r>
              <a:rPr lang="en-US"/>
              <a:t>RESEARCH QUSETION 1:</a:t>
            </a:r>
          </a:p>
        </p:txBody>
      </p:sp>
      <p:sp>
        <p:nvSpPr>
          <p:cNvPr id="24" name="TextBox 23">
            <a:extLst>
              <a:ext uri="{FF2B5EF4-FFF2-40B4-BE49-F238E27FC236}">
                <a16:creationId xmlns:a16="http://schemas.microsoft.com/office/drawing/2014/main" id="{C604F857-BF86-DDC8-93FC-EE81AE4EE228}"/>
              </a:ext>
            </a:extLst>
          </p:cNvPr>
          <p:cNvSpPr txBox="1"/>
          <p:nvPr/>
        </p:nvSpPr>
        <p:spPr>
          <a:xfrm>
            <a:off x="574037" y="2212145"/>
            <a:ext cx="11074724" cy="4278094"/>
          </a:xfrm>
          <a:prstGeom prst="rect">
            <a:avLst/>
          </a:prstGeom>
          <a:solidFill>
            <a:srgbClr val="ED7D31"/>
          </a:solid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Century Gothic"/>
              </a:rPr>
              <a:t>Is fertility independent of education,wealth and contraception method? Do education, wealth, and contraception explain observed differences in fertility between Uttar Pradesh and Maharashtra?</a:t>
            </a:r>
          </a:p>
          <a:p>
            <a:endParaRPr lang="en-US" sz="3200" b="1">
              <a:solidFill>
                <a:srgbClr val="C00000"/>
              </a:solidFill>
              <a:latin typeface="Century Gothic"/>
            </a:endParaRPr>
          </a:p>
          <a:p>
            <a:r>
              <a:rPr lang="en-US" sz="2000" b="1" cap="all">
                <a:solidFill>
                  <a:srgbClr val="FFFF00"/>
                </a:solidFill>
                <a:latin typeface="Century Gothic"/>
              </a:rPr>
              <a:t>The study aims to examine whether socio-economic factors explain the variation in fertility levels. Specifically, we test whether a woman’s education level, household wealth, and contraception use have a statistically significant effect on fertility.</a:t>
            </a:r>
            <a:endParaRPr lang="en-US" b="1"/>
          </a:p>
          <a:p>
            <a:endParaRPr lang="en-US" sz="3200" b="1">
              <a:solidFill>
                <a:srgbClr val="C00000"/>
              </a:solidFill>
              <a:latin typeface="Century Gothic"/>
            </a:endParaRPr>
          </a:p>
        </p:txBody>
      </p:sp>
      <p:pic>
        <p:nvPicPr>
          <p:cNvPr id="3" name="Graphic 2" descr="Brain in head with solid fill">
            <a:extLst>
              <a:ext uri="{FF2B5EF4-FFF2-40B4-BE49-F238E27FC236}">
                <a16:creationId xmlns:a16="http://schemas.microsoft.com/office/drawing/2014/main" id="{1AD2D2EE-415F-8299-7B2D-04A30EE9E1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11676" y="737991"/>
            <a:ext cx="1227550" cy="1018783"/>
          </a:xfrm>
          <a:prstGeom prst="rect">
            <a:avLst/>
          </a:prstGeom>
        </p:spPr>
      </p:pic>
      <p:pic>
        <p:nvPicPr>
          <p:cNvPr id="6" name="Graphic 5" descr="Brain in head with solid fill">
            <a:extLst>
              <a:ext uri="{FF2B5EF4-FFF2-40B4-BE49-F238E27FC236}">
                <a16:creationId xmlns:a16="http://schemas.microsoft.com/office/drawing/2014/main" id="{DA1B6776-559A-6A69-2D91-7769F789EB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8306843" y="769307"/>
            <a:ext cx="1204586" cy="1018783"/>
          </a:xfrm>
          <a:prstGeom prst="rect">
            <a:avLst/>
          </a:prstGeom>
        </p:spPr>
      </p:pic>
      <p:pic>
        <p:nvPicPr>
          <p:cNvPr id="8" name="Graphic 7" descr="Lightbulb and gear with solid fill">
            <a:extLst>
              <a:ext uri="{FF2B5EF4-FFF2-40B4-BE49-F238E27FC236}">
                <a16:creationId xmlns:a16="http://schemas.microsoft.com/office/drawing/2014/main" id="{08EBD345-F197-5B37-BA58-8863C4998EE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4527" y="811059"/>
            <a:ext cx="914400" cy="914400"/>
          </a:xfrm>
          <a:prstGeom prst="rect">
            <a:avLst/>
          </a:prstGeom>
        </p:spPr>
      </p:pic>
      <p:pic>
        <p:nvPicPr>
          <p:cNvPr id="10" name="Graphic 9" descr="Lightbulb and gear with solid fill">
            <a:extLst>
              <a:ext uri="{FF2B5EF4-FFF2-40B4-BE49-F238E27FC236}">
                <a16:creationId xmlns:a16="http://schemas.microsoft.com/office/drawing/2014/main" id="{5BE5573C-253F-0C3D-FFDF-B27018A03A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90132" y="817322"/>
            <a:ext cx="914400" cy="914400"/>
          </a:xfrm>
          <a:prstGeom prst="rect">
            <a:avLst/>
          </a:prstGeom>
        </p:spPr>
      </p:pic>
      <p:cxnSp>
        <p:nvCxnSpPr>
          <p:cNvPr id="12" name="Connector: Curved 11">
            <a:extLst>
              <a:ext uri="{FF2B5EF4-FFF2-40B4-BE49-F238E27FC236}">
                <a16:creationId xmlns:a16="http://schemas.microsoft.com/office/drawing/2014/main" id="{3BDF2586-94CE-E728-6ABA-52B1AC70A4D5}"/>
              </a:ext>
            </a:extLst>
          </p:cNvPr>
          <p:cNvCxnSpPr/>
          <p:nvPr/>
        </p:nvCxnSpPr>
        <p:spPr>
          <a:xfrm>
            <a:off x="1933621" y="968627"/>
            <a:ext cx="602039" cy="574037"/>
          </a:xfrm>
          <a:prstGeom prst="curvedConnector3">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A8BC0112-B386-2462-BF83-EA5E3D08B315}"/>
              </a:ext>
            </a:extLst>
          </p:cNvPr>
          <p:cNvCxnSpPr/>
          <p:nvPr/>
        </p:nvCxnSpPr>
        <p:spPr>
          <a:xfrm>
            <a:off x="9574498" y="1031258"/>
            <a:ext cx="602039" cy="574037"/>
          </a:xfrm>
          <a:prstGeom prst="curvedConnector3">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334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426F-7F91-3C06-33DB-63299AA23E83}"/>
              </a:ext>
            </a:extLst>
          </p:cNvPr>
          <p:cNvSpPr>
            <a:spLocks noGrp="1"/>
          </p:cNvSpPr>
          <p:nvPr>
            <p:ph type="title"/>
          </p:nvPr>
        </p:nvSpPr>
        <p:spPr/>
        <p:txBody>
          <a:bodyPr/>
          <a:lstStyle/>
          <a:p>
            <a:r>
              <a:rPr lang="en-US"/>
              <a:t>MODEL AND HYPOTHESIS TESTING:</a:t>
            </a:r>
          </a:p>
        </p:txBody>
      </p:sp>
      <p:pic>
        <p:nvPicPr>
          <p:cNvPr id="4" name="Content Placeholder 3" descr="A math equations on a white background">
            <a:extLst>
              <a:ext uri="{FF2B5EF4-FFF2-40B4-BE49-F238E27FC236}">
                <a16:creationId xmlns:a16="http://schemas.microsoft.com/office/drawing/2014/main" id="{4DE4EEDF-3A73-E186-FA25-7514FC3F2D11}"/>
              </a:ext>
            </a:extLst>
          </p:cNvPr>
          <p:cNvPicPr>
            <a:picLocks noGrp="1" noChangeAspect="1"/>
          </p:cNvPicPr>
          <p:nvPr>
            <p:ph idx="1"/>
          </p:nvPr>
        </p:nvPicPr>
        <p:blipFill>
          <a:blip r:embed="rId2"/>
          <a:stretch>
            <a:fillRect/>
          </a:stretch>
        </p:blipFill>
        <p:spPr>
          <a:xfrm>
            <a:off x="361670" y="2100921"/>
            <a:ext cx="10740277" cy="3053042"/>
          </a:xfrm>
          <a:prstGeom prst="rect">
            <a:avLst/>
          </a:prstGeom>
        </p:spPr>
      </p:pic>
      <p:pic>
        <p:nvPicPr>
          <p:cNvPr id="5" name="Picture 4" descr="A black text on a white background&#10;&#10;AI-generated content may be incorrect.">
            <a:extLst>
              <a:ext uri="{FF2B5EF4-FFF2-40B4-BE49-F238E27FC236}">
                <a16:creationId xmlns:a16="http://schemas.microsoft.com/office/drawing/2014/main" id="{7DC2A168-D3B1-3AED-7C1F-A02BBCC40422}"/>
              </a:ext>
            </a:extLst>
          </p:cNvPr>
          <p:cNvPicPr>
            <a:picLocks noChangeAspect="1"/>
          </p:cNvPicPr>
          <p:nvPr/>
        </p:nvPicPr>
        <p:blipFill>
          <a:blip r:embed="rId3"/>
          <a:stretch>
            <a:fillRect/>
          </a:stretch>
        </p:blipFill>
        <p:spPr>
          <a:xfrm>
            <a:off x="364754" y="5155826"/>
            <a:ext cx="10756524" cy="1678641"/>
          </a:xfrm>
          <a:prstGeom prst="rect">
            <a:avLst/>
          </a:prstGeom>
        </p:spPr>
      </p:pic>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F3496FB0-B2FD-D582-F5E2-06D8DA744039}"/>
                  </a:ext>
                </a:extLst>
              </p14:cNvPr>
              <p14:cNvContentPartPr/>
              <p14:nvPr/>
            </p14:nvContentPartPr>
            <p14:xfrm>
              <a:off x="1736912" y="2899521"/>
              <a:ext cx="14007" cy="14007"/>
            </p14:xfrm>
          </p:contentPart>
        </mc:Choice>
        <mc:Fallback xmlns="">
          <p:pic>
            <p:nvPicPr>
              <p:cNvPr id="13" name="Ink 12">
                <a:extLst>
                  <a:ext uri="{FF2B5EF4-FFF2-40B4-BE49-F238E27FC236}">
                    <a16:creationId xmlns:a16="http://schemas.microsoft.com/office/drawing/2014/main" id="{F3496FB0-B2FD-D582-F5E2-06D8DA744039}"/>
                  </a:ext>
                </a:extLst>
              </p:cNvPr>
              <p:cNvPicPr/>
              <p:nvPr/>
            </p:nvPicPr>
            <p:blipFill>
              <a:blip r:embed="rId5"/>
              <a:stretch>
                <a:fillRect/>
              </a:stretch>
            </p:blipFill>
            <p:spPr>
              <a:xfrm>
                <a:off x="1036562" y="2199171"/>
                <a:ext cx="1400700" cy="1400700"/>
              </a:xfrm>
              <a:prstGeom prst="rect">
                <a:avLst/>
              </a:prstGeom>
            </p:spPr>
          </p:pic>
        </mc:Fallback>
      </mc:AlternateContent>
      <p:sp>
        <p:nvSpPr>
          <p:cNvPr id="14" name="TextBox 13">
            <a:extLst>
              <a:ext uri="{FF2B5EF4-FFF2-40B4-BE49-F238E27FC236}">
                <a16:creationId xmlns:a16="http://schemas.microsoft.com/office/drawing/2014/main" id="{F17DFD70-F6BB-D447-F420-345476C6AAB8}"/>
              </a:ext>
            </a:extLst>
          </p:cNvPr>
          <p:cNvSpPr txBox="1"/>
          <p:nvPr/>
        </p:nvSpPr>
        <p:spPr>
          <a:xfrm>
            <a:off x="1535206" y="2779059"/>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E[  ]</a:t>
            </a:r>
          </a:p>
          <a:p>
            <a:pPr algn="ctr"/>
            <a:endParaRPr lang="en-US"/>
          </a:p>
        </p:txBody>
      </p:sp>
      <mc:AlternateContent xmlns:mc="http://schemas.openxmlformats.org/markup-compatibility/2006" xmlns:p14="http://schemas.microsoft.com/office/powerpoint/2010/main">
        <mc:Choice Requires="p14">
          <p:contentPart p14:bwMode="auto" r:id="rId6">
            <p14:nvContentPartPr>
              <p14:cNvPr id="28" name="Ink 27">
                <a:extLst>
                  <a:ext uri="{FF2B5EF4-FFF2-40B4-BE49-F238E27FC236}">
                    <a16:creationId xmlns:a16="http://schemas.microsoft.com/office/drawing/2014/main" id="{2951F4CA-23AF-6067-93DB-FA9B68110347}"/>
                  </a:ext>
                </a:extLst>
              </p14:cNvPr>
              <p14:cNvContentPartPr/>
              <p14:nvPr/>
            </p14:nvContentPartPr>
            <p14:xfrm>
              <a:off x="-1344705" y="1397933"/>
              <a:ext cx="14007" cy="14007"/>
            </p14:xfrm>
          </p:contentPart>
        </mc:Choice>
        <mc:Fallback xmlns="">
          <p:pic>
            <p:nvPicPr>
              <p:cNvPr id="28" name="Ink 27">
                <a:extLst>
                  <a:ext uri="{FF2B5EF4-FFF2-40B4-BE49-F238E27FC236}">
                    <a16:creationId xmlns:a16="http://schemas.microsoft.com/office/drawing/2014/main" id="{2951F4CA-23AF-6067-93DB-FA9B68110347}"/>
                  </a:ext>
                </a:extLst>
              </p:cNvPr>
              <p:cNvPicPr/>
              <p:nvPr/>
            </p:nvPicPr>
            <p:blipFill>
              <a:blip r:embed="rId5"/>
              <a:stretch>
                <a:fillRect/>
              </a:stretch>
            </p:blipFill>
            <p:spPr>
              <a:xfrm>
                <a:off x="-2045055" y="697583"/>
                <a:ext cx="1400700" cy="1400700"/>
              </a:xfrm>
              <a:prstGeom prst="rect">
                <a:avLst/>
              </a:prstGeom>
            </p:spPr>
          </p:pic>
        </mc:Fallback>
      </mc:AlternateContent>
    </p:spTree>
    <p:extLst>
      <p:ext uri="{BB962C8B-B14F-4D97-AF65-F5344CB8AC3E}">
        <p14:creationId xmlns:p14="http://schemas.microsoft.com/office/powerpoint/2010/main" val="3292575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B7AAC-A326-7104-214B-ED5E9EDA310C}"/>
              </a:ext>
            </a:extLst>
          </p:cNvPr>
          <p:cNvSpPr>
            <a:spLocks noGrp="1"/>
          </p:cNvSpPr>
          <p:nvPr>
            <p:ph type="title"/>
          </p:nvPr>
        </p:nvSpPr>
        <p:spPr/>
        <p:txBody>
          <a:bodyPr/>
          <a:lstStyle/>
          <a:p>
            <a:r>
              <a:rPr lang="en-US"/>
              <a:t>LET'S TALK ABOUT  VARIABLES:</a:t>
            </a:r>
          </a:p>
        </p:txBody>
      </p:sp>
      <p:pic>
        <p:nvPicPr>
          <p:cNvPr id="7" name="Content Placeholder 6" descr="A white background with black text&#10;&#10;AI-generated content may be incorrect.">
            <a:extLst>
              <a:ext uri="{FF2B5EF4-FFF2-40B4-BE49-F238E27FC236}">
                <a16:creationId xmlns:a16="http://schemas.microsoft.com/office/drawing/2014/main" id="{B07588A0-BE63-4EDF-FFD3-3B7BF8DDF79A}"/>
              </a:ext>
            </a:extLst>
          </p:cNvPr>
          <p:cNvPicPr>
            <a:picLocks noGrp="1" noChangeAspect="1"/>
          </p:cNvPicPr>
          <p:nvPr>
            <p:ph idx="1"/>
          </p:nvPr>
        </p:nvPicPr>
        <p:blipFill>
          <a:blip r:embed="rId2"/>
          <a:stretch>
            <a:fillRect/>
          </a:stretch>
        </p:blipFill>
        <p:spPr>
          <a:xfrm>
            <a:off x="577632" y="2335679"/>
            <a:ext cx="4982488" cy="1478593"/>
          </a:xfrm>
          <a:prstGeom prst="rect">
            <a:avLst/>
          </a:prstGeom>
        </p:spPr>
      </p:pic>
      <p:pic>
        <p:nvPicPr>
          <p:cNvPr id="8" name="Picture 7">
            <a:extLst>
              <a:ext uri="{FF2B5EF4-FFF2-40B4-BE49-F238E27FC236}">
                <a16:creationId xmlns:a16="http://schemas.microsoft.com/office/drawing/2014/main" id="{D4EF97BC-938A-91DF-423A-C8DE02F12BC1}"/>
              </a:ext>
            </a:extLst>
          </p:cNvPr>
          <p:cNvPicPr>
            <a:picLocks noChangeAspect="1"/>
          </p:cNvPicPr>
          <p:nvPr/>
        </p:nvPicPr>
        <p:blipFill>
          <a:blip r:embed="rId3"/>
          <a:stretch>
            <a:fillRect/>
          </a:stretch>
        </p:blipFill>
        <p:spPr>
          <a:xfrm>
            <a:off x="6091433" y="2336757"/>
            <a:ext cx="5249188" cy="3040431"/>
          </a:xfrm>
          <a:prstGeom prst="rect">
            <a:avLst/>
          </a:prstGeom>
        </p:spPr>
      </p:pic>
    </p:spTree>
    <p:extLst>
      <p:ext uri="{BB962C8B-B14F-4D97-AF65-F5344CB8AC3E}">
        <p14:creationId xmlns:p14="http://schemas.microsoft.com/office/powerpoint/2010/main" val="118503031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table with text on it&#10;&#10;AI-generated content may be incorrect.">
            <a:extLst>
              <a:ext uri="{FF2B5EF4-FFF2-40B4-BE49-F238E27FC236}">
                <a16:creationId xmlns:a16="http://schemas.microsoft.com/office/drawing/2014/main" id="{CA332AD7-F9D3-E3E3-0223-5EAEB9355E96}"/>
              </a:ext>
            </a:extLst>
          </p:cNvPr>
          <p:cNvPicPr>
            <a:picLocks noGrp="1" noChangeAspect="1"/>
          </p:cNvPicPr>
          <p:nvPr>
            <p:ph idx="1"/>
          </p:nvPr>
        </p:nvPicPr>
        <p:blipFill>
          <a:blip r:embed="rId2"/>
          <a:stretch>
            <a:fillRect/>
          </a:stretch>
        </p:blipFill>
        <p:spPr>
          <a:xfrm>
            <a:off x="653375" y="2167100"/>
            <a:ext cx="6020974" cy="2932656"/>
          </a:xfrm>
          <a:prstGeom prst="rect">
            <a:avLst/>
          </a:prstGeom>
        </p:spPr>
      </p:pic>
      <p:pic>
        <p:nvPicPr>
          <p:cNvPr id="5" name="Picture 4" descr="A table with text on it&#10;&#10;AI-generated content may be incorrect.">
            <a:extLst>
              <a:ext uri="{FF2B5EF4-FFF2-40B4-BE49-F238E27FC236}">
                <a16:creationId xmlns:a16="http://schemas.microsoft.com/office/drawing/2014/main" id="{D1DF13A7-B24A-FD80-E6C6-B8A1652D8BF0}"/>
              </a:ext>
            </a:extLst>
          </p:cNvPr>
          <p:cNvPicPr>
            <a:picLocks noChangeAspect="1"/>
          </p:cNvPicPr>
          <p:nvPr/>
        </p:nvPicPr>
        <p:blipFill>
          <a:blip r:embed="rId3"/>
          <a:stretch>
            <a:fillRect/>
          </a:stretch>
        </p:blipFill>
        <p:spPr>
          <a:xfrm>
            <a:off x="6670044" y="2162501"/>
            <a:ext cx="4760021" cy="2616505"/>
          </a:xfrm>
          <a:prstGeom prst="rect">
            <a:avLst/>
          </a:prstGeom>
        </p:spPr>
      </p:pic>
    </p:spTree>
    <p:extLst>
      <p:ext uri="{BB962C8B-B14F-4D97-AF65-F5344CB8AC3E}">
        <p14:creationId xmlns:p14="http://schemas.microsoft.com/office/powerpoint/2010/main" val="413943236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823D-E95B-42A3-8CCC-0522DE67F2F6}"/>
              </a:ext>
            </a:extLst>
          </p:cNvPr>
          <p:cNvSpPr>
            <a:spLocks noGrp="1"/>
          </p:cNvSpPr>
          <p:nvPr>
            <p:ph type="title"/>
          </p:nvPr>
        </p:nvSpPr>
        <p:spPr/>
        <p:txBody>
          <a:bodyPr/>
          <a:lstStyle/>
          <a:p>
            <a:r>
              <a:rPr lang="en-IN"/>
              <a:t>LET'S DISCUSS POISSON REGRESSION MODEL:</a:t>
            </a:r>
          </a:p>
        </p:txBody>
      </p:sp>
      <p:pic>
        <p:nvPicPr>
          <p:cNvPr id="4" name="Content Placeholder 3" descr="A black text on a white background&#10;&#10;AI-generated content may be incorrect.">
            <a:extLst>
              <a:ext uri="{FF2B5EF4-FFF2-40B4-BE49-F238E27FC236}">
                <a16:creationId xmlns:a16="http://schemas.microsoft.com/office/drawing/2014/main" id="{A452A278-2F27-5C04-5788-02D5E2A8BAC8}"/>
              </a:ext>
            </a:extLst>
          </p:cNvPr>
          <p:cNvPicPr>
            <a:picLocks noGrp="1" noChangeAspect="1"/>
          </p:cNvPicPr>
          <p:nvPr>
            <p:ph idx="1"/>
          </p:nvPr>
        </p:nvPicPr>
        <p:blipFill>
          <a:blip r:embed="rId2"/>
          <a:stretch>
            <a:fillRect/>
          </a:stretch>
        </p:blipFill>
        <p:spPr>
          <a:xfrm>
            <a:off x="752474" y="3048097"/>
            <a:ext cx="10687050" cy="1943100"/>
          </a:xfrm>
          <a:prstGeom prst="rect">
            <a:avLst/>
          </a:prstGeom>
        </p:spPr>
      </p:pic>
    </p:spTree>
    <p:extLst>
      <p:ext uri="{BB962C8B-B14F-4D97-AF65-F5344CB8AC3E}">
        <p14:creationId xmlns:p14="http://schemas.microsoft.com/office/powerpoint/2010/main" val="191546575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white paper with black text and black text&#10;&#10;AI-generated content may be incorrect.">
            <a:extLst>
              <a:ext uri="{FF2B5EF4-FFF2-40B4-BE49-F238E27FC236}">
                <a16:creationId xmlns:a16="http://schemas.microsoft.com/office/drawing/2014/main" id="{2E0C593B-4786-3C48-BAF0-7DCA15A55158}"/>
              </a:ext>
            </a:extLst>
          </p:cNvPr>
          <p:cNvPicPr>
            <a:picLocks noGrp="1" noChangeAspect="1"/>
          </p:cNvPicPr>
          <p:nvPr>
            <p:ph idx="1"/>
          </p:nvPr>
        </p:nvPicPr>
        <p:blipFill>
          <a:blip r:embed="rId2"/>
          <a:stretch>
            <a:fillRect/>
          </a:stretch>
        </p:blipFill>
        <p:spPr>
          <a:xfrm>
            <a:off x="326131" y="297909"/>
            <a:ext cx="10542415" cy="5773802"/>
          </a:xfrm>
          <a:prstGeom prst="rect">
            <a:avLst/>
          </a:prstGeom>
        </p:spPr>
      </p:pic>
    </p:spTree>
    <p:extLst>
      <p:ext uri="{BB962C8B-B14F-4D97-AF65-F5344CB8AC3E}">
        <p14:creationId xmlns:p14="http://schemas.microsoft.com/office/powerpoint/2010/main" val="336077475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42A72-6124-B0E4-D1D2-3334827FB6EF}"/>
              </a:ext>
            </a:extLst>
          </p:cNvPr>
          <p:cNvSpPr>
            <a:spLocks noGrp="1"/>
          </p:cNvSpPr>
          <p:nvPr>
            <p:ph type="title"/>
          </p:nvPr>
        </p:nvSpPr>
        <p:spPr/>
        <p:txBody>
          <a:bodyPr/>
          <a:lstStyle/>
          <a:p>
            <a:r>
              <a:rPr lang="en-US"/>
              <a:t>ASSUMPTION:</a:t>
            </a:r>
          </a:p>
        </p:txBody>
      </p:sp>
      <p:sp>
        <p:nvSpPr>
          <p:cNvPr id="3" name="Content Placeholder 2">
            <a:extLst>
              <a:ext uri="{FF2B5EF4-FFF2-40B4-BE49-F238E27FC236}">
                <a16:creationId xmlns:a16="http://schemas.microsoft.com/office/drawing/2014/main" id="{F0B2E3EA-2D1D-A21D-6680-480C01C9DFAC}"/>
              </a:ext>
            </a:extLst>
          </p:cNvPr>
          <p:cNvSpPr>
            <a:spLocks noGrp="1"/>
          </p:cNvSpPr>
          <p:nvPr>
            <p:ph idx="1"/>
          </p:nvPr>
        </p:nvSpPr>
        <p:spPr/>
        <p:txBody>
          <a:bodyPr/>
          <a:lstStyle/>
          <a:p>
            <a:pPr marL="305435" indent="-305435"/>
            <a:r>
              <a:rPr lang="en-US"/>
              <a:t>The dependent variable is a count variable and takes non-negative integers.</a:t>
            </a:r>
          </a:p>
          <a:p>
            <a:pPr marL="305435" indent="-305435"/>
            <a:r>
              <a:rPr lang="en-US"/>
              <a:t>The observations are independent to each other.</a:t>
            </a:r>
          </a:p>
          <a:p>
            <a:pPr marL="305435" indent="-305435"/>
            <a:r>
              <a:rPr lang="en-US"/>
              <a:t>The response variable follows a Poisson distribution.</a:t>
            </a:r>
          </a:p>
          <a:p>
            <a:pPr marL="305435" indent="-305435"/>
            <a:r>
              <a:rPr lang="en-US"/>
              <a:t>The mean and variance of the responses are equal.</a:t>
            </a:r>
          </a:p>
          <a:p>
            <a:pPr marL="305435" indent="-305435"/>
            <a:r>
              <a:rPr lang="en-US"/>
              <a:t>There is no multicollinearity among predictors.</a:t>
            </a:r>
          </a:p>
          <a:p>
            <a:pPr marL="0" indent="0">
              <a:buNone/>
            </a:pPr>
            <a:endParaRPr lang="en-US"/>
          </a:p>
        </p:txBody>
      </p:sp>
    </p:spTree>
    <p:extLst>
      <p:ext uri="{BB962C8B-B14F-4D97-AF65-F5344CB8AC3E}">
        <p14:creationId xmlns:p14="http://schemas.microsoft.com/office/powerpoint/2010/main" val="154360303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4F795-79A5-BD8A-14D9-C47A09B61560}"/>
              </a:ext>
            </a:extLst>
          </p:cNvPr>
          <p:cNvSpPr>
            <a:spLocks noGrp="1"/>
          </p:cNvSpPr>
          <p:nvPr>
            <p:ph type="title"/>
          </p:nvPr>
        </p:nvSpPr>
        <p:spPr/>
        <p:txBody>
          <a:bodyPr/>
          <a:lstStyle/>
          <a:p>
            <a:r>
              <a:rPr lang="en-US"/>
              <a:t>ASSUMPTION  VERIFICATION:</a:t>
            </a:r>
          </a:p>
        </p:txBody>
      </p:sp>
      <p:sp>
        <p:nvSpPr>
          <p:cNvPr id="3" name="Content Placeholder 2">
            <a:extLst>
              <a:ext uri="{FF2B5EF4-FFF2-40B4-BE49-F238E27FC236}">
                <a16:creationId xmlns:a16="http://schemas.microsoft.com/office/drawing/2014/main" id="{A77C9ABC-51F4-4C23-77BD-4008190567AE}"/>
              </a:ext>
            </a:extLst>
          </p:cNvPr>
          <p:cNvSpPr>
            <a:spLocks noGrp="1"/>
          </p:cNvSpPr>
          <p:nvPr>
            <p:ph idx="1"/>
          </p:nvPr>
        </p:nvSpPr>
        <p:spPr/>
        <p:txBody>
          <a:bodyPr/>
          <a:lstStyle/>
          <a:p>
            <a:pPr marL="305435" indent="-305435"/>
            <a:r>
              <a:rPr lang="en-US">
                <a:ea typeface="+mn-lt"/>
                <a:cs typeface="+mn-lt"/>
              </a:rPr>
              <a:t>The mean of Y variable is 1.69 and the variance is 1.90. Hence </a:t>
            </a:r>
            <a:r>
              <a:rPr lang="en-US" err="1">
                <a:ea typeface="+mn-lt"/>
                <a:cs typeface="+mn-lt"/>
              </a:rPr>
              <a:t>poisson</a:t>
            </a:r>
            <a:r>
              <a:rPr lang="en-US">
                <a:ea typeface="+mn-lt"/>
                <a:cs typeface="+mn-lt"/>
              </a:rPr>
              <a:t> regression model is applicable</a:t>
            </a:r>
          </a:p>
          <a:p>
            <a:pPr marL="305435" indent="-305435"/>
            <a:r>
              <a:rPr lang="en-US">
                <a:ea typeface="+mn-lt"/>
                <a:cs typeface="+mn-lt"/>
              </a:rPr>
              <a:t>.The VIF value is less than 5. Hence there does not exist multicollinearity.</a:t>
            </a:r>
          </a:p>
          <a:p>
            <a:pPr marL="305435" indent="-305435"/>
            <a:endParaRPr lang="en-US"/>
          </a:p>
        </p:txBody>
      </p:sp>
      <p:pic>
        <p:nvPicPr>
          <p:cNvPr id="5" name="Picture 4">
            <a:extLst>
              <a:ext uri="{FF2B5EF4-FFF2-40B4-BE49-F238E27FC236}">
                <a16:creationId xmlns:a16="http://schemas.microsoft.com/office/drawing/2014/main" id="{D4150E6C-594D-5477-6052-223C442BA71C}"/>
              </a:ext>
            </a:extLst>
          </p:cNvPr>
          <p:cNvPicPr>
            <a:picLocks noChangeAspect="1"/>
          </p:cNvPicPr>
          <p:nvPr/>
        </p:nvPicPr>
        <p:blipFill>
          <a:blip r:embed="rId2"/>
          <a:stretch>
            <a:fillRect/>
          </a:stretch>
        </p:blipFill>
        <p:spPr>
          <a:xfrm>
            <a:off x="3604625" y="4639001"/>
            <a:ext cx="3771900" cy="962025"/>
          </a:xfrm>
          <a:prstGeom prst="rect">
            <a:avLst/>
          </a:prstGeom>
        </p:spPr>
      </p:pic>
    </p:spTree>
    <p:extLst>
      <p:ext uri="{BB962C8B-B14F-4D97-AF65-F5344CB8AC3E}">
        <p14:creationId xmlns:p14="http://schemas.microsoft.com/office/powerpoint/2010/main" val="126636836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blue and white background with black text&#10;&#10;AI-generated content may be incorrect.">
            <a:extLst>
              <a:ext uri="{FF2B5EF4-FFF2-40B4-BE49-F238E27FC236}">
                <a16:creationId xmlns:a16="http://schemas.microsoft.com/office/drawing/2014/main" id="{1A37D881-D382-7BAE-32AD-785D0D333D96}"/>
              </a:ext>
            </a:extLst>
          </p:cNvPr>
          <p:cNvPicPr>
            <a:picLocks noGrp="1" noChangeAspect="1"/>
          </p:cNvPicPr>
          <p:nvPr>
            <p:ph idx="1"/>
          </p:nvPr>
        </p:nvPicPr>
        <p:blipFill>
          <a:blip r:embed="rId2"/>
          <a:stretch>
            <a:fillRect/>
          </a:stretch>
        </p:blipFill>
        <p:spPr>
          <a:xfrm>
            <a:off x="448262" y="859892"/>
            <a:ext cx="11232845" cy="2279867"/>
          </a:xfrm>
          <a:prstGeom prst="rect">
            <a:avLst/>
          </a:prstGeom>
        </p:spPr>
      </p:pic>
    </p:spTree>
    <p:extLst>
      <p:ext uri="{BB962C8B-B14F-4D97-AF65-F5344CB8AC3E}">
        <p14:creationId xmlns:p14="http://schemas.microsoft.com/office/powerpoint/2010/main" val="50660614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A7E1-51A6-BA5D-0BF6-47BB10867FC9}"/>
              </a:ext>
            </a:extLst>
          </p:cNvPr>
          <p:cNvSpPr>
            <a:spLocks noGrp="1"/>
          </p:cNvSpPr>
          <p:nvPr>
            <p:ph type="title"/>
          </p:nvPr>
        </p:nvSpPr>
        <p:spPr/>
        <p:txBody>
          <a:bodyPr/>
          <a:lstStyle/>
          <a:p>
            <a:r>
              <a:rPr lang="en-US"/>
              <a:t>ASFR COMPARISON : MAHARASHTRA VS UP</a:t>
            </a:r>
          </a:p>
        </p:txBody>
      </p:sp>
      <p:pic>
        <p:nvPicPr>
          <p:cNvPr id="4" name="Content Placeholder 3" descr="A graph with red and blue lines&#10;&#10;AI-generated content may be incorrect.">
            <a:extLst>
              <a:ext uri="{FF2B5EF4-FFF2-40B4-BE49-F238E27FC236}">
                <a16:creationId xmlns:a16="http://schemas.microsoft.com/office/drawing/2014/main" id="{7840617F-54A0-095E-39C8-CFF229DD368A}"/>
              </a:ext>
            </a:extLst>
          </p:cNvPr>
          <p:cNvPicPr>
            <a:picLocks noGrp="1" noChangeAspect="1"/>
          </p:cNvPicPr>
          <p:nvPr>
            <p:ph idx="1"/>
          </p:nvPr>
        </p:nvPicPr>
        <p:blipFill>
          <a:blip r:embed="rId2"/>
          <a:stretch>
            <a:fillRect/>
          </a:stretch>
        </p:blipFill>
        <p:spPr>
          <a:xfrm>
            <a:off x="438455" y="2274441"/>
            <a:ext cx="6429938" cy="3678303"/>
          </a:xfrm>
          <a:prstGeom prst="rect">
            <a:avLst/>
          </a:prstGeom>
        </p:spPr>
      </p:pic>
      <p:sp>
        <p:nvSpPr>
          <p:cNvPr id="8" name="TextBox 7">
            <a:extLst>
              <a:ext uri="{FF2B5EF4-FFF2-40B4-BE49-F238E27FC236}">
                <a16:creationId xmlns:a16="http://schemas.microsoft.com/office/drawing/2014/main" id="{4E296ABA-6956-552D-633D-149B82D02698}"/>
              </a:ext>
            </a:extLst>
          </p:cNvPr>
          <p:cNvSpPr txBox="1"/>
          <p:nvPr/>
        </p:nvSpPr>
        <p:spPr>
          <a:xfrm>
            <a:off x="7213631" y="2421993"/>
            <a:ext cx="4100249" cy="258532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The ASFR pattern shows that both states have almost identical fertility levels in the</a:t>
            </a:r>
          </a:p>
          <a:p>
            <a:r>
              <a:rPr lang="en-US">
                <a:ea typeface="+mn-lt"/>
                <a:cs typeface="+mn-lt"/>
              </a:rPr>
              <a:t>15–19 age group. Maharashtra reaches its peak fertility at age 20, whereas Uttar</a:t>
            </a:r>
          </a:p>
          <a:p>
            <a:r>
              <a:rPr lang="en-US">
                <a:ea typeface="+mn-lt"/>
                <a:cs typeface="+mn-lt"/>
              </a:rPr>
              <a:t>Pradesh reaches its peak at age 25. After age 20, Uttar Pradesh consistently shows</a:t>
            </a:r>
            <a:endParaRPr lang="en-US"/>
          </a:p>
          <a:p>
            <a:r>
              <a:rPr lang="en-US">
                <a:ea typeface="+mn-lt"/>
                <a:cs typeface="+mn-lt"/>
              </a:rPr>
              <a:t>higher ASFR values than Maharashtra, indicating that fertility remains higher for</a:t>
            </a:r>
            <a:endParaRPr lang="en-US"/>
          </a:p>
          <a:p>
            <a:r>
              <a:rPr lang="en-US">
                <a:ea typeface="+mn-lt"/>
                <a:cs typeface="+mn-lt"/>
              </a:rPr>
              <a:t>longer ages in Uttar Pradesh.</a:t>
            </a:r>
            <a:endParaRPr lang="en-US"/>
          </a:p>
        </p:txBody>
      </p:sp>
    </p:spTree>
    <p:extLst>
      <p:ext uri="{BB962C8B-B14F-4D97-AF65-F5344CB8AC3E}">
        <p14:creationId xmlns:p14="http://schemas.microsoft.com/office/powerpoint/2010/main" val="2565414493"/>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math equation&#10;&#10;AI-generated content may be incorrect.">
            <a:extLst>
              <a:ext uri="{FF2B5EF4-FFF2-40B4-BE49-F238E27FC236}">
                <a16:creationId xmlns:a16="http://schemas.microsoft.com/office/drawing/2014/main" id="{A6F7E642-089E-83FB-CBCD-FB1368B17447}"/>
              </a:ext>
            </a:extLst>
          </p:cNvPr>
          <p:cNvPicPr>
            <a:picLocks noGrp="1" noChangeAspect="1"/>
          </p:cNvPicPr>
          <p:nvPr>
            <p:ph idx="1"/>
          </p:nvPr>
        </p:nvPicPr>
        <p:blipFill>
          <a:blip r:embed="rId2"/>
          <a:stretch>
            <a:fillRect/>
          </a:stretch>
        </p:blipFill>
        <p:spPr>
          <a:xfrm>
            <a:off x="424449" y="1145446"/>
            <a:ext cx="11134333" cy="3493717"/>
          </a:xfrm>
          <a:prstGeom prst="rect">
            <a:avLst/>
          </a:prstGeom>
        </p:spPr>
      </p:pic>
    </p:spTree>
    <p:extLst>
      <p:ext uri="{BB962C8B-B14F-4D97-AF65-F5344CB8AC3E}">
        <p14:creationId xmlns:p14="http://schemas.microsoft.com/office/powerpoint/2010/main" val="310116297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48683-032D-634E-B6FA-7C900108D81B}"/>
              </a:ext>
            </a:extLst>
          </p:cNvPr>
          <p:cNvSpPr>
            <a:spLocks noGrp="1"/>
          </p:cNvSpPr>
          <p:nvPr>
            <p:ph type="title"/>
          </p:nvPr>
        </p:nvSpPr>
        <p:spPr/>
        <p:txBody>
          <a:bodyPr/>
          <a:lstStyle/>
          <a:p>
            <a:r>
              <a:rPr lang="en-US"/>
              <a:t>TFR COMPARISON: MAHARASHTRA VS UP</a:t>
            </a:r>
          </a:p>
        </p:txBody>
      </p:sp>
      <p:pic>
        <p:nvPicPr>
          <p:cNvPr id="4" name="Content Placeholder 3">
            <a:extLst>
              <a:ext uri="{FF2B5EF4-FFF2-40B4-BE49-F238E27FC236}">
                <a16:creationId xmlns:a16="http://schemas.microsoft.com/office/drawing/2014/main" id="{26453598-B63A-8930-7454-443FF994B44B}"/>
              </a:ext>
            </a:extLst>
          </p:cNvPr>
          <p:cNvPicPr>
            <a:picLocks noGrp="1" noChangeAspect="1"/>
          </p:cNvPicPr>
          <p:nvPr>
            <p:ph idx="1"/>
          </p:nvPr>
        </p:nvPicPr>
        <p:blipFill>
          <a:blip r:embed="rId2"/>
          <a:stretch>
            <a:fillRect/>
          </a:stretch>
        </p:blipFill>
        <p:spPr>
          <a:xfrm>
            <a:off x="1101747" y="2170058"/>
            <a:ext cx="4017764" cy="4325480"/>
          </a:xfrm>
          <a:prstGeom prst="rect">
            <a:avLst/>
          </a:prstGeom>
        </p:spPr>
      </p:pic>
      <p:sp>
        <p:nvSpPr>
          <p:cNvPr id="3" name="TextBox 2">
            <a:extLst>
              <a:ext uri="{FF2B5EF4-FFF2-40B4-BE49-F238E27FC236}">
                <a16:creationId xmlns:a16="http://schemas.microsoft.com/office/drawing/2014/main" id="{52843D3F-EA7A-3080-9CF0-B7E085D7D824}"/>
              </a:ext>
            </a:extLst>
          </p:cNvPr>
          <p:cNvSpPr txBox="1"/>
          <p:nvPr/>
        </p:nvSpPr>
        <p:spPr>
          <a:xfrm rot="-11460000" flipV="1">
            <a:off x="6174901" y="3387741"/>
            <a:ext cx="3706359" cy="1200329"/>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We can observe Uttar Pradesh has higher total fertility rate than Maharashtra.</a:t>
            </a:r>
            <a:endParaRPr lang="en-US"/>
          </a:p>
          <a:p>
            <a:pPr algn="l"/>
            <a:endParaRPr lang="en-US"/>
          </a:p>
        </p:txBody>
      </p:sp>
    </p:spTree>
    <p:extLst>
      <p:ext uri="{BB962C8B-B14F-4D97-AF65-F5344CB8AC3E}">
        <p14:creationId xmlns:p14="http://schemas.microsoft.com/office/powerpoint/2010/main" val="372371538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B7CD7-A490-3269-9898-1B21292D8C12}"/>
              </a:ext>
            </a:extLst>
          </p:cNvPr>
          <p:cNvSpPr>
            <a:spLocks noGrp="1"/>
          </p:cNvSpPr>
          <p:nvPr>
            <p:ph type="title"/>
          </p:nvPr>
        </p:nvSpPr>
        <p:spPr/>
        <p:txBody>
          <a:bodyPr/>
          <a:lstStyle/>
          <a:p>
            <a:r>
              <a:rPr lang="en-US"/>
              <a:t>Poisson REGRESSION RESULT:</a:t>
            </a:r>
          </a:p>
        </p:txBody>
      </p:sp>
      <p:pic>
        <p:nvPicPr>
          <p:cNvPr id="4" name="Content Placeholder 3">
            <a:extLst>
              <a:ext uri="{FF2B5EF4-FFF2-40B4-BE49-F238E27FC236}">
                <a16:creationId xmlns:a16="http://schemas.microsoft.com/office/drawing/2014/main" id="{F7682F84-8C56-5AFD-16C1-38D32604009C}"/>
              </a:ext>
            </a:extLst>
          </p:cNvPr>
          <p:cNvPicPr>
            <a:picLocks noGrp="1" noChangeAspect="1"/>
          </p:cNvPicPr>
          <p:nvPr>
            <p:ph idx="1"/>
          </p:nvPr>
        </p:nvPicPr>
        <p:blipFill>
          <a:blip r:embed="rId2"/>
          <a:stretch>
            <a:fillRect/>
          </a:stretch>
        </p:blipFill>
        <p:spPr>
          <a:xfrm>
            <a:off x="2412490" y="2180496"/>
            <a:ext cx="7043429" cy="4210659"/>
          </a:xfrm>
          <a:prstGeom prst="rect">
            <a:avLst/>
          </a:prstGeom>
        </p:spPr>
      </p:pic>
    </p:spTree>
    <p:extLst>
      <p:ext uri="{BB962C8B-B14F-4D97-AF65-F5344CB8AC3E}">
        <p14:creationId xmlns:p14="http://schemas.microsoft.com/office/powerpoint/2010/main" val="239738865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DBD9B-7CB0-F7F8-BE2F-0EEA650E5563}"/>
              </a:ext>
            </a:extLst>
          </p:cNvPr>
          <p:cNvSpPr>
            <a:spLocks noGrp="1"/>
          </p:cNvSpPr>
          <p:nvPr>
            <p:ph type="title"/>
          </p:nvPr>
        </p:nvSpPr>
        <p:spPr/>
        <p:txBody>
          <a:bodyPr/>
          <a:lstStyle/>
          <a:p>
            <a:r>
              <a:rPr lang="en-US"/>
              <a:t>INTERPRETATION:</a:t>
            </a:r>
          </a:p>
        </p:txBody>
      </p:sp>
      <p:sp>
        <p:nvSpPr>
          <p:cNvPr id="3" name="Content Placeholder 2">
            <a:extLst>
              <a:ext uri="{FF2B5EF4-FFF2-40B4-BE49-F238E27FC236}">
                <a16:creationId xmlns:a16="http://schemas.microsoft.com/office/drawing/2014/main" id="{0C6D9D3F-8BF9-0139-DC8F-571751E24B7F}"/>
              </a:ext>
            </a:extLst>
          </p:cNvPr>
          <p:cNvSpPr>
            <a:spLocks noGrp="1"/>
          </p:cNvSpPr>
          <p:nvPr>
            <p:ph idx="1"/>
          </p:nvPr>
        </p:nvSpPr>
        <p:spPr/>
        <p:txBody>
          <a:bodyPr/>
          <a:lstStyle/>
          <a:p>
            <a:pPr marL="305435" indent="-305435">
              <a:buNone/>
            </a:pPr>
            <a:r>
              <a:rPr lang="en-US">
                <a:ea typeface="+mn-lt"/>
                <a:cs typeface="+mn-lt"/>
              </a:rPr>
              <a:t>For both states, the coefficients for increasing education levels are negative and</a:t>
            </a:r>
            <a:endParaRPr lang="en-US"/>
          </a:p>
          <a:p>
            <a:pPr marL="305435" indent="-305435">
              <a:buNone/>
            </a:pPr>
            <a:r>
              <a:rPr lang="en-US">
                <a:ea typeface="+mn-lt"/>
                <a:cs typeface="+mn-lt"/>
              </a:rPr>
              <a:t>statistically significant, indicating that fertility decreases monotonically as</a:t>
            </a:r>
            <a:endParaRPr lang="en-US"/>
          </a:p>
          <a:p>
            <a:pPr marL="305435" indent="-305435">
              <a:buNone/>
            </a:pPr>
            <a:r>
              <a:rPr lang="en-US">
                <a:ea typeface="+mn-lt"/>
                <a:cs typeface="+mn-lt"/>
              </a:rPr>
              <a:t>education increases. Wealth shows a weak association in Maharashtra but a stronger,</a:t>
            </a:r>
            <a:endParaRPr lang="en-US"/>
          </a:p>
          <a:p>
            <a:pPr marL="305435" indent="-305435">
              <a:buNone/>
            </a:pPr>
            <a:r>
              <a:rPr lang="en-US">
                <a:ea typeface="+mn-lt"/>
                <a:cs typeface="+mn-lt"/>
              </a:rPr>
              <a:t>negative association in Uttar Pradesh. Surprisingly, contraception use is associated</a:t>
            </a:r>
            <a:endParaRPr lang="en-US"/>
          </a:p>
          <a:p>
            <a:pPr marL="305435" indent="-305435">
              <a:buNone/>
            </a:pPr>
            <a:r>
              <a:rPr lang="en-US">
                <a:ea typeface="+mn-lt"/>
                <a:cs typeface="+mn-lt"/>
              </a:rPr>
              <a:t>with higher fertility in both states, which may indicate reverse causality:</a:t>
            </a:r>
            <a:endParaRPr lang="en-US"/>
          </a:p>
          <a:p>
            <a:pPr marL="305435" indent="-305435">
              <a:buNone/>
            </a:pPr>
            <a:r>
              <a:rPr lang="en-US">
                <a:ea typeface="+mn-lt"/>
                <a:cs typeface="+mn-lt"/>
              </a:rPr>
              <a:t>women tend to adopt contraception after achieving desired parity.</a:t>
            </a:r>
            <a:endParaRPr lang="en-US"/>
          </a:p>
          <a:p>
            <a:pPr marL="0" indent="0">
              <a:buNone/>
            </a:pPr>
            <a:endParaRPr lang="en-US"/>
          </a:p>
        </p:txBody>
      </p:sp>
    </p:spTree>
    <p:extLst>
      <p:ext uri="{BB962C8B-B14F-4D97-AF65-F5344CB8AC3E}">
        <p14:creationId xmlns:p14="http://schemas.microsoft.com/office/powerpoint/2010/main" val="1914326767"/>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FBE8-E145-1CD5-494F-FDB04A9D5C2F}"/>
              </a:ext>
            </a:extLst>
          </p:cNvPr>
          <p:cNvSpPr>
            <a:spLocks noGrp="1"/>
          </p:cNvSpPr>
          <p:nvPr>
            <p:ph type="title"/>
          </p:nvPr>
        </p:nvSpPr>
        <p:spPr/>
        <p:txBody>
          <a:bodyPr/>
          <a:lstStyle/>
          <a:p>
            <a:r>
              <a:rPr lang="en-US"/>
              <a:t>PREDICTER NUMBER OF CHILDREN BY MOTHER EDUCATION:</a:t>
            </a:r>
          </a:p>
        </p:txBody>
      </p:sp>
      <p:pic>
        <p:nvPicPr>
          <p:cNvPr id="8" name="Content Placeholder 7" descr="A graph of a graph&#10;&#10;AI-generated content may be incorrect.">
            <a:extLst>
              <a:ext uri="{FF2B5EF4-FFF2-40B4-BE49-F238E27FC236}">
                <a16:creationId xmlns:a16="http://schemas.microsoft.com/office/drawing/2014/main" id="{B97D8BE9-6C38-805E-CE95-2E1194B7D7FF}"/>
              </a:ext>
            </a:extLst>
          </p:cNvPr>
          <p:cNvPicPr>
            <a:picLocks noGrp="1" noChangeAspect="1"/>
          </p:cNvPicPr>
          <p:nvPr>
            <p:ph idx="1"/>
          </p:nvPr>
        </p:nvPicPr>
        <p:blipFill>
          <a:blip r:embed="rId2"/>
          <a:stretch>
            <a:fillRect/>
          </a:stretch>
        </p:blipFill>
        <p:spPr>
          <a:xfrm>
            <a:off x="2719" y="2439289"/>
            <a:ext cx="6263089" cy="3707057"/>
          </a:xfrm>
          <a:prstGeom prst="rect">
            <a:avLst/>
          </a:prstGeom>
        </p:spPr>
      </p:pic>
      <p:pic>
        <p:nvPicPr>
          <p:cNvPr id="9" name="Picture 8" descr="A graph of a number of children&#10;&#10;AI-generated content may be incorrect.">
            <a:extLst>
              <a:ext uri="{FF2B5EF4-FFF2-40B4-BE49-F238E27FC236}">
                <a16:creationId xmlns:a16="http://schemas.microsoft.com/office/drawing/2014/main" id="{E1B1B853-76AD-6BCA-899A-79BBA720A09A}"/>
              </a:ext>
            </a:extLst>
          </p:cNvPr>
          <p:cNvPicPr>
            <a:picLocks noChangeAspect="1"/>
          </p:cNvPicPr>
          <p:nvPr/>
        </p:nvPicPr>
        <p:blipFill>
          <a:blip r:embed="rId3"/>
          <a:stretch>
            <a:fillRect/>
          </a:stretch>
        </p:blipFill>
        <p:spPr>
          <a:xfrm>
            <a:off x="6097240" y="2692574"/>
            <a:ext cx="6083083" cy="3362195"/>
          </a:xfrm>
          <a:prstGeom prst="rect">
            <a:avLst/>
          </a:prstGeom>
        </p:spPr>
      </p:pic>
    </p:spTree>
    <p:extLst>
      <p:ext uri="{BB962C8B-B14F-4D97-AF65-F5344CB8AC3E}">
        <p14:creationId xmlns:p14="http://schemas.microsoft.com/office/powerpoint/2010/main" val="426688667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89C19-2405-3517-4CDE-C2CBC7158EF3}"/>
              </a:ext>
            </a:extLst>
          </p:cNvPr>
          <p:cNvSpPr>
            <a:spLocks noGrp="1"/>
          </p:cNvSpPr>
          <p:nvPr>
            <p:ph type="title"/>
          </p:nvPr>
        </p:nvSpPr>
        <p:spPr/>
        <p:txBody>
          <a:bodyPr/>
          <a:lstStyle/>
          <a:p>
            <a:r>
              <a:rPr lang="en-US"/>
              <a:t>CONTRACEPTIVE USE:</a:t>
            </a:r>
            <a:endParaRPr lang="en-US">
              <a:solidFill>
                <a:srgbClr val="000000"/>
              </a:solidFill>
            </a:endParaRPr>
          </a:p>
          <a:p>
            <a:endParaRPr lang="en-US"/>
          </a:p>
        </p:txBody>
      </p:sp>
      <p:pic>
        <p:nvPicPr>
          <p:cNvPr id="4" name="Content Placeholder 3" descr="A diagram of a pie chart&#10;&#10;AI-generated content may be incorrect.">
            <a:extLst>
              <a:ext uri="{FF2B5EF4-FFF2-40B4-BE49-F238E27FC236}">
                <a16:creationId xmlns:a16="http://schemas.microsoft.com/office/drawing/2014/main" id="{995DEF7E-F56E-C118-D065-19DB6709E7AF}"/>
              </a:ext>
            </a:extLst>
          </p:cNvPr>
          <p:cNvPicPr>
            <a:picLocks noGrp="1" noChangeAspect="1"/>
          </p:cNvPicPr>
          <p:nvPr>
            <p:ph idx="1"/>
          </p:nvPr>
        </p:nvPicPr>
        <p:blipFill>
          <a:blip r:embed="rId2"/>
          <a:stretch>
            <a:fillRect/>
          </a:stretch>
        </p:blipFill>
        <p:spPr>
          <a:xfrm>
            <a:off x="1439022" y="2180496"/>
            <a:ext cx="9313955" cy="3678303"/>
          </a:xfrm>
          <a:prstGeom prst="rect">
            <a:avLst/>
          </a:prstGeom>
        </p:spPr>
      </p:pic>
    </p:spTree>
    <p:extLst>
      <p:ext uri="{BB962C8B-B14F-4D97-AF65-F5344CB8AC3E}">
        <p14:creationId xmlns:p14="http://schemas.microsoft.com/office/powerpoint/2010/main" val="991669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B5EAE-3D35-4497-9F60-1A60AE1AEB74}"/>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74D7188B-5958-0CC7-FEA7-FB87876E7BA7}"/>
              </a:ext>
            </a:extLst>
          </p:cNvPr>
          <p:cNvSpPr>
            <a:spLocks noGrp="1"/>
          </p:cNvSpPr>
          <p:nvPr>
            <p:ph idx="1"/>
          </p:nvPr>
        </p:nvSpPr>
        <p:spPr/>
        <p:txBody>
          <a:bodyPr/>
          <a:lstStyle/>
          <a:p>
            <a:pPr marL="305435" indent="-305435"/>
            <a:r>
              <a:rPr lang="en-US"/>
              <a:t>Fertility differences between Maharashtra and UP are not random.</a:t>
            </a:r>
          </a:p>
          <a:p>
            <a:pPr marL="305435" indent="-305435"/>
            <a:r>
              <a:rPr lang="en-US"/>
              <a:t>They are strongly associated with education, wealth and contraception use.</a:t>
            </a:r>
          </a:p>
          <a:p>
            <a:pPr marL="305435" indent="-305435"/>
            <a:r>
              <a:rPr lang="en-US"/>
              <a:t>Maharashtra is closer to demographic transition; UP is still progressing toward it.</a:t>
            </a:r>
          </a:p>
          <a:p>
            <a:pPr marL="305435" indent="-305435"/>
            <a:r>
              <a:rPr lang="en-US"/>
              <a:t>Policy Relevance: Increasing female education, improving access to modern contraception, economic empowerment programs are the key levels of fertility reduction.</a:t>
            </a:r>
          </a:p>
        </p:txBody>
      </p:sp>
    </p:spTree>
    <p:extLst>
      <p:ext uri="{BB962C8B-B14F-4D97-AF65-F5344CB8AC3E}">
        <p14:creationId xmlns:p14="http://schemas.microsoft.com/office/powerpoint/2010/main" val="2414827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D670A-8227-2114-1817-A609B1186085}"/>
              </a:ext>
            </a:extLst>
          </p:cNvPr>
          <p:cNvSpPr>
            <a:spLocks noGrp="1"/>
          </p:cNvSpPr>
          <p:nvPr>
            <p:ph type="title"/>
          </p:nvPr>
        </p:nvSpPr>
        <p:spPr/>
        <p:txBody>
          <a:bodyPr/>
          <a:lstStyle/>
          <a:p>
            <a:r>
              <a:rPr lang="en-US"/>
              <a:t>RESEARCH QUESTION 2:</a:t>
            </a:r>
          </a:p>
        </p:txBody>
      </p:sp>
      <p:sp>
        <p:nvSpPr>
          <p:cNvPr id="3" name="Content Placeholder 2">
            <a:extLst>
              <a:ext uri="{FF2B5EF4-FFF2-40B4-BE49-F238E27FC236}">
                <a16:creationId xmlns:a16="http://schemas.microsoft.com/office/drawing/2014/main" id="{86F08F35-3ADE-4173-E031-47701B782DD3}"/>
              </a:ext>
            </a:extLst>
          </p:cNvPr>
          <p:cNvSpPr>
            <a:spLocks noGrp="1"/>
          </p:cNvSpPr>
          <p:nvPr>
            <p:ph idx="1"/>
          </p:nvPr>
        </p:nvSpPr>
        <p:spPr/>
        <p:txBody>
          <a:bodyPr/>
          <a:lstStyle/>
          <a:p>
            <a:endParaRPr lang="en-US"/>
          </a:p>
        </p:txBody>
      </p:sp>
      <p:sp>
        <p:nvSpPr>
          <p:cNvPr id="4" name="Rectangle: Rounded Corners 3">
            <a:extLst>
              <a:ext uri="{FF2B5EF4-FFF2-40B4-BE49-F238E27FC236}">
                <a16:creationId xmlns:a16="http://schemas.microsoft.com/office/drawing/2014/main" id="{BC0222AA-D78C-C908-C3DA-C8854364517A}"/>
              </a:ext>
            </a:extLst>
          </p:cNvPr>
          <p:cNvSpPr/>
          <p:nvPr/>
        </p:nvSpPr>
        <p:spPr>
          <a:xfrm flipH="1">
            <a:off x="566064" y="2191105"/>
            <a:ext cx="11134668" cy="3947370"/>
          </a:xfrm>
          <a:prstGeom prst="roundRect">
            <a:avLst/>
          </a:prstGeom>
          <a:solidFill>
            <a:srgbClr val="FFC000"/>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C4C5A50-C964-9D19-A572-FBFA8BEF27F0}"/>
              </a:ext>
            </a:extLst>
          </p:cNvPr>
          <p:cNvSpPr txBox="1"/>
          <p:nvPr/>
        </p:nvSpPr>
        <p:spPr>
          <a:xfrm>
            <a:off x="993687" y="2456617"/>
            <a:ext cx="1007489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C00000"/>
                </a:solidFill>
                <a:ea typeface="+mn-lt"/>
                <a:cs typeface="+mn-lt"/>
              </a:rPr>
              <a:t>How does the prevalence of early childbirth (first birth before age 20) differ between Uttar Pradesh and</a:t>
            </a:r>
            <a:endParaRPr lang="en-US" sz="3200">
              <a:solidFill>
                <a:srgbClr val="C00000"/>
              </a:solidFill>
            </a:endParaRPr>
          </a:p>
          <a:p>
            <a:pPr algn="l"/>
            <a:r>
              <a:rPr lang="en-US" sz="3200">
                <a:solidFill>
                  <a:srgbClr val="C00000"/>
                </a:solidFill>
                <a:ea typeface="+mn-lt"/>
                <a:cs typeface="+mn-lt"/>
              </a:rPr>
              <a:t>Maharashtra?</a:t>
            </a:r>
            <a:endParaRPr lang="en-US" sz="3200">
              <a:solidFill>
                <a:srgbClr val="C00000"/>
              </a:solidFill>
            </a:endParaRPr>
          </a:p>
        </p:txBody>
      </p:sp>
      <p:sp>
        <p:nvSpPr>
          <p:cNvPr id="7" name="TextBox 6">
            <a:extLst>
              <a:ext uri="{FF2B5EF4-FFF2-40B4-BE49-F238E27FC236}">
                <a16:creationId xmlns:a16="http://schemas.microsoft.com/office/drawing/2014/main" id="{248A031D-BF84-286C-76AD-5715476D78F9}"/>
              </a:ext>
            </a:extLst>
          </p:cNvPr>
          <p:cNvSpPr txBox="1"/>
          <p:nvPr/>
        </p:nvSpPr>
        <p:spPr>
          <a:xfrm>
            <a:off x="1228308" y="4457794"/>
            <a:ext cx="949524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mn-lt"/>
                <a:cs typeface="+mn-lt"/>
              </a:rPr>
              <a:t>The study aims to examine the socio-demographic factors (such as education level, wealth index and residence) associated with early childbirth in Uttar Pradesh and Maharashtra.</a:t>
            </a:r>
            <a:endParaRPr lang="en-US">
              <a:ea typeface="+mn-lt"/>
              <a:cs typeface="+mn-lt"/>
            </a:endParaRPr>
          </a:p>
        </p:txBody>
      </p:sp>
    </p:spTree>
    <p:extLst>
      <p:ext uri="{BB962C8B-B14F-4D97-AF65-F5344CB8AC3E}">
        <p14:creationId xmlns:p14="http://schemas.microsoft.com/office/powerpoint/2010/main" val="637339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8F4DC-CDD3-51BD-1BC9-322B12879133}"/>
              </a:ext>
            </a:extLst>
          </p:cNvPr>
          <p:cNvSpPr>
            <a:spLocks noGrp="1"/>
          </p:cNvSpPr>
          <p:nvPr>
            <p:ph type="title"/>
          </p:nvPr>
        </p:nvSpPr>
        <p:spPr/>
        <p:txBody>
          <a:bodyPr/>
          <a:lstStyle/>
          <a:p>
            <a:r>
              <a:rPr lang="en-US"/>
              <a:t>Weighted prevalence of early childbirth</a:t>
            </a:r>
          </a:p>
        </p:txBody>
      </p:sp>
      <p:sp>
        <p:nvSpPr>
          <p:cNvPr id="3" name="Content Placeholder 2">
            <a:extLst>
              <a:ext uri="{FF2B5EF4-FFF2-40B4-BE49-F238E27FC236}">
                <a16:creationId xmlns:a16="http://schemas.microsoft.com/office/drawing/2014/main" id="{3D29B880-9887-1DCD-D8FA-175390D6C776}"/>
              </a:ext>
            </a:extLst>
          </p:cNvPr>
          <p:cNvSpPr>
            <a:spLocks noGrp="1"/>
          </p:cNvSpPr>
          <p:nvPr>
            <p:ph idx="1"/>
          </p:nvPr>
        </p:nvSpPr>
        <p:spPr/>
        <p:txBody>
          <a:bodyPr/>
          <a:lstStyle/>
          <a:p>
            <a:pPr marL="305435" indent="-305435"/>
            <a:r>
              <a:rPr lang="en-US" sz="2000">
                <a:ea typeface="+mn-lt"/>
                <a:cs typeface="+mn-lt"/>
              </a:rPr>
              <a:t>Adjusted measure showing the proportion of women who had their </a:t>
            </a:r>
            <a:r>
              <a:rPr lang="en-US" sz="2000" b="1">
                <a:ea typeface="+mn-lt"/>
                <a:cs typeface="+mn-lt"/>
              </a:rPr>
              <a:t>first birth before age 20</a:t>
            </a:r>
            <a:r>
              <a:rPr lang="en-US" sz="2000">
                <a:ea typeface="+mn-lt"/>
                <a:cs typeface="+mn-lt"/>
              </a:rPr>
              <a:t>.</a:t>
            </a:r>
          </a:p>
          <a:p>
            <a:pPr marL="305435" indent="-305435"/>
            <a:r>
              <a:rPr lang="en-US" sz="2000">
                <a:ea typeface="+mn-lt"/>
                <a:cs typeface="+mn-lt"/>
              </a:rPr>
              <a:t>Uses </a:t>
            </a:r>
            <a:r>
              <a:rPr lang="en-US" sz="2000" b="1">
                <a:ea typeface="+mn-lt"/>
                <a:cs typeface="+mn-lt"/>
              </a:rPr>
              <a:t>survey weights</a:t>
            </a:r>
            <a:r>
              <a:rPr lang="en-US" sz="2000">
                <a:ea typeface="+mn-lt"/>
                <a:cs typeface="+mn-lt"/>
              </a:rPr>
              <a:t> to represent the population accurately.</a:t>
            </a:r>
          </a:p>
          <a:p>
            <a:pPr marL="305435" indent="-305435"/>
            <a:r>
              <a:rPr lang="en-US" sz="2000">
                <a:ea typeface="+mn-lt"/>
                <a:cs typeface="+mn-lt"/>
              </a:rPr>
              <a:t>Formula: Weighted Prevalence=</a:t>
            </a:r>
            <a:r>
              <a:rPr lang="en-US">
                <a:ea typeface="+mn-lt"/>
                <a:cs typeface="+mn-lt"/>
              </a:rPr>
              <a:t> </a:t>
            </a:r>
          </a:p>
        </p:txBody>
      </p:sp>
      <p:sp>
        <p:nvSpPr>
          <p:cNvPr id="4" name="TextBox 3">
            <a:extLst>
              <a:ext uri="{FF2B5EF4-FFF2-40B4-BE49-F238E27FC236}">
                <a16:creationId xmlns:a16="http://schemas.microsoft.com/office/drawing/2014/main" id="{E670DB7C-13FF-E491-71D0-0CAAC6CAD36D}"/>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t>
            </a:r>
          </a:p>
          <a:p>
            <a:pPr algn="ctr"/>
            <a:endParaRPr lang="en-US"/>
          </a:p>
        </p:txBody>
      </p:sp>
      <p:pic>
        <p:nvPicPr>
          <p:cNvPr id="5" name="Picture 4">
            <a:extLst>
              <a:ext uri="{FF2B5EF4-FFF2-40B4-BE49-F238E27FC236}">
                <a16:creationId xmlns:a16="http://schemas.microsoft.com/office/drawing/2014/main" id="{658F76D8-21A7-EE71-20DF-736D75D83761}"/>
              </a:ext>
            </a:extLst>
          </p:cNvPr>
          <p:cNvPicPr>
            <a:picLocks noChangeAspect="1"/>
          </p:cNvPicPr>
          <p:nvPr/>
        </p:nvPicPr>
        <p:blipFill>
          <a:blip r:embed="rId2"/>
          <a:stretch>
            <a:fillRect/>
          </a:stretch>
        </p:blipFill>
        <p:spPr>
          <a:xfrm>
            <a:off x="4420243" y="4232317"/>
            <a:ext cx="1693648" cy="916202"/>
          </a:xfrm>
          <a:prstGeom prst="rect">
            <a:avLst/>
          </a:prstGeom>
        </p:spPr>
      </p:pic>
      <p:sp>
        <p:nvSpPr>
          <p:cNvPr id="7" name="TextBox 6">
            <a:extLst>
              <a:ext uri="{FF2B5EF4-FFF2-40B4-BE49-F238E27FC236}">
                <a16:creationId xmlns:a16="http://schemas.microsoft.com/office/drawing/2014/main" id="{E24A6DDA-3669-2DF5-7877-98D0594B100C}"/>
              </a:ext>
            </a:extLst>
          </p:cNvPr>
          <p:cNvSpPr txBox="1"/>
          <p:nvPr/>
        </p:nvSpPr>
        <p:spPr>
          <a:xfrm>
            <a:off x="2470419" y="5423879"/>
            <a:ext cx="62243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where </a:t>
            </a:r>
            <a:r>
              <a:rPr lang="en-US" i="1" err="1">
                <a:ea typeface="+mn-lt"/>
                <a:cs typeface="+mn-lt"/>
              </a:rPr>
              <a:t>w_i</a:t>
            </a:r>
            <a:r>
              <a:rPr lang="en-US">
                <a:ea typeface="+mn-lt"/>
                <a:cs typeface="+mn-lt"/>
              </a:rPr>
              <a:t> = sample weight, </a:t>
            </a:r>
            <a:r>
              <a:rPr lang="en-US" i="1">
                <a:ea typeface="+mn-lt"/>
                <a:cs typeface="+mn-lt"/>
              </a:rPr>
              <a:t>y_i</a:t>
            </a:r>
            <a:r>
              <a:rPr lang="en-US">
                <a:ea typeface="+mn-lt"/>
                <a:cs typeface="+mn-lt"/>
              </a:rPr>
              <a:t> = 1 if early birth, 0 otherwise.</a:t>
            </a:r>
            <a:endParaRPr lang="en-US"/>
          </a:p>
        </p:txBody>
      </p:sp>
    </p:spTree>
    <p:extLst>
      <p:ext uri="{BB962C8B-B14F-4D97-AF65-F5344CB8AC3E}">
        <p14:creationId xmlns:p14="http://schemas.microsoft.com/office/powerpoint/2010/main" val="597032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162E-55E5-8F1E-6A07-5FD7A5FCBD91}"/>
              </a:ext>
            </a:extLst>
          </p:cNvPr>
          <p:cNvSpPr>
            <a:spLocks noGrp="1"/>
          </p:cNvSpPr>
          <p:nvPr>
            <p:ph type="title"/>
          </p:nvPr>
        </p:nvSpPr>
        <p:spPr/>
        <p:txBody>
          <a:bodyPr/>
          <a:lstStyle/>
          <a:p>
            <a:r>
              <a:rPr lang="en-US"/>
              <a:t>DISTRIBUTION of age at first birth by state</a:t>
            </a:r>
          </a:p>
        </p:txBody>
      </p:sp>
      <p:pic>
        <p:nvPicPr>
          <p:cNvPr id="4" name="Content Placeholder 3" descr="A graph of age at birth&#10;&#10;AI-generated content may be incorrect.">
            <a:extLst>
              <a:ext uri="{FF2B5EF4-FFF2-40B4-BE49-F238E27FC236}">
                <a16:creationId xmlns:a16="http://schemas.microsoft.com/office/drawing/2014/main" id="{8532FB48-1684-791A-7EFD-3B07C6A5E1BB}"/>
              </a:ext>
            </a:extLst>
          </p:cNvPr>
          <p:cNvPicPr>
            <a:picLocks noGrp="1" noChangeAspect="1"/>
          </p:cNvPicPr>
          <p:nvPr>
            <p:ph idx="1"/>
          </p:nvPr>
        </p:nvPicPr>
        <p:blipFill>
          <a:blip r:embed="rId2"/>
          <a:stretch>
            <a:fillRect/>
          </a:stretch>
        </p:blipFill>
        <p:spPr>
          <a:xfrm>
            <a:off x="3589667" y="2098118"/>
            <a:ext cx="4703747" cy="2669168"/>
          </a:xfrm>
          <a:prstGeom prst="rect">
            <a:avLst/>
          </a:prstGeom>
        </p:spPr>
      </p:pic>
      <p:sp>
        <p:nvSpPr>
          <p:cNvPr id="5" name="TextBox 4">
            <a:extLst>
              <a:ext uri="{FF2B5EF4-FFF2-40B4-BE49-F238E27FC236}">
                <a16:creationId xmlns:a16="http://schemas.microsoft.com/office/drawing/2014/main" id="{E97C07DF-41E0-3F33-777E-50C6E5DC25E8}"/>
              </a:ext>
            </a:extLst>
          </p:cNvPr>
          <p:cNvSpPr txBox="1"/>
          <p:nvPr/>
        </p:nvSpPr>
        <p:spPr>
          <a:xfrm>
            <a:off x="1711351" y="5216861"/>
            <a:ext cx="910880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The graph shows the </a:t>
            </a:r>
            <a:r>
              <a:rPr lang="en-US" b="1">
                <a:ea typeface="+mn-lt"/>
                <a:cs typeface="+mn-lt"/>
              </a:rPr>
              <a:t>weighted distribution</a:t>
            </a:r>
            <a:r>
              <a:rPr lang="en-US">
                <a:ea typeface="+mn-lt"/>
                <a:cs typeface="+mn-lt"/>
              </a:rPr>
              <a:t> of women’s age at first birth in </a:t>
            </a:r>
            <a:r>
              <a:rPr lang="en-US" b="1">
                <a:ea typeface="+mn-lt"/>
                <a:cs typeface="+mn-lt"/>
              </a:rPr>
              <a:t>Maharashtra</a:t>
            </a:r>
            <a:r>
              <a:rPr lang="en-US">
                <a:ea typeface="+mn-lt"/>
                <a:cs typeface="+mn-lt"/>
              </a:rPr>
              <a:t> and </a:t>
            </a:r>
            <a:r>
              <a:rPr lang="en-US" b="1">
                <a:ea typeface="+mn-lt"/>
                <a:cs typeface="+mn-lt"/>
              </a:rPr>
              <a:t>Uttar Pradesh</a:t>
            </a:r>
            <a:r>
              <a:rPr lang="en-US">
                <a:ea typeface="+mn-lt"/>
                <a:cs typeface="+mn-lt"/>
              </a:rPr>
              <a:t>.</a:t>
            </a:r>
          </a:p>
          <a:p>
            <a:pPr marL="285750" indent="-285750">
              <a:buFont typeface="Arial"/>
              <a:buChar char="•"/>
            </a:pPr>
            <a:r>
              <a:rPr lang="en-US">
                <a:ea typeface="+mn-lt"/>
                <a:cs typeface="+mn-lt"/>
              </a:rPr>
              <a:t>Both Maharashtra and Uttar Pradesh show </a:t>
            </a:r>
            <a:r>
              <a:rPr lang="en-US" b="1">
                <a:ea typeface="+mn-lt"/>
                <a:cs typeface="+mn-lt"/>
              </a:rPr>
              <a:t>left-skewed distributions</a:t>
            </a:r>
            <a:r>
              <a:rPr lang="en-US">
                <a:ea typeface="+mn-lt"/>
                <a:cs typeface="+mn-lt"/>
              </a:rPr>
              <a:t>, indicating that most women have their </a:t>
            </a:r>
            <a:r>
              <a:rPr lang="en-US" b="1">
                <a:ea typeface="+mn-lt"/>
                <a:cs typeface="+mn-lt"/>
              </a:rPr>
              <a:t>first birth at younger ages</a:t>
            </a:r>
            <a:r>
              <a:rPr lang="en-US">
                <a:ea typeface="+mn-lt"/>
                <a:cs typeface="+mn-lt"/>
              </a:rPr>
              <a:t>. Both peaks appear between </a:t>
            </a:r>
            <a:r>
              <a:rPr lang="en-US" b="1">
                <a:ea typeface="+mn-lt"/>
                <a:cs typeface="+mn-lt"/>
              </a:rPr>
              <a:t>18-22 years</a:t>
            </a:r>
          </a:p>
          <a:p>
            <a:pPr marL="285750" indent="-285750">
              <a:buFont typeface="Arial"/>
              <a:buChar char="•"/>
            </a:pPr>
            <a:endParaRPr lang="en-US"/>
          </a:p>
        </p:txBody>
      </p:sp>
    </p:spTree>
    <p:extLst>
      <p:ext uri="{BB962C8B-B14F-4D97-AF65-F5344CB8AC3E}">
        <p14:creationId xmlns:p14="http://schemas.microsoft.com/office/powerpoint/2010/main" val="956075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A9344-A053-79EA-6B40-8CAF0BE17CE9}"/>
              </a:ext>
            </a:extLst>
          </p:cNvPr>
          <p:cNvSpPr>
            <a:spLocks noGrp="1"/>
          </p:cNvSpPr>
          <p:nvPr>
            <p:ph type="title"/>
          </p:nvPr>
        </p:nvSpPr>
        <p:spPr/>
        <p:txBody>
          <a:bodyPr/>
          <a:lstStyle/>
          <a:p>
            <a:r>
              <a:rPr lang="en-US"/>
              <a:t>Hypothesis testing</a:t>
            </a:r>
          </a:p>
        </p:txBody>
      </p:sp>
      <p:sp>
        <p:nvSpPr>
          <p:cNvPr id="3" name="Content Placeholder 2">
            <a:extLst>
              <a:ext uri="{FF2B5EF4-FFF2-40B4-BE49-F238E27FC236}">
                <a16:creationId xmlns:a16="http://schemas.microsoft.com/office/drawing/2014/main" id="{08259E1E-1F97-80E5-F4F2-0729DC797366}"/>
              </a:ext>
            </a:extLst>
          </p:cNvPr>
          <p:cNvSpPr>
            <a:spLocks noGrp="1"/>
          </p:cNvSpPr>
          <p:nvPr>
            <p:ph idx="1"/>
          </p:nvPr>
        </p:nvSpPr>
        <p:spPr>
          <a:xfrm>
            <a:off x="581192" y="4106092"/>
            <a:ext cx="11029615" cy="1577653"/>
          </a:xfrm>
        </p:spPr>
        <p:txBody>
          <a:bodyPr>
            <a:normAutofit fontScale="32500" lnSpcReduction="20000"/>
          </a:bodyPr>
          <a:lstStyle/>
          <a:p>
            <a:pPr marL="0" indent="0">
              <a:buNone/>
            </a:pPr>
            <a:endParaRPr lang="en-US" sz="2800"/>
          </a:p>
          <a:p>
            <a:pPr marL="0" indent="0">
              <a:buNone/>
            </a:pPr>
            <a:r>
              <a:rPr lang="en-US" sz="6000">
                <a:solidFill>
                  <a:srgbClr val="FFC000"/>
                </a:solidFill>
              </a:rPr>
              <a:t>Assumptions:</a:t>
            </a:r>
          </a:p>
          <a:p>
            <a:pPr marL="305435" indent="-305435">
              <a:buFont typeface="Wingdings 2"/>
              <a:buChar char=""/>
            </a:pPr>
            <a:r>
              <a:rPr lang="en-US" sz="6000"/>
              <a:t>Observations are independent from one another.</a:t>
            </a:r>
            <a:endParaRPr lang="en-US" sz="6000">
              <a:solidFill>
                <a:srgbClr val="3D3D3D"/>
              </a:solidFill>
            </a:endParaRPr>
          </a:p>
          <a:p>
            <a:pPr marL="305435" indent="-305435">
              <a:buFont typeface="Wingdings 2"/>
              <a:buChar char=""/>
            </a:pPr>
            <a:r>
              <a:rPr lang="en-US" sz="6000"/>
              <a:t>The data for each groups are approximately normal distributed.</a:t>
            </a:r>
            <a:endParaRPr lang="en-US" sz="6000">
              <a:solidFill>
                <a:srgbClr val="000000"/>
              </a:solidFill>
            </a:endParaRPr>
          </a:p>
          <a:p>
            <a:pPr marL="305435" indent="-305435">
              <a:buFont typeface="Wingdings 2"/>
              <a:buChar char=""/>
            </a:pPr>
            <a:endParaRPr lang="en-US" sz="2000"/>
          </a:p>
          <a:p>
            <a:pPr marL="305435" indent="-305435">
              <a:buFont typeface="Wingdings 2"/>
              <a:buChar char=""/>
            </a:pPr>
            <a:endParaRPr lang="en-US"/>
          </a:p>
          <a:p>
            <a:pPr marL="0" indent="0">
              <a:buNone/>
            </a:pPr>
            <a:endParaRPr lang="en-US" sz="2000"/>
          </a:p>
          <a:p>
            <a:pPr marL="342900" indent="-342900"/>
            <a:endParaRPr lang="en-US" sz="2000"/>
          </a:p>
          <a:p>
            <a:pPr marL="0" indent="0">
              <a:buNone/>
            </a:pPr>
            <a:endParaRPr lang="en-US" sz="2000"/>
          </a:p>
          <a:p>
            <a:pPr marL="0" indent="0">
              <a:buNone/>
            </a:pPr>
            <a:endParaRPr lang="en-US" sz="2000"/>
          </a:p>
        </p:txBody>
      </p:sp>
      <p:sp>
        <p:nvSpPr>
          <p:cNvPr id="4" name="TextBox 3">
            <a:extLst>
              <a:ext uri="{FF2B5EF4-FFF2-40B4-BE49-F238E27FC236}">
                <a16:creationId xmlns:a16="http://schemas.microsoft.com/office/drawing/2014/main" id="{4A350982-E507-664F-EDAC-2A9DB53CF162}"/>
              </a:ext>
            </a:extLst>
          </p:cNvPr>
          <p:cNvSpPr txBox="1"/>
          <p:nvPr/>
        </p:nvSpPr>
        <p:spPr>
          <a:xfrm>
            <a:off x="717663" y="2387610"/>
            <a:ext cx="1059933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A weighted</a:t>
            </a:r>
            <a:r>
              <a:rPr lang="en-US" b="1">
                <a:ea typeface="+mn-lt"/>
                <a:cs typeface="+mn-lt"/>
              </a:rPr>
              <a:t> two-sample t-test</a:t>
            </a:r>
            <a:r>
              <a:rPr lang="en-US">
                <a:ea typeface="+mn-lt"/>
                <a:cs typeface="+mn-lt"/>
              </a:rPr>
              <a:t> was used to compare the prevalence of early child-birth between the two states. The test was based on the null hypothesis that the prevalence of early childbirth in Maharashtra and Uttar Pradesh is equal, against the alternative that they are significantly different. </a:t>
            </a:r>
            <a:endParaRPr lang="en-US"/>
          </a:p>
        </p:txBody>
      </p:sp>
    </p:spTree>
    <p:extLst>
      <p:ext uri="{BB962C8B-B14F-4D97-AF65-F5344CB8AC3E}">
        <p14:creationId xmlns:p14="http://schemas.microsoft.com/office/powerpoint/2010/main" val="2922285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77B76-B13A-BC36-6F3B-8783BD34BE5C}"/>
              </a:ext>
            </a:extLst>
          </p:cNvPr>
          <p:cNvSpPr>
            <a:spLocks noGrp="1"/>
          </p:cNvSpPr>
          <p:nvPr>
            <p:ph type="title"/>
          </p:nvPr>
        </p:nvSpPr>
        <p:spPr/>
        <p:txBody>
          <a:bodyPr/>
          <a:lstStyle/>
          <a:p>
            <a:r>
              <a:rPr lang="en-US"/>
              <a:t>RESULTs AND INTERPRETATION</a:t>
            </a:r>
          </a:p>
        </p:txBody>
      </p:sp>
      <p:pic>
        <p:nvPicPr>
          <p:cNvPr id="4" name="Content Placeholder 3" descr="A white background with black text&#10;&#10;AI-generated content may be incorrect.">
            <a:extLst>
              <a:ext uri="{FF2B5EF4-FFF2-40B4-BE49-F238E27FC236}">
                <a16:creationId xmlns:a16="http://schemas.microsoft.com/office/drawing/2014/main" id="{6C62FA28-C4D9-E549-6ED9-60FCDB2A6270}"/>
              </a:ext>
            </a:extLst>
          </p:cNvPr>
          <p:cNvPicPr>
            <a:picLocks noGrp="1" noChangeAspect="1"/>
          </p:cNvPicPr>
          <p:nvPr>
            <p:ph idx="1"/>
          </p:nvPr>
        </p:nvPicPr>
        <p:blipFill>
          <a:blip r:embed="rId2"/>
          <a:stretch>
            <a:fillRect/>
          </a:stretch>
        </p:blipFill>
        <p:spPr>
          <a:xfrm>
            <a:off x="1062037" y="2433735"/>
            <a:ext cx="10067925" cy="3491041"/>
          </a:xfrm>
          <a:prstGeom prst="rect">
            <a:avLst/>
          </a:prstGeom>
        </p:spPr>
      </p:pic>
      <p:sp>
        <p:nvSpPr>
          <p:cNvPr id="8" name="TextBox 7">
            <a:extLst>
              <a:ext uri="{FF2B5EF4-FFF2-40B4-BE49-F238E27FC236}">
                <a16:creationId xmlns:a16="http://schemas.microsoft.com/office/drawing/2014/main" id="{891E25B4-1096-CB9B-63B4-AE2C073FD571}"/>
              </a:ext>
            </a:extLst>
          </p:cNvPr>
          <p:cNvSpPr txBox="1"/>
          <p:nvPr/>
        </p:nvSpPr>
        <p:spPr>
          <a:xfrm>
            <a:off x="3274607" y="3871564"/>
            <a:ext cx="525526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(hence we reject the null hypothesis that the prevalence is same)</a:t>
            </a:r>
          </a:p>
        </p:txBody>
      </p:sp>
    </p:spTree>
    <p:extLst>
      <p:ext uri="{BB962C8B-B14F-4D97-AF65-F5344CB8AC3E}">
        <p14:creationId xmlns:p14="http://schemas.microsoft.com/office/powerpoint/2010/main" val="16671437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B7FED-4251-E745-3A4D-0200D917FA2F}"/>
              </a:ext>
            </a:extLst>
          </p:cNvPr>
          <p:cNvSpPr>
            <a:spLocks noGrp="1"/>
          </p:cNvSpPr>
          <p:nvPr>
            <p:ph type="title"/>
          </p:nvPr>
        </p:nvSpPr>
        <p:spPr/>
        <p:txBody>
          <a:bodyPr/>
          <a:lstStyle/>
          <a:p>
            <a:r>
              <a:rPr lang="en-US"/>
              <a:t>Plots for weighted prevalence comparison grouped by education and wealth</a:t>
            </a:r>
          </a:p>
        </p:txBody>
      </p:sp>
      <p:pic>
        <p:nvPicPr>
          <p:cNvPr id="4" name="Content Placeholder 3" descr="A graph with red and blue lines&#10;&#10;AI-generated content may be incorrect.">
            <a:extLst>
              <a:ext uri="{FF2B5EF4-FFF2-40B4-BE49-F238E27FC236}">
                <a16:creationId xmlns:a16="http://schemas.microsoft.com/office/drawing/2014/main" id="{A9A71224-402E-2E52-1C1D-B9E529D4C009}"/>
              </a:ext>
            </a:extLst>
          </p:cNvPr>
          <p:cNvPicPr>
            <a:picLocks noGrp="1" noChangeAspect="1"/>
          </p:cNvPicPr>
          <p:nvPr>
            <p:ph idx="1"/>
          </p:nvPr>
        </p:nvPicPr>
        <p:blipFill>
          <a:blip r:embed="rId2"/>
          <a:stretch>
            <a:fillRect/>
          </a:stretch>
        </p:blipFill>
        <p:spPr>
          <a:xfrm>
            <a:off x="304830" y="2056928"/>
            <a:ext cx="5249503" cy="4430004"/>
          </a:xfrm>
          <a:prstGeom prst="rect">
            <a:avLst/>
          </a:prstGeom>
        </p:spPr>
      </p:pic>
      <p:pic>
        <p:nvPicPr>
          <p:cNvPr id="5" name="Picture 4" descr="A graph with red and green lines&#10;&#10;AI-generated content may be incorrect.">
            <a:extLst>
              <a:ext uri="{FF2B5EF4-FFF2-40B4-BE49-F238E27FC236}">
                <a16:creationId xmlns:a16="http://schemas.microsoft.com/office/drawing/2014/main" id="{7BF801D7-915A-2B35-041D-68BB8AED6838}"/>
              </a:ext>
            </a:extLst>
          </p:cNvPr>
          <p:cNvPicPr>
            <a:picLocks noChangeAspect="1"/>
          </p:cNvPicPr>
          <p:nvPr/>
        </p:nvPicPr>
        <p:blipFill>
          <a:blip r:embed="rId3"/>
          <a:stretch>
            <a:fillRect/>
          </a:stretch>
        </p:blipFill>
        <p:spPr>
          <a:xfrm>
            <a:off x="6103852" y="2059331"/>
            <a:ext cx="5524243" cy="4108881"/>
          </a:xfrm>
          <a:prstGeom prst="rect">
            <a:avLst/>
          </a:prstGeom>
        </p:spPr>
      </p:pic>
      <p:sp>
        <p:nvSpPr>
          <p:cNvPr id="6" name="TextBox 5">
            <a:extLst>
              <a:ext uri="{FF2B5EF4-FFF2-40B4-BE49-F238E27FC236}">
                <a16:creationId xmlns:a16="http://schemas.microsoft.com/office/drawing/2014/main" id="{6053D61A-CF72-DA9A-3C1C-34F7ECAE057B}"/>
              </a:ext>
            </a:extLst>
          </p:cNvPr>
          <p:cNvSpPr txBox="1"/>
          <p:nvPr/>
        </p:nvSpPr>
        <p:spPr>
          <a:xfrm>
            <a:off x="1255911" y="5451482"/>
            <a:ext cx="9536644" cy="12421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142B53E3-5F3E-64D0-0C6F-02FDF0B011FF}"/>
              </a:ext>
            </a:extLst>
          </p:cNvPr>
          <p:cNvSpPr txBox="1"/>
          <p:nvPr/>
        </p:nvSpPr>
        <p:spPr>
          <a:xfrm>
            <a:off x="1531935" y="5354873"/>
            <a:ext cx="9122607" cy="13249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228111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6E3EC-FF9A-869B-4986-6ABEA35806D8}"/>
              </a:ext>
            </a:extLst>
          </p:cNvPr>
          <p:cNvSpPr>
            <a:spLocks noGrp="1"/>
          </p:cNvSpPr>
          <p:nvPr>
            <p:ph type="title"/>
          </p:nvPr>
        </p:nvSpPr>
        <p:spPr/>
        <p:txBody>
          <a:bodyPr/>
          <a:lstStyle/>
          <a:p>
            <a:r>
              <a:rPr lang="en-US"/>
              <a:t>INTERPRETATION FROM PLOTS</a:t>
            </a:r>
          </a:p>
        </p:txBody>
      </p:sp>
      <p:sp>
        <p:nvSpPr>
          <p:cNvPr id="3" name="Content Placeholder 2">
            <a:extLst>
              <a:ext uri="{FF2B5EF4-FFF2-40B4-BE49-F238E27FC236}">
                <a16:creationId xmlns:a16="http://schemas.microsoft.com/office/drawing/2014/main" id="{745C2B06-98E6-C078-E946-FEA2742F12B6}"/>
              </a:ext>
            </a:extLst>
          </p:cNvPr>
          <p:cNvSpPr>
            <a:spLocks noGrp="1"/>
          </p:cNvSpPr>
          <p:nvPr>
            <p:ph idx="1"/>
          </p:nvPr>
        </p:nvSpPr>
        <p:spPr/>
        <p:txBody>
          <a:bodyPr/>
          <a:lstStyle/>
          <a:p>
            <a:pPr marL="0" indent="0">
              <a:spcBef>
                <a:spcPts val="0"/>
              </a:spcBef>
              <a:spcAft>
                <a:spcPts val="0"/>
              </a:spcAft>
              <a:buNone/>
            </a:pPr>
            <a:r>
              <a:rPr lang="en-US" sz="2000">
                <a:solidFill>
                  <a:srgbClr val="000000"/>
                </a:solidFill>
              </a:rPr>
              <a:t>It can be observed that the prevalence of early childbirth declines sharply with increasing levels of education and wealth index in both Maharashtra and Uttar Pradesh. Maharashtra consistently shows a higher prevalence across all groups, though it exhibits a steeper rate of decline in both cases. Moreover, for women with higher education, Maharashtra’s prevalence falls slightly below that of Uttar Pradesh, indicating that as education increases, Maharashtra’s relative advantage becomes more evident.</a:t>
            </a:r>
          </a:p>
          <a:p>
            <a:pPr marL="0" indent="0">
              <a:spcBef>
                <a:spcPts val="0"/>
              </a:spcBef>
              <a:spcAft>
                <a:spcPts val="0"/>
              </a:spcAft>
              <a:buNone/>
            </a:pPr>
            <a:endParaRPr lang="en-US">
              <a:solidFill>
                <a:srgbClr val="000000"/>
              </a:solidFill>
            </a:endParaRPr>
          </a:p>
          <a:p>
            <a:pPr marL="0" indent="0">
              <a:spcBef>
                <a:spcPts val="0"/>
              </a:spcBef>
              <a:spcAft>
                <a:spcPts val="0"/>
              </a:spcAft>
              <a:buNone/>
            </a:pPr>
            <a:endParaRPr lang="en-US">
              <a:solidFill>
                <a:srgbClr val="000000"/>
              </a:solidFill>
            </a:endParaRPr>
          </a:p>
          <a:p>
            <a:pPr marL="0" indent="0">
              <a:spcBef>
                <a:spcPts val="0"/>
              </a:spcBef>
              <a:spcAft>
                <a:spcPts val="0"/>
              </a:spcAft>
              <a:buNone/>
            </a:pPr>
            <a:r>
              <a:rPr lang="en-US" sz="2000">
                <a:solidFill>
                  <a:srgbClr val="000000"/>
                </a:solidFill>
              </a:rPr>
              <a:t>A similar trend is observed when the data are grouped by residence. In Maharashtra, the weighted</a:t>
            </a:r>
            <a:endParaRPr lang="en-US" sz="2000">
              <a:solidFill>
                <a:srgbClr val="3D3D3D"/>
              </a:solidFill>
            </a:endParaRPr>
          </a:p>
          <a:p>
            <a:pPr marL="0" indent="0">
              <a:spcBef>
                <a:spcPts val="0"/>
              </a:spcBef>
              <a:spcAft>
                <a:spcPts val="0"/>
              </a:spcAft>
              <a:buNone/>
            </a:pPr>
            <a:r>
              <a:rPr lang="en-US" sz="2000">
                <a:solidFill>
                  <a:srgbClr val="000000"/>
                </a:solidFill>
              </a:rPr>
              <a:t>prevalence of early childbirth is 23.4% in urban areas and 36.0% in rural areas, whereas in Uttar Pradesh, it is 20.2% in urban areas and 24.6% in rural areas.</a:t>
            </a:r>
          </a:p>
          <a:p>
            <a:pPr marL="0" indent="0">
              <a:buNone/>
            </a:pPr>
            <a:endParaRPr lang="en-US"/>
          </a:p>
        </p:txBody>
      </p:sp>
    </p:spTree>
    <p:extLst>
      <p:ext uri="{BB962C8B-B14F-4D97-AF65-F5344CB8AC3E}">
        <p14:creationId xmlns:p14="http://schemas.microsoft.com/office/powerpoint/2010/main" val="850200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A266C-BBB6-ACE6-4D96-3B7DE6F8CCA5}"/>
              </a:ext>
            </a:extLst>
          </p:cNvPr>
          <p:cNvSpPr>
            <a:spLocks noGrp="1"/>
          </p:cNvSpPr>
          <p:nvPr>
            <p:ph type="title"/>
          </p:nvPr>
        </p:nvSpPr>
        <p:spPr/>
        <p:txBody>
          <a:bodyPr/>
          <a:lstStyle/>
          <a:p>
            <a:r>
              <a:rPr lang="en-US"/>
              <a:t>Logistic regression model</a:t>
            </a:r>
          </a:p>
        </p:txBody>
      </p:sp>
      <p:sp>
        <p:nvSpPr>
          <p:cNvPr id="3" name="Content Placeholder 2">
            <a:extLst>
              <a:ext uri="{FF2B5EF4-FFF2-40B4-BE49-F238E27FC236}">
                <a16:creationId xmlns:a16="http://schemas.microsoft.com/office/drawing/2014/main" id="{A2F92DBC-230B-042E-B049-A2EE4D163FB8}"/>
              </a:ext>
            </a:extLst>
          </p:cNvPr>
          <p:cNvSpPr>
            <a:spLocks noGrp="1"/>
          </p:cNvSpPr>
          <p:nvPr>
            <p:ph idx="1"/>
          </p:nvPr>
        </p:nvSpPr>
        <p:spPr/>
        <p:txBody>
          <a:bodyPr/>
          <a:lstStyle/>
          <a:p>
            <a:pPr marL="0" indent="0">
              <a:buNone/>
            </a:pPr>
            <a:r>
              <a:rPr lang="en-US">
                <a:solidFill>
                  <a:schemeClr val="tx1"/>
                </a:solidFill>
                <a:ea typeface="+mn-lt"/>
                <a:cs typeface="+mn-lt"/>
              </a:rPr>
              <a:t>Since the dependent variable </a:t>
            </a:r>
            <a:r>
              <a:rPr lang="en-US" b="1" err="1">
                <a:solidFill>
                  <a:schemeClr val="tx1"/>
                </a:solidFill>
                <a:ea typeface="+mn-lt"/>
                <a:cs typeface="+mn-lt"/>
              </a:rPr>
              <a:t>early_birth</a:t>
            </a:r>
            <a:r>
              <a:rPr lang="en-US">
                <a:solidFill>
                  <a:schemeClr val="tx1"/>
                </a:solidFill>
                <a:ea typeface="+mn-lt"/>
                <a:cs typeface="+mn-lt"/>
              </a:rPr>
              <a:t> is binary (1 = first birth before age 20, 0 = otherwise), a logistic regression model was used to identify socio-demographic factors associated with early childbirth. Moreover, because NFHS follows a complex sampling design, the model was estimated using a survey-adjusted logistic regression (</a:t>
            </a:r>
            <a:r>
              <a:rPr lang="en-US" err="1">
                <a:solidFill>
                  <a:schemeClr val="tx1"/>
                </a:solidFill>
                <a:ea typeface="+mn-lt"/>
                <a:cs typeface="+mn-lt"/>
              </a:rPr>
              <a:t>svyglm</a:t>
            </a:r>
            <a:r>
              <a:rPr lang="en-US">
                <a:solidFill>
                  <a:schemeClr val="tx1"/>
                </a:solidFill>
                <a:ea typeface="+mn-lt"/>
                <a:cs typeface="+mn-lt"/>
              </a:rPr>
              <a:t>) to obtain correct standard errors.</a:t>
            </a:r>
          </a:p>
          <a:p>
            <a:pPr marL="0" indent="0">
              <a:buNone/>
            </a:pPr>
            <a:endParaRPr lang="en-US">
              <a:solidFill>
                <a:schemeClr val="tx1"/>
              </a:solidFill>
            </a:endParaRPr>
          </a:p>
          <a:p>
            <a:pPr marL="0" indent="0">
              <a:buNone/>
            </a:pPr>
            <a:endParaRPr lang="en-US">
              <a:solidFill>
                <a:schemeClr val="tx1"/>
              </a:solidFill>
            </a:endParaRPr>
          </a:p>
          <a:p>
            <a:pPr marL="0" indent="0">
              <a:buNone/>
            </a:pPr>
            <a:endParaRPr lang="en-US">
              <a:solidFill>
                <a:schemeClr val="tx1"/>
              </a:solidFill>
            </a:endParaRPr>
          </a:p>
          <a:p>
            <a:pPr marL="0" indent="0">
              <a:buNone/>
            </a:pPr>
            <a:endParaRPr lang="en-US">
              <a:solidFill>
                <a:schemeClr val="tx1"/>
              </a:solidFill>
            </a:endParaRPr>
          </a:p>
          <a:p>
            <a:pPr marL="0" indent="0">
              <a:buNone/>
            </a:pPr>
            <a:endParaRPr lang="en-US">
              <a:solidFill>
                <a:schemeClr val="tx1"/>
              </a:solidFill>
            </a:endParaRPr>
          </a:p>
          <a:p>
            <a:pPr marL="0" indent="0">
              <a:buNone/>
            </a:pPr>
            <a:endParaRPr lang="en-US">
              <a:solidFill>
                <a:schemeClr val="tx1"/>
              </a:solidFill>
            </a:endParaRPr>
          </a:p>
          <a:p>
            <a:pPr marL="0" indent="0">
              <a:buNone/>
            </a:pPr>
            <a:endParaRPr lang="en-US">
              <a:solidFill>
                <a:schemeClr val="tx1"/>
              </a:solidFill>
            </a:endParaRPr>
          </a:p>
          <a:p>
            <a:pPr marL="0" indent="0">
              <a:buNone/>
            </a:pPr>
            <a:endParaRPr lang="en-US">
              <a:solidFill>
                <a:schemeClr val="tx1"/>
              </a:solidFill>
            </a:endParaRPr>
          </a:p>
        </p:txBody>
      </p:sp>
      <p:pic>
        <p:nvPicPr>
          <p:cNvPr id="4" name="Picture 3" descr="A screenshot of a computer&#10;&#10;AI-generated content may be incorrect.">
            <a:extLst>
              <a:ext uri="{FF2B5EF4-FFF2-40B4-BE49-F238E27FC236}">
                <a16:creationId xmlns:a16="http://schemas.microsoft.com/office/drawing/2014/main" id="{265A4B74-F3FC-13AA-A0E0-1DB3ECE078E0}"/>
              </a:ext>
            </a:extLst>
          </p:cNvPr>
          <p:cNvPicPr>
            <a:picLocks noChangeAspect="1"/>
          </p:cNvPicPr>
          <p:nvPr/>
        </p:nvPicPr>
        <p:blipFill>
          <a:blip r:embed="rId2"/>
          <a:stretch>
            <a:fillRect/>
          </a:stretch>
        </p:blipFill>
        <p:spPr>
          <a:xfrm>
            <a:off x="1062955" y="2975466"/>
            <a:ext cx="10070269" cy="3880748"/>
          </a:xfrm>
          <a:prstGeom prst="rect">
            <a:avLst/>
          </a:prstGeom>
        </p:spPr>
      </p:pic>
    </p:spTree>
    <p:extLst>
      <p:ext uri="{BB962C8B-B14F-4D97-AF65-F5344CB8AC3E}">
        <p14:creationId xmlns:p14="http://schemas.microsoft.com/office/powerpoint/2010/main" val="1975145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332DA-32C3-E9E6-50B1-66C973595A4C}"/>
              </a:ext>
            </a:extLst>
          </p:cNvPr>
          <p:cNvSpPr>
            <a:spLocks noGrp="1"/>
          </p:cNvSpPr>
          <p:nvPr>
            <p:ph type="title"/>
          </p:nvPr>
        </p:nvSpPr>
        <p:spPr/>
        <p:txBody>
          <a:bodyPr/>
          <a:lstStyle/>
          <a:p>
            <a:r>
              <a:rPr lang="en-US"/>
              <a:t>LOGISTIC REGRESSION RESULTS AND INTERPRETATION</a:t>
            </a:r>
          </a:p>
        </p:txBody>
      </p:sp>
      <p:pic>
        <p:nvPicPr>
          <p:cNvPr id="4" name="Content Placeholder 3" descr="A screenshot of a math document&#10;&#10;AI-generated content may be incorrect.">
            <a:extLst>
              <a:ext uri="{FF2B5EF4-FFF2-40B4-BE49-F238E27FC236}">
                <a16:creationId xmlns:a16="http://schemas.microsoft.com/office/drawing/2014/main" id="{A8C8C7CC-D9C2-EBDF-3DA0-C05F0F41EE19}"/>
              </a:ext>
            </a:extLst>
          </p:cNvPr>
          <p:cNvPicPr>
            <a:picLocks noGrp="1" noChangeAspect="1"/>
          </p:cNvPicPr>
          <p:nvPr>
            <p:ph idx="1"/>
          </p:nvPr>
        </p:nvPicPr>
        <p:blipFill>
          <a:blip r:embed="rId2"/>
          <a:stretch>
            <a:fillRect/>
          </a:stretch>
        </p:blipFill>
        <p:spPr>
          <a:xfrm>
            <a:off x="241844" y="1964253"/>
            <a:ext cx="6127175" cy="4790410"/>
          </a:xfrm>
          <a:prstGeom prst="rect">
            <a:avLst/>
          </a:prstGeom>
        </p:spPr>
      </p:pic>
      <p:sp>
        <p:nvSpPr>
          <p:cNvPr id="5" name="TextBox 4">
            <a:extLst>
              <a:ext uri="{FF2B5EF4-FFF2-40B4-BE49-F238E27FC236}">
                <a16:creationId xmlns:a16="http://schemas.microsoft.com/office/drawing/2014/main" id="{CB53DCFA-A579-AA70-899D-50F68C714912}"/>
              </a:ext>
            </a:extLst>
          </p:cNvPr>
          <p:cNvSpPr txBox="1"/>
          <p:nvPr/>
        </p:nvSpPr>
        <p:spPr>
          <a:xfrm>
            <a:off x="6425220" y="1960416"/>
            <a:ext cx="576984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Women from Maharashtra (V024 = 27) had</a:t>
            </a:r>
            <a:endParaRPr lang="en-US"/>
          </a:p>
          <a:p>
            <a:r>
              <a:rPr lang="en-US">
                <a:ea typeface="+mn-lt"/>
                <a:cs typeface="+mn-lt"/>
              </a:rPr>
              <a:t>significantly higher odds of early childbirth compared to those from Uttar Pradesh (reference category), as</a:t>
            </a:r>
            <a:endParaRPr lang="en-US"/>
          </a:p>
          <a:p>
            <a:r>
              <a:rPr lang="en-US">
                <a:ea typeface="+mn-lt"/>
                <a:cs typeface="+mn-lt"/>
              </a:rPr>
              <a:t>indicated by a positive and highly significant coefficient (β = 0 . 397, p &lt; 0 . 001). Rural women (V025 = 2) also</a:t>
            </a:r>
            <a:endParaRPr lang="en-US"/>
          </a:p>
          <a:p>
            <a:r>
              <a:rPr lang="en-US">
                <a:ea typeface="+mn-lt"/>
                <a:cs typeface="+mn-lt"/>
              </a:rPr>
              <a:t>showed higher odds relative to urban women. Education (V106) was strongly negatively associated with</a:t>
            </a:r>
            <a:endParaRPr lang="en-US"/>
          </a:p>
          <a:p>
            <a:r>
              <a:rPr lang="en-US">
                <a:ea typeface="+mn-lt"/>
                <a:cs typeface="+mn-lt"/>
              </a:rPr>
              <a:t>early childbirth, with secondary and higher education levels showing substantially lower odds (p &lt; 0 . 001).</a:t>
            </a:r>
            <a:endParaRPr lang="en-US"/>
          </a:p>
          <a:p>
            <a:r>
              <a:rPr lang="en-US">
                <a:ea typeface="+mn-lt"/>
                <a:cs typeface="+mn-lt"/>
              </a:rPr>
              <a:t>Women from poorer wealth quintiles (V190) were more likely to have early births than those from richer</a:t>
            </a:r>
            <a:endParaRPr lang="en-US"/>
          </a:p>
          <a:p>
            <a:r>
              <a:rPr lang="en-US">
                <a:ea typeface="+mn-lt"/>
                <a:cs typeface="+mn-lt"/>
              </a:rPr>
              <a:t>groups. Religion (V130) and caste (V131) displayed weaker and less consistent associations. Overall, the</a:t>
            </a:r>
            <a:endParaRPr lang="en-US"/>
          </a:p>
          <a:p>
            <a:r>
              <a:rPr lang="en-US">
                <a:ea typeface="+mn-lt"/>
                <a:cs typeface="+mn-lt"/>
              </a:rPr>
              <a:t>results indicate that lower education, lower wealth, rural residence, and being from Maharashtra are key risk</a:t>
            </a:r>
            <a:endParaRPr lang="en-US"/>
          </a:p>
          <a:p>
            <a:r>
              <a:rPr lang="en-US">
                <a:ea typeface="+mn-lt"/>
                <a:cs typeface="+mn-lt"/>
              </a:rPr>
              <a:t>factors for early childbirth among women in the sample.</a:t>
            </a:r>
            <a:endParaRPr lang="en-US"/>
          </a:p>
        </p:txBody>
      </p:sp>
    </p:spTree>
    <p:extLst>
      <p:ext uri="{BB962C8B-B14F-4D97-AF65-F5344CB8AC3E}">
        <p14:creationId xmlns:p14="http://schemas.microsoft.com/office/powerpoint/2010/main" val="3789649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3E5A1-C897-D051-F641-7FE526F7F945}"/>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D6CC43B6-09B1-DED5-D33B-51CF7DFD9F5C}"/>
              </a:ext>
            </a:extLst>
          </p:cNvPr>
          <p:cNvSpPr>
            <a:spLocks noGrp="1"/>
          </p:cNvSpPr>
          <p:nvPr>
            <p:ph idx="1"/>
          </p:nvPr>
        </p:nvSpPr>
        <p:spPr>
          <a:xfrm>
            <a:off x="447328" y="1974551"/>
            <a:ext cx="11163479" cy="3884248"/>
          </a:xfrm>
        </p:spPr>
        <p:txBody>
          <a:bodyPr>
            <a:normAutofit fontScale="92500"/>
          </a:bodyPr>
          <a:lstStyle/>
          <a:p>
            <a:pPr marL="0" indent="0">
              <a:buNone/>
            </a:pPr>
            <a:r>
              <a:rPr lang="en-US">
                <a:solidFill>
                  <a:schemeClr val="tx1"/>
                </a:solidFill>
                <a:ea typeface="+mn-lt"/>
                <a:cs typeface="+mn-lt"/>
              </a:rPr>
              <a:t>Surprisingly, Maharashtra, despite its higher development indicators, exhibits greater early childbirth prevalence than Uttar Pradesh. One possible reason might be: When we define “early childbirth” as having the first birth before age 20, we’re essentially asking: “By the time a woman reaches age 20, has she already had a child?” Now, if we include girls or young women below 20 (say 15–19 years old) in the analysis, some of them might not have had a child yet, but they still could before turning 20.So, treating them as “no early childbirth” is misleading — they haven’t finished the risk period yet.</a:t>
            </a:r>
            <a:endParaRPr lang="en-US">
              <a:solidFill>
                <a:schemeClr val="tx1"/>
              </a:solidFill>
            </a:endParaRPr>
          </a:p>
          <a:p>
            <a:pPr marL="305435" indent="-305435">
              <a:buNone/>
            </a:pPr>
            <a:r>
              <a:rPr lang="en-US">
                <a:solidFill>
                  <a:schemeClr val="tx1"/>
                </a:solidFill>
                <a:ea typeface="+mn-lt"/>
                <a:cs typeface="+mn-lt"/>
              </a:rPr>
              <a:t>&gt; sum(UP$V013 == 1, na.rm = TRUE)</a:t>
            </a:r>
            <a:endParaRPr lang="en-US"/>
          </a:p>
          <a:p>
            <a:pPr marL="305435" indent="-305435">
              <a:buNone/>
            </a:pPr>
            <a:r>
              <a:rPr lang="en-US">
                <a:solidFill>
                  <a:schemeClr val="tx1"/>
                </a:solidFill>
                <a:ea typeface="+mn-lt"/>
                <a:cs typeface="+mn-lt"/>
              </a:rPr>
              <a:t>[1] 19844</a:t>
            </a:r>
            <a:endParaRPr lang="en-US">
              <a:solidFill>
                <a:schemeClr val="tx1"/>
              </a:solidFill>
            </a:endParaRPr>
          </a:p>
          <a:p>
            <a:pPr marL="305435" indent="-305435">
              <a:buNone/>
            </a:pPr>
            <a:r>
              <a:rPr lang="en-US">
                <a:solidFill>
                  <a:schemeClr val="tx1"/>
                </a:solidFill>
                <a:ea typeface="+mn-lt"/>
                <a:cs typeface="+mn-lt"/>
              </a:rPr>
              <a:t>&gt; sum(Maha$V013 == 1, na.rm = TRUE)</a:t>
            </a:r>
            <a:endParaRPr lang="en-US">
              <a:solidFill>
                <a:schemeClr val="tx1"/>
              </a:solidFill>
            </a:endParaRPr>
          </a:p>
          <a:p>
            <a:pPr marL="0" indent="0">
              <a:buNone/>
            </a:pPr>
            <a:r>
              <a:rPr lang="en-US">
                <a:solidFill>
                  <a:schemeClr val="tx1"/>
                </a:solidFill>
                <a:ea typeface="+mn-lt"/>
                <a:cs typeface="+mn-lt"/>
              </a:rPr>
              <a:t>[1] 4929</a:t>
            </a:r>
            <a:endParaRPr lang="en-US"/>
          </a:p>
          <a:p>
            <a:pPr marL="0" indent="0">
              <a:buNone/>
            </a:pPr>
            <a:endParaRPr lang="en-US">
              <a:solidFill>
                <a:schemeClr val="tx1"/>
              </a:solidFill>
              <a:ea typeface="+mn-lt"/>
              <a:cs typeface="+mn-lt"/>
            </a:endParaRPr>
          </a:p>
          <a:p>
            <a:pPr marL="0" indent="0">
              <a:buNone/>
            </a:pPr>
            <a:r>
              <a:rPr lang="en-US">
                <a:solidFill>
                  <a:schemeClr val="tx1"/>
                </a:solidFill>
                <a:ea typeface="+mn-lt"/>
                <a:cs typeface="+mn-lt"/>
              </a:rPr>
              <a:t> This highlights the need to look beyond economic development and focus on targeted social interventions. </a:t>
            </a:r>
            <a:endParaRPr lang="en-US">
              <a:solidFill>
                <a:schemeClr val="tx1"/>
              </a:solidFill>
            </a:endParaRPr>
          </a:p>
          <a:p>
            <a:pPr marL="0" indent="0">
              <a:buNone/>
            </a:pPr>
            <a:endParaRPr lang="en-US">
              <a:solidFill>
                <a:schemeClr val="tx1"/>
              </a:solidFill>
            </a:endParaRPr>
          </a:p>
        </p:txBody>
      </p:sp>
    </p:spTree>
    <p:extLst>
      <p:ext uri="{BB962C8B-B14F-4D97-AF65-F5344CB8AC3E}">
        <p14:creationId xmlns:p14="http://schemas.microsoft.com/office/powerpoint/2010/main" val="3525548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384A6-5B5B-4939-04A5-A6C7D4D83238}"/>
              </a:ext>
            </a:extLst>
          </p:cNvPr>
          <p:cNvSpPr>
            <a:spLocks noGrp="1"/>
          </p:cNvSpPr>
          <p:nvPr>
            <p:ph type="title"/>
          </p:nvPr>
        </p:nvSpPr>
        <p:spPr/>
        <p:txBody>
          <a:bodyPr/>
          <a:lstStyle/>
          <a:p>
            <a:r>
              <a:rPr lang="en-US"/>
              <a:t>                                   RESEARCH QUESTION 3</a:t>
            </a:r>
            <a:endParaRPr lang="en-US">
              <a:solidFill>
                <a:srgbClr val="000000"/>
              </a:solidFill>
            </a:endParaRPr>
          </a:p>
          <a:p>
            <a:endParaRPr lang="en-US"/>
          </a:p>
        </p:txBody>
      </p:sp>
      <p:sp>
        <p:nvSpPr>
          <p:cNvPr id="3" name="Content Placeholder 2">
            <a:extLst>
              <a:ext uri="{FF2B5EF4-FFF2-40B4-BE49-F238E27FC236}">
                <a16:creationId xmlns:a16="http://schemas.microsoft.com/office/drawing/2014/main" id="{78815E02-A280-56BA-C403-055BE70D96DA}"/>
              </a:ext>
            </a:extLst>
          </p:cNvPr>
          <p:cNvSpPr>
            <a:spLocks noGrp="1"/>
          </p:cNvSpPr>
          <p:nvPr>
            <p:ph idx="1"/>
          </p:nvPr>
        </p:nvSpPr>
        <p:spPr>
          <a:xfrm>
            <a:off x="403740" y="1836030"/>
            <a:ext cx="11447149" cy="5014411"/>
          </a:xfrm>
          <a:solidFill>
            <a:srgbClr val="ED7D31"/>
          </a:solidFill>
        </p:spPr>
        <p:txBody>
          <a:bodyPr>
            <a:normAutofit/>
          </a:bodyPr>
          <a:lstStyle/>
          <a:p>
            <a:pPr marL="305435" indent="-305435"/>
            <a:r>
              <a:rPr lang="en-US" sz="4000">
                <a:ea typeface="+mn-lt"/>
                <a:cs typeface="+mn-lt"/>
              </a:rPr>
              <a:t>After birth within 3 days if food other than breast milk is given like (honey, glucose water , fruit juice , Janam </a:t>
            </a:r>
            <a:r>
              <a:rPr lang="en-US" sz="4000" err="1">
                <a:ea typeface="+mn-lt"/>
                <a:cs typeface="+mn-lt"/>
              </a:rPr>
              <a:t>Ghutti</a:t>
            </a:r>
            <a:r>
              <a:rPr lang="en-US" sz="4000">
                <a:ea typeface="+mn-lt"/>
                <a:cs typeface="+mn-lt"/>
              </a:rPr>
              <a:t>) then it can increase infant mortality rate. </a:t>
            </a:r>
            <a:endParaRPr lang="en-US" sz="4000" err="1">
              <a:ea typeface="+mn-lt"/>
              <a:cs typeface="+mn-lt"/>
            </a:endParaRPr>
          </a:p>
          <a:p>
            <a:pPr marL="305435" indent="-305435"/>
            <a:r>
              <a:rPr lang="en-US" sz="4000">
                <a:ea typeface="+mn-lt"/>
                <a:cs typeface="+mn-lt"/>
              </a:rPr>
              <a:t>Does mother's education level plays a significant role here ?</a:t>
            </a:r>
            <a:endParaRPr lang="en-US" sz="4000">
              <a:solidFill>
                <a:srgbClr val="FF0000"/>
              </a:solidFill>
            </a:endParaRPr>
          </a:p>
        </p:txBody>
      </p:sp>
      <p:pic>
        <p:nvPicPr>
          <p:cNvPr id="11" name="Graphic 10" descr="Brain in head with solid fill">
            <a:extLst>
              <a:ext uri="{FF2B5EF4-FFF2-40B4-BE49-F238E27FC236}">
                <a16:creationId xmlns:a16="http://schemas.microsoft.com/office/drawing/2014/main" id="{34FF0B52-6540-96E0-FB07-4137C8E59C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8233775" y="591855"/>
            <a:ext cx="1204586" cy="1018783"/>
          </a:xfrm>
          <a:prstGeom prst="rect">
            <a:avLst/>
          </a:prstGeom>
        </p:spPr>
      </p:pic>
      <p:pic>
        <p:nvPicPr>
          <p:cNvPr id="12" name="Graphic 11" descr="Brain in head with solid fill">
            <a:extLst>
              <a:ext uri="{FF2B5EF4-FFF2-40B4-BE49-F238E27FC236}">
                <a16:creationId xmlns:a16="http://schemas.microsoft.com/office/drawing/2014/main" id="{0CF0AB84-A27D-7B7B-102C-280AF820FE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10005" y="591854"/>
            <a:ext cx="1227550" cy="1018783"/>
          </a:xfrm>
          <a:prstGeom prst="rect">
            <a:avLst/>
          </a:prstGeom>
        </p:spPr>
      </p:pic>
      <p:pic>
        <p:nvPicPr>
          <p:cNvPr id="13" name="Graphic 12" descr="Lightbulb and gear with solid fill">
            <a:extLst>
              <a:ext uri="{FF2B5EF4-FFF2-40B4-BE49-F238E27FC236}">
                <a16:creationId xmlns:a16="http://schemas.microsoft.com/office/drawing/2014/main" id="{7D2EA9C7-9A60-5D5B-3077-AEA9223B5A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25623" y="696237"/>
            <a:ext cx="914400" cy="914400"/>
          </a:xfrm>
          <a:prstGeom prst="rect">
            <a:avLst/>
          </a:prstGeom>
        </p:spPr>
      </p:pic>
      <p:pic>
        <p:nvPicPr>
          <p:cNvPr id="14" name="Graphic 13" descr="Lightbulb and gear with solid fill">
            <a:extLst>
              <a:ext uri="{FF2B5EF4-FFF2-40B4-BE49-F238E27FC236}">
                <a16:creationId xmlns:a16="http://schemas.microsoft.com/office/drawing/2014/main" id="{BDAB4917-B132-3F06-CBE0-7070C58295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609" y="644045"/>
            <a:ext cx="914400" cy="914400"/>
          </a:xfrm>
          <a:prstGeom prst="rect">
            <a:avLst/>
          </a:prstGeom>
        </p:spPr>
      </p:pic>
      <p:cxnSp>
        <p:nvCxnSpPr>
          <p:cNvPr id="15" name="Connector: Curved 14">
            <a:extLst>
              <a:ext uri="{FF2B5EF4-FFF2-40B4-BE49-F238E27FC236}">
                <a16:creationId xmlns:a16="http://schemas.microsoft.com/office/drawing/2014/main" id="{9063DF67-4937-729E-BA08-DBA2053FE8DE}"/>
              </a:ext>
            </a:extLst>
          </p:cNvPr>
          <p:cNvCxnSpPr/>
          <p:nvPr/>
        </p:nvCxnSpPr>
        <p:spPr>
          <a:xfrm>
            <a:off x="2194580" y="812052"/>
            <a:ext cx="602039" cy="574037"/>
          </a:xfrm>
          <a:prstGeom prst="curvedConnector3">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73783C15-17BB-18C8-611D-8A16406D1177}"/>
              </a:ext>
            </a:extLst>
          </p:cNvPr>
          <p:cNvCxnSpPr>
            <a:cxnSpLocks/>
          </p:cNvCxnSpPr>
          <p:nvPr/>
        </p:nvCxnSpPr>
        <p:spPr>
          <a:xfrm>
            <a:off x="9553621" y="864244"/>
            <a:ext cx="602039" cy="574037"/>
          </a:xfrm>
          <a:prstGeom prst="curvedConnector3">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0425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6C454-D164-956E-9A33-E0FB6D23294A}"/>
              </a:ext>
            </a:extLst>
          </p:cNvPr>
          <p:cNvSpPr>
            <a:spLocks noGrp="1"/>
          </p:cNvSpPr>
          <p:nvPr>
            <p:ph type="title"/>
          </p:nvPr>
        </p:nvSpPr>
        <p:spPr>
          <a:xfrm>
            <a:off x="-3355" y="2787"/>
            <a:ext cx="12104765" cy="1827990"/>
          </a:xfrm>
        </p:spPr>
        <p:txBody>
          <a:bodyPr/>
          <a:lstStyle/>
          <a:p>
            <a:r>
              <a:rPr lang="en-US">
                <a:ea typeface="+mj-lt"/>
                <a:cs typeface="+mj-lt"/>
              </a:rPr>
              <a:t>                                           Research objective  </a:t>
            </a:r>
            <a:endParaRPr lang="en-US"/>
          </a:p>
        </p:txBody>
      </p:sp>
      <p:sp>
        <p:nvSpPr>
          <p:cNvPr id="3" name="Content Placeholder 2">
            <a:extLst>
              <a:ext uri="{FF2B5EF4-FFF2-40B4-BE49-F238E27FC236}">
                <a16:creationId xmlns:a16="http://schemas.microsoft.com/office/drawing/2014/main" id="{2D565CA2-0C93-AF1E-7063-D1D788E4A830}"/>
              </a:ext>
            </a:extLst>
          </p:cNvPr>
          <p:cNvSpPr>
            <a:spLocks noGrp="1"/>
          </p:cNvSpPr>
          <p:nvPr>
            <p:ph idx="1"/>
          </p:nvPr>
        </p:nvSpPr>
        <p:spPr>
          <a:xfrm>
            <a:off x="466371" y="1825592"/>
            <a:ext cx="11301012" cy="5035289"/>
          </a:xfrm>
          <a:solidFill>
            <a:srgbClr val="FFFF00"/>
          </a:solidFill>
        </p:spPr>
        <p:txBody>
          <a:bodyPr/>
          <a:lstStyle/>
          <a:p>
            <a:pPr marL="305435" indent="-305435"/>
            <a:r>
              <a:rPr lang="en-US" sz="2400" dirty="0">
                <a:ea typeface="+mn-lt"/>
                <a:cs typeface="+mn-lt"/>
              </a:rPr>
              <a:t>Infant Mortality rate is different in different states. One reason for this is obviously population, but the other thing that might be is that after birth within 3 days if food other than breast milk is given to the child like (</a:t>
            </a:r>
            <a:r>
              <a:rPr lang="en-US" sz="2400" dirty="0" err="1">
                <a:ea typeface="+mn-lt"/>
                <a:cs typeface="+mn-lt"/>
              </a:rPr>
              <a:t>honey,glucose</a:t>
            </a:r>
            <a:r>
              <a:rPr lang="en-US" sz="2400" dirty="0">
                <a:ea typeface="+mn-lt"/>
                <a:cs typeface="+mn-lt"/>
              </a:rPr>
              <a:t> water ,fruit juice, JANAM GHUTTI etc. then it might increase infant mortality rate. </a:t>
            </a:r>
            <a:r>
              <a:rPr lang="en-US" sz="2400">
                <a:ea typeface="+mn-lt"/>
                <a:cs typeface="+mn-lt"/>
              </a:rPr>
              <a:t>Also this type </a:t>
            </a:r>
            <a:r>
              <a:rPr lang="en-US" sz="2400" dirty="0">
                <a:ea typeface="+mn-lt"/>
                <a:cs typeface="+mn-lt"/>
              </a:rPr>
              <a:t>of carelessness may occur due to lack of education of the mother. In this study our main aim is to find </a:t>
            </a:r>
            <a:r>
              <a:rPr lang="en-US" sz="2400" dirty="0" err="1">
                <a:ea typeface="+mn-lt"/>
                <a:cs typeface="+mn-lt"/>
              </a:rPr>
              <a:t>ifthere</a:t>
            </a:r>
            <a:r>
              <a:rPr lang="en-US" sz="2400" dirty="0">
                <a:ea typeface="+mn-lt"/>
                <a:cs typeface="+mn-lt"/>
              </a:rPr>
              <a:t> is a significant relation between these three thing - Infant mortality rate , food given other than breast milk within some days of birth and mother’s education</a:t>
            </a:r>
            <a:endParaRPr lang="en-US" sz="2400" dirty="0"/>
          </a:p>
        </p:txBody>
      </p:sp>
      <p:pic>
        <p:nvPicPr>
          <p:cNvPr id="4" name="Graphic 3" descr="Magnifying glass with solid fill">
            <a:extLst>
              <a:ext uri="{FF2B5EF4-FFF2-40B4-BE49-F238E27FC236}">
                <a16:creationId xmlns:a16="http://schemas.microsoft.com/office/drawing/2014/main" id="{36BE4348-7FDC-192A-362E-B6C2B950BA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73649" y="811061"/>
            <a:ext cx="914400" cy="914400"/>
          </a:xfrm>
          <a:prstGeom prst="rect">
            <a:avLst/>
          </a:prstGeom>
        </p:spPr>
      </p:pic>
      <p:pic>
        <p:nvPicPr>
          <p:cNvPr id="5" name="Graphic 4" descr="Magnifying glass with solid fill">
            <a:extLst>
              <a:ext uri="{FF2B5EF4-FFF2-40B4-BE49-F238E27FC236}">
                <a16:creationId xmlns:a16="http://schemas.microsoft.com/office/drawing/2014/main" id="{8045054B-4525-B371-2FA2-37795019D5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07045" y="811060"/>
            <a:ext cx="914400" cy="914400"/>
          </a:xfrm>
          <a:prstGeom prst="rect">
            <a:avLst/>
          </a:prstGeom>
        </p:spPr>
      </p:pic>
      <p:pic>
        <p:nvPicPr>
          <p:cNvPr id="6" name="Graphic 5" descr="Magnifying glass with solid fill">
            <a:extLst>
              <a:ext uri="{FF2B5EF4-FFF2-40B4-BE49-F238E27FC236}">
                <a16:creationId xmlns:a16="http://schemas.microsoft.com/office/drawing/2014/main" id="{2DD7866A-69BF-3E19-DCDC-737A1139BA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25619" y="811059"/>
            <a:ext cx="914400" cy="914400"/>
          </a:xfrm>
          <a:prstGeom prst="rect">
            <a:avLst/>
          </a:prstGeom>
        </p:spPr>
      </p:pic>
      <p:pic>
        <p:nvPicPr>
          <p:cNvPr id="7" name="Graphic 6" descr="Magnifying glass with solid fill">
            <a:extLst>
              <a:ext uri="{FF2B5EF4-FFF2-40B4-BE49-F238E27FC236}">
                <a16:creationId xmlns:a16="http://schemas.microsoft.com/office/drawing/2014/main" id="{900EA871-4C14-A4B7-5926-F3EE512F41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3045912" y="811060"/>
            <a:ext cx="974942" cy="914400"/>
          </a:xfrm>
          <a:prstGeom prst="rect">
            <a:avLst/>
          </a:prstGeom>
        </p:spPr>
      </p:pic>
      <p:pic>
        <p:nvPicPr>
          <p:cNvPr id="8" name="Graphic 7" descr="Magnifying glass with solid fill">
            <a:extLst>
              <a:ext uri="{FF2B5EF4-FFF2-40B4-BE49-F238E27FC236}">
                <a16:creationId xmlns:a16="http://schemas.microsoft.com/office/drawing/2014/main" id="{7F7622C7-9ED1-27AC-5A90-0EC6A0A7BE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981200" y="811059"/>
            <a:ext cx="974942" cy="914400"/>
          </a:xfrm>
          <a:prstGeom prst="rect">
            <a:avLst/>
          </a:prstGeom>
        </p:spPr>
      </p:pic>
      <p:pic>
        <p:nvPicPr>
          <p:cNvPr id="9" name="Graphic 8" descr="Magnifying glass with solid fill">
            <a:extLst>
              <a:ext uri="{FF2B5EF4-FFF2-40B4-BE49-F238E27FC236}">
                <a16:creationId xmlns:a16="http://schemas.microsoft.com/office/drawing/2014/main" id="{0896D2F1-431F-CA67-7DDF-0C272CE7A0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010432" y="811059"/>
            <a:ext cx="974942" cy="914400"/>
          </a:xfrm>
          <a:prstGeom prst="rect">
            <a:avLst/>
          </a:prstGeom>
        </p:spPr>
      </p:pic>
    </p:spTree>
    <p:extLst>
      <p:ext uri="{BB962C8B-B14F-4D97-AF65-F5344CB8AC3E}">
        <p14:creationId xmlns:p14="http://schemas.microsoft.com/office/powerpoint/2010/main" val="891985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2B158-82BC-93A5-5219-AF2E19ADA6F2}"/>
              </a:ext>
            </a:extLst>
          </p:cNvPr>
          <p:cNvSpPr>
            <a:spLocks noGrp="1"/>
          </p:cNvSpPr>
          <p:nvPr>
            <p:ph type="title"/>
          </p:nvPr>
        </p:nvSpPr>
        <p:spPr/>
        <p:txBody>
          <a:bodyPr/>
          <a:lstStyle/>
          <a:p>
            <a:r>
              <a:rPr lang="en-US">
                <a:ea typeface="+mj-lt"/>
                <a:cs typeface="+mj-lt"/>
              </a:rPr>
              <a:t>                                 Research hypothesis</a:t>
            </a:r>
            <a:endParaRPr lang="en-US"/>
          </a:p>
        </p:txBody>
      </p:sp>
      <p:pic>
        <p:nvPicPr>
          <p:cNvPr id="4" name="Content Placeholder 3" descr="Questions with solid fill">
            <a:extLst>
              <a:ext uri="{FF2B5EF4-FFF2-40B4-BE49-F238E27FC236}">
                <a16:creationId xmlns:a16="http://schemas.microsoft.com/office/drawing/2014/main" id="{C92B1C93-B200-5269-0894-36DE84CDE88D}"/>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9066286" y="1913797"/>
            <a:ext cx="1463488" cy="1508311"/>
          </a:xfrm>
          <a:prstGeom prst="rect">
            <a:avLst/>
          </a:prstGeom>
        </p:spPr>
      </p:pic>
      <p:pic>
        <p:nvPicPr>
          <p:cNvPr id="5" name="Graphic 4" descr="Questions with solid fill">
            <a:extLst>
              <a:ext uri="{FF2B5EF4-FFF2-40B4-BE49-F238E27FC236}">
                <a16:creationId xmlns:a16="http://schemas.microsoft.com/office/drawing/2014/main" id="{A3711D74-8E28-A55D-97BF-B68DDEB313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29" y="2108948"/>
            <a:ext cx="1317811" cy="1340222"/>
          </a:xfrm>
          <a:prstGeom prst="rect">
            <a:avLst/>
          </a:prstGeom>
        </p:spPr>
      </p:pic>
      <p:pic>
        <p:nvPicPr>
          <p:cNvPr id="6" name="Graphic 5" descr="Customer review with solid fill">
            <a:extLst>
              <a:ext uri="{FF2B5EF4-FFF2-40B4-BE49-F238E27FC236}">
                <a16:creationId xmlns:a16="http://schemas.microsoft.com/office/drawing/2014/main" id="{D8502ABF-9D39-8B23-ECA8-D5533AF9119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55242" y="2164977"/>
            <a:ext cx="1743634" cy="1239368"/>
          </a:xfrm>
          <a:prstGeom prst="rect">
            <a:avLst/>
          </a:prstGeom>
        </p:spPr>
      </p:pic>
      <p:sp>
        <p:nvSpPr>
          <p:cNvPr id="8" name="TextBox 7">
            <a:extLst>
              <a:ext uri="{FF2B5EF4-FFF2-40B4-BE49-F238E27FC236}">
                <a16:creationId xmlns:a16="http://schemas.microsoft.com/office/drawing/2014/main" id="{6F1A46ED-63CD-A397-AA80-47AACA47875C}"/>
              </a:ext>
            </a:extLst>
          </p:cNvPr>
          <p:cNvSpPr txBox="1"/>
          <p:nvPr/>
        </p:nvSpPr>
        <p:spPr>
          <a:xfrm>
            <a:off x="811795" y="4242277"/>
            <a:ext cx="10172699" cy="1754326"/>
          </a:xfrm>
          <a:prstGeom prst="rect">
            <a:avLst/>
          </a:prstGeom>
          <a:solidFill>
            <a:schemeClr val="bg1">
              <a:lumMod val="9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rgbClr val="00B050"/>
                </a:solidFill>
                <a:latin typeface="Aptos Narrow"/>
                <a:ea typeface="+mn-lt"/>
                <a:cs typeface="+mn-lt"/>
              </a:rPr>
              <a:t>Infant mortality rate , food given other than breast milk within some days of birth and mother’s education level are significantly correlated</a:t>
            </a:r>
            <a:endParaRPr lang="en-US" sz="3600">
              <a:solidFill>
                <a:srgbClr val="00B050"/>
              </a:solidFill>
              <a:latin typeface="Aptos Narrow"/>
            </a:endParaRPr>
          </a:p>
        </p:txBody>
      </p:sp>
    </p:spTree>
    <p:extLst>
      <p:ext uri="{BB962C8B-B14F-4D97-AF65-F5344CB8AC3E}">
        <p14:creationId xmlns:p14="http://schemas.microsoft.com/office/powerpoint/2010/main" val="2283039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4D603-645C-6604-04E3-6CDF7DD1F30E}"/>
              </a:ext>
            </a:extLst>
          </p:cNvPr>
          <p:cNvSpPr>
            <a:spLocks noGrp="1"/>
          </p:cNvSpPr>
          <p:nvPr>
            <p:ph type="title"/>
          </p:nvPr>
        </p:nvSpPr>
        <p:spPr/>
        <p:txBody>
          <a:bodyPr/>
          <a:lstStyle/>
          <a:p>
            <a:r>
              <a:rPr lang="en-US"/>
              <a:t>    </a:t>
            </a:r>
          </a:p>
        </p:txBody>
      </p:sp>
      <p:pic>
        <p:nvPicPr>
          <p:cNvPr id="40" name="Content Placeholder 39" descr="Document with solid fill">
            <a:extLst>
              <a:ext uri="{FF2B5EF4-FFF2-40B4-BE49-F238E27FC236}">
                <a16:creationId xmlns:a16="http://schemas.microsoft.com/office/drawing/2014/main" id="{138ED5E9-3FFB-507A-2B2C-452E090772AE}"/>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5637286" y="3477015"/>
            <a:ext cx="914400" cy="914400"/>
          </a:xfrm>
          <a:prstGeom prst="rect">
            <a:avLst/>
          </a:prstGeom>
        </p:spPr>
      </p:pic>
      <p:sp>
        <p:nvSpPr>
          <p:cNvPr id="29" name="Title 1">
            <a:extLst>
              <a:ext uri="{FF2B5EF4-FFF2-40B4-BE49-F238E27FC236}">
                <a16:creationId xmlns:a16="http://schemas.microsoft.com/office/drawing/2014/main" id="{50829C59-FE2A-8280-2CBA-95511C1A6A9B}"/>
              </a:ext>
            </a:extLst>
          </p:cNvPr>
          <p:cNvSpPr txBox="1">
            <a:spLocks/>
          </p:cNvSpPr>
          <p:nvPr/>
        </p:nvSpPr>
        <p:spPr>
          <a:xfrm>
            <a:off x="733592" y="85455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                                          Methodology</a:t>
            </a:r>
          </a:p>
        </p:txBody>
      </p:sp>
      <p:pic>
        <p:nvPicPr>
          <p:cNvPr id="31" name="Content Placeholder 4" descr="Bar chart with solid fill">
            <a:extLst>
              <a:ext uri="{FF2B5EF4-FFF2-40B4-BE49-F238E27FC236}">
                <a16:creationId xmlns:a16="http://schemas.microsoft.com/office/drawing/2014/main" id="{3E2A9E5C-0FB4-3C3D-86AB-31694F6C598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46074" y="794283"/>
            <a:ext cx="914400" cy="914400"/>
          </a:xfrm>
          <a:prstGeom prst="rect">
            <a:avLst/>
          </a:prstGeom>
        </p:spPr>
      </p:pic>
      <p:pic>
        <p:nvPicPr>
          <p:cNvPr id="33" name="Graphic 32" descr="Bar chart with solid fill">
            <a:extLst>
              <a:ext uri="{FF2B5EF4-FFF2-40B4-BE49-F238E27FC236}">
                <a16:creationId xmlns:a16="http://schemas.microsoft.com/office/drawing/2014/main" id="{E085C1F3-E16E-1393-6811-A38F780A82A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90800" y="811060"/>
            <a:ext cx="914400" cy="914400"/>
          </a:xfrm>
          <a:prstGeom prst="rect">
            <a:avLst/>
          </a:prstGeom>
        </p:spPr>
      </p:pic>
      <p:pic>
        <p:nvPicPr>
          <p:cNvPr id="35" name="Graphic 34" descr="Classroom with solid fill">
            <a:extLst>
              <a:ext uri="{FF2B5EF4-FFF2-40B4-BE49-F238E27FC236}">
                <a16:creationId xmlns:a16="http://schemas.microsoft.com/office/drawing/2014/main" id="{4AE57FF4-BC29-FCE9-8628-3CD6F1E0334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54691" y="790183"/>
            <a:ext cx="914400" cy="914400"/>
          </a:xfrm>
          <a:prstGeom prst="rect">
            <a:avLst/>
          </a:prstGeom>
        </p:spPr>
      </p:pic>
      <p:pic>
        <p:nvPicPr>
          <p:cNvPr id="37" name="Graphic 36" descr="Classroom with solid fill">
            <a:extLst>
              <a:ext uri="{FF2B5EF4-FFF2-40B4-BE49-F238E27FC236}">
                <a16:creationId xmlns:a16="http://schemas.microsoft.com/office/drawing/2014/main" id="{5D612C99-1F94-0D1D-8613-E3D0609176A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10185748" y="706675"/>
            <a:ext cx="933189" cy="914400"/>
          </a:xfrm>
          <a:prstGeom prst="rect">
            <a:avLst/>
          </a:prstGeom>
        </p:spPr>
      </p:pic>
      <p:sp>
        <p:nvSpPr>
          <p:cNvPr id="39" name="TextBox 38">
            <a:extLst>
              <a:ext uri="{FF2B5EF4-FFF2-40B4-BE49-F238E27FC236}">
                <a16:creationId xmlns:a16="http://schemas.microsoft.com/office/drawing/2014/main" id="{9074708F-9B32-9D2A-2B0B-437DD0112ADF}"/>
              </a:ext>
            </a:extLst>
          </p:cNvPr>
          <p:cNvSpPr txBox="1"/>
          <p:nvPr/>
        </p:nvSpPr>
        <p:spPr>
          <a:xfrm>
            <a:off x="581412" y="2226145"/>
            <a:ext cx="11028908" cy="3416320"/>
          </a:xfrm>
          <a:prstGeom prst="rect">
            <a:avLst/>
          </a:prstGeom>
          <a:solidFill>
            <a:schemeClr val="bg2"/>
          </a:solidFill>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50"/>
                </a:solidFill>
              </a:rPr>
              <a:t>Our variable of interest here are as follows....</a:t>
            </a:r>
            <a:endParaRPr lang="en-US" dirty="0"/>
          </a:p>
          <a:p>
            <a:pPr marL="285750" indent="-285750">
              <a:buFont typeface="Arial"/>
              <a:buChar char="•"/>
            </a:pPr>
            <a:r>
              <a:rPr lang="en-US" dirty="0">
                <a:solidFill>
                  <a:schemeClr val="tx1"/>
                </a:solidFill>
              </a:rPr>
              <a:t>"B5$01","B5$02",... to "B5$20" indicates whether </a:t>
            </a:r>
            <a:r>
              <a:rPr lang="en-US" dirty="0" err="1">
                <a:solidFill>
                  <a:schemeClr val="tx1"/>
                </a:solidFill>
              </a:rPr>
              <a:t>i</a:t>
            </a:r>
            <a:r>
              <a:rPr lang="en-US" dirty="0">
                <a:solidFill>
                  <a:schemeClr val="tx1"/>
                </a:solidFill>
              </a:rPr>
              <a:t> </a:t>
            </a:r>
            <a:r>
              <a:rPr lang="en-US" dirty="0" err="1">
                <a:solidFill>
                  <a:schemeClr val="tx1"/>
                </a:solidFill>
              </a:rPr>
              <a:t>th</a:t>
            </a:r>
            <a:r>
              <a:rPr lang="en-US" dirty="0">
                <a:solidFill>
                  <a:schemeClr val="tx1"/>
                </a:solidFill>
              </a:rPr>
              <a:t> child is alive or death</a:t>
            </a:r>
            <a:endParaRPr lang="en-US" dirty="0"/>
          </a:p>
          <a:p>
            <a:pPr marL="285750" indent="-285750">
              <a:buFont typeface="Arial"/>
              <a:buChar char="•"/>
            </a:pPr>
            <a:endParaRPr lang="en-US" dirty="0">
              <a:solidFill>
                <a:schemeClr val="tx1"/>
              </a:solidFill>
            </a:endParaRPr>
          </a:p>
          <a:p>
            <a:pPr marL="285750" indent="-285750">
              <a:buFont typeface="Arial"/>
              <a:buChar char="•"/>
            </a:pPr>
            <a:r>
              <a:rPr lang="en-US" dirty="0">
                <a:solidFill>
                  <a:schemeClr val="tx1"/>
                </a:solidFill>
              </a:rPr>
              <a:t>"B6$01","B6$02",... to "B6$20" indicates when her </a:t>
            </a:r>
            <a:r>
              <a:rPr lang="en-US" dirty="0" err="1">
                <a:solidFill>
                  <a:schemeClr val="tx1"/>
                </a:solidFill>
              </a:rPr>
              <a:t>i</a:t>
            </a:r>
            <a:r>
              <a:rPr lang="en-US" dirty="0">
                <a:solidFill>
                  <a:schemeClr val="tx1"/>
                </a:solidFill>
              </a:rPr>
              <a:t> </a:t>
            </a:r>
            <a:r>
              <a:rPr lang="en-US" dirty="0" err="1">
                <a:solidFill>
                  <a:schemeClr val="tx1"/>
                </a:solidFill>
              </a:rPr>
              <a:t>th</a:t>
            </a:r>
            <a:r>
              <a:rPr lang="en-US" dirty="0">
                <a:solidFill>
                  <a:schemeClr val="tx1"/>
                </a:solidFill>
              </a:rPr>
              <a:t> child died</a:t>
            </a:r>
            <a:endParaRPr lang="en-US" dirty="0"/>
          </a:p>
          <a:p>
            <a:pPr marL="285750" indent="-285750">
              <a:buFont typeface="Arial"/>
              <a:buChar char="•"/>
            </a:pPr>
            <a:endParaRPr lang="en-US" dirty="0">
              <a:solidFill>
                <a:schemeClr val="tx1"/>
              </a:solidFill>
            </a:endParaRPr>
          </a:p>
          <a:p>
            <a:pPr marL="285750" indent="-285750">
              <a:buFont typeface="Arial"/>
              <a:buChar char="•"/>
            </a:pPr>
            <a:r>
              <a:rPr lang="en-US" dirty="0">
                <a:solidFill>
                  <a:schemeClr val="tx1"/>
                </a:solidFill>
              </a:rPr>
              <a:t>"M55$1",..."M55$6" indicates whether food other than breast milk is given or not to the </a:t>
            </a:r>
            <a:r>
              <a:rPr lang="en-US" dirty="0" err="1">
                <a:solidFill>
                  <a:schemeClr val="tx1"/>
                </a:solidFill>
              </a:rPr>
              <a:t>i</a:t>
            </a:r>
            <a:r>
              <a:rPr lang="en-US" dirty="0">
                <a:solidFill>
                  <a:schemeClr val="tx1"/>
                </a:solidFill>
              </a:rPr>
              <a:t> </a:t>
            </a:r>
            <a:r>
              <a:rPr lang="en-US" dirty="0" err="1">
                <a:solidFill>
                  <a:schemeClr val="tx1"/>
                </a:solidFill>
              </a:rPr>
              <a:t>th</a:t>
            </a:r>
            <a:r>
              <a:rPr lang="en-US" dirty="0">
                <a:solidFill>
                  <a:schemeClr val="tx1"/>
                </a:solidFill>
              </a:rPr>
              <a:t> child.</a:t>
            </a:r>
            <a:endParaRPr lang="en-US" dirty="0"/>
          </a:p>
          <a:p>
            <a:pPr marL="285750" indent="-285750">
              <a:buFont typeface="Arial"/>
              <a:buChar char="•"/>
            </a:pPr>
            <a:endParaRPr lang="en-US" dirty="0">
              <a:solidFill>
                <a:schemeClr val="tx1"/>
              </a:solidFill>
            </a:endParaRPr>
          </a:p>
          <a:p>
            <a:pPr marL="285750" indent="-285750">
              <a:buFont typeface="Arial"/>
              <a:buChar char="•"/>
            </a:pPr>
            <a:r>
              <a:rPr lang="en-US" dirty="0">
                <a:solidFill>
                  <a:schemeClr val="tx1"/>
                </a:solidFill>
              </a:rPr>
              <a:t>("M55A$1",..."M55A$6");.....("M55O$1",..."M55O$6");("M55X$1",..."M55X$6") indicates names of food</a:t>
            </a:r>
            <a:endParaRPr lang="en-US" dirty="0">
              <a:solidFill>
                <a:srgbClr val="000000"/>
              </a:solidFill>
            </a:endParaRPr>
          </a:p>
          <a:p>
            <a:r>
              <a:rPr lang="en-US" dirty="0">
                <a:solidFill>
                  <a:schemeClr val="tx1"/>
                </a:solidFill>
              </a:rPr>
              <a:t>   item other than breast milk is given or not to the </a:t>
            </a:r>
            <a:r>
              <a:rPr lang="en-US" dirty="0" err="1">
                <a:solidFill>
                  <a:schemeClr val="tx1"/>
                </a:solidFill>
              </a:rPr>
              <a:t>i</a:t>
            </a:r>
            <a:r>
              <a:rPr lang="en-US" dirty="0">
                <a:solidFill>
                  <a:schemeClr val="tx1"/>
                </a:solidFill>
              </a:rPr>
              <a:t> </a:t>
            </a:r>
            <a:r>
              <a:rPr lang="en-US" dirty="0" err="1">
                <a:solidFill>
                  <a:schemeClr val="tx1"/>
                </a:solidFill>
              </a:rPr>
              <a:t>th</a:t>
            </a:r>
            <a:r>
              <a:rPr lang="en-US" dirty="0">
                <a:solidFill>
                  <a:schemeClr val="tx1"/>
                </a:solidFill>
              </a:rPr>
              <a:t> </a:t>
            </a:r>
            <a:r>
              <a:rPr lang="en-US" dirty="0" err="1">
                <a:solidFill>
                  <a:schemeClr val="tx1"/>
                </a:solidFill>
              </a:rPr>
              <a:t>chilld</a:t>
            </a:r>
            <a:r>
              <a:rPr lang="en-US" dirty="0">
                <a:solidFill>
                  <a:schemeClr val="tx1"/>
                </a:solidFill>
              </a:rPr>
              <a:t>. For ex: A - milk (other than breast milk), B -    Plain  water,  G - Infant Formula,  H - tea or infusions etc.</a:t>
            </a:r>
            <a:endParaRPr lang="en-US"/>
          </a:p>
          <a:p>
            <a:pPr marL="285750" indent="-285750">
              <a:buFont typeface="Arial"/>
              <a:buChar char="•"/>
            </a:pPr>
            <a:endParaRPr lang="en-US" dirty="0">
              <a:solidFill>
                <a:schemeClr val="tx1"/>
              </a:solidFill>
            </a:endParaRPr>
          </a:p>
          <a:p>
            <a:pPr marL="285750" indent="-285750">
              <a:buFont typeface="Arial"/>
              <a:buChar char="•"/>
            </a:pPr>
            <a:r>
              <a:rPr lang="en-US" dirty="0">
                <a:solidFill>
                  <a:schemeClr val="tx1"/>
                </a:solidFill>
              </a:rPr>
              <a:t>"V107" indicates highest year of education</a:t>
            </a:r>
            <a:endParaRPr lang="en-US" dirty="0">
              <a:solidFill>
                <a:srgbClr val="000000"/>
              </a:solidFill>
            </a:endParaRPr>
          </a:p>
        </p:txBody>
      </p:sp>
    </p:spTree>
    <p:extLst>
      <p:ext uri="{BB962C8B-B14F-4D97-AF65-F5344CB8AC3E}">
        <p14:creationId xmlns:p14="http://schemas.microsoft.com/office/powerpoint/2010/main" val="2410908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81B0C-98BF-4C3D-B8AB-13AB97DFB214}"/>
              </a:ext>
            </a:extLst>
          </p:cNvPr>
          <p:cNvSpPr>
            <a:spLocks noGrp="1"/>
          </p:cNvSpPr>
          <p:nvPr>
            <p:ph type="title"/>
          </p:nvPr>
        </p:nvSpPr>
        <p:spPr/>
        <p:txBody>
          <a:bodyPr/>
          <a:lstStyle/>
          <a:p>
            <a:r>
              <a:rPr lang="en-US"/>
              <a:t>                                          Methodology</a:t>
            </a:r>
          </a:p>
        </p:txBody>
      </p:sp>
      <p:pic>
        <p:nvPicPr>
          <p:cNvPr id="5" name="Content Placeholder 4" descr="Bar chart with solid fill">
            <a:extLst>
              <a:ext uri="{FF2B5EF4-FFF2-40B4-BE49-F238E27FC236}">
                <a16:creationId xmlns:a16="http://schemas.microsoft.com/office/drawing/2014/main" id="{EAD88EB0-D711-9198-3744-D51D402111B5}"/>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746074" y="794283"/>
            <a:ext cx="914400" cy="914400"/>
          </a:xfrm>
          <a:prstGeom prst="rect">
            <a:avLst/>
          </a:prstGeom>
        </p:spPr>
      </p:pic>
      <p:pic>
        <p:nvPicPr>
          <p:cNvPr id="6" name="Graphic 5" descr="Bar chart with solid fill">
            <a:extLst>
              <a:ext uri="{FF2B5EF4-FFF2-40B4-BE49-F238E27FC236}">
                <a16:creationId xmlns:a16="http://schemas.microsoft.com/office/drawing/2014/main" id="{F5B03291-EC96-B339-1CDC-28036D7719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90800" y="811060"/>
            <a:ext cx="914400" cy="914400"/>
          </a:xfrm>
          <a:prstGeom prst="rect">
            <a:avLst/>
          </a:prstGeom>
        </p:spPr>
      </p:pic>
      <p:pic>
        <p:nvPicPr>
          <p:cNvPr id="7" name="Graphic 6" descr="Classroom with solid fill">
            <a:extLst>
              <a:ext uri="{FF2B5EF4-FFF2-40B4-BE49-F238E27FC236}">
                <a16:creationId xmlns:a16="http://schemas.microsoft.com/office/drawing/2014/main" id="{E1908460-A7E8-3B8C-94BA-85481379F08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54691" y="790183"/>
            <a:ext cx="914400" cy="914400"/>
          </a:xfrm>
          <a:prstGeom prst="rect">
            <a:avLst/>
          </a:prstGeom>
        </p:spPr>
      </p:pic>
      <p:pic>
        <p:nvPicPr>
          <p:cNvPr id="8" name="Graphic 7" descr="Classroom with solid fill">
            <a:extLst>
              <a:ext uri="{FF2B5EF4-FFF2-40B4-BE49-F238E27FC236}">
                <a16:creationId xmlns:a16="http://schemas.microsoft.com/office/drawing/2014/main" id="{D9CF9ADC-9760-0984-46BE-ACA1293361D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10185748" y="706675"/>
            <a:ext cx="933189" cy="914400"/>
          </a:xfrm>
          <a:prstGeom prst="rect">
            <a:avLst/>
          </a:prstGeom>
        </p:spPr>
      </p:pic>
      <p:sp>
        <p:nvSpPr>
          <p:cNvPr id="9" name="TextBox 8">
            <a:extLst>
              <a:ext uri="{FF2B5EF4-FFF2-40B4-BE49-F238E27FC236}">
                <a16:creationId xmlns:a16="http://schemas.microsoft.com/office/drawing/2014/main" id="{A0437B3C-8A14-D050-D3B0-0A81019525AB}"/>
              </a:ext>
            </a:extLst>
          </p:cNvPr>
          <p:cNvSpPr txBox="1"/>
          <p:nvPr/>
        </p:nvSpPr>
        <p:spPr>
          <a:xfrm>
            <a:off x="581412" y="2226145"/>
            <a:ext cx="11028908" cy="3662541"/>
          </a:xfrm>
          <a:prstGeom prst="rect">
            <a:avLst/>
          </a:prstGeom>
          <a:solidFill>
            <a:schemeClr val="bg2"/>
          </a:solidFill>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B050"/>
                </a:solidFill>
              </a:rPr>
              <a:t>Our main three findings here are as follows....</a:t>
            </a:r>
          </a:p>
          <a:p>
            <a:endParaRPr lang="en-US" b="1">
              <a:solidFill>
                <a:srgbClr val="00B050"/>
              </a:solidFill>
              <a:ea typeface="+mn-lt"/>
              <a:cs typeface="+mn-lt"/>
            </a:endParaRPr>
          </a:p>
          <a:p>
            <a:pPr marL="514350" indent="-514350">
              <a:buAutoNum type="arabicParenR"/>
            </a:pPr>
            <a:r>
              <a:rPr lang="en-US" sz="2800">
                <a:ea typeface="+mn-lt"/>
                <a:cs typeface="+mn-lt"/>
              </a:rPr>
              <a:t>Calculation of NMR,PNMR,IMR</a:t>
            </a:r>
          </a:p>
          <a:p>
            <a:endParaRPr lang="en-US" sz="2800"/>
          </a:p>
          <a:p>
            <a:r>
              <a:rPr lang="en-US" sz="2800">
                <a:ea typeface="+mn-lt"/>
                <a:cs typeface="+mn-lt"/>
              </a:rPr>
              <a:t>2) Relation between Infant mortality and foods other than breast milk given within few days of Birth</a:t>
            </a:r>
          </a:p>
          <a:p>
            <a:endParaRPr lang="en-US" sz="2800">
              <a:ea typeface="+mn-lt"/>
              <a:cs typeface="+mn-lt"/>
            </a:endParaRPr>
          </a:p>
          <a:p>
            <a:r>
              <a:rPr lang="en-US" sz="2800">
                <a:ea typeface="+mn-lt"/>
                <a:cs typeface="+mn-lt"/>
              </a:rPr>
              <a:t>3) Relation between infant mortality rate , food given other than breast milk within some days of birth and mother’s education level) </a:t>
            </a:r>
            <a:endParaRPr lang="en-US" sz="2800"/>
          </a:p>
        </p:txBody>
      </p:sp>
    </p:spTree>
    <p:extLst>
      <p:ext uri="{BB962C8B-B14F-4D97-AF65-F5344CB8AC3E}">
        <p14:creationId xmlns:p14="http://schemas.microsoft.com/office/powerpoint/2010/main" val="2673309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8FCD4-8364-B299-F606-E4FB71CAD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B709D-79DA-76E0-0075-56116E434544}"/>
              </a:ext>
            </a:extLst>
          </p:cNvPr>
          <p:cNvSpPr>
            <a:spLocks noGrp="1"/>
          </p:cNvSpPr>
          <p:nvPr>
            <p:ph type="title"/>
          </p:nvPr>
        </p:nvSpPr>
        <p:spPr/>
        <p:txBody>
          <a:bodyPr/>
          <a:lstStyle/>
          <a:p>
            <a:r>
              <a:rPr lang="en-US" dirty="0"/>
              <a:t>                                        Methodology</a:t>
            </a:r>
            <a:endParaRPr lang="en-US" dirty="0">
              <a:solidFill>
                <a:srgbClr val="000000"/>
              </a:solidFill>
            </a:endParaRPr>
          </a:p>
          <a:p>
            <a:endParaRPr lang="en-US" dirty="0"/>
          </a:p>
        </p:txBody>
      </p:sp>
      <p:pic>
        <p:nvPicPr>
          <p:cNvPr id="5" name="Graphic 4" descr="Bar chart with solid fill">
            <a:extLst>
              <a:ext uri="{FF2B5EF4-FFF2-40B4-BE49-F238E27FC236}">
                <a16:creationId xmlns:a16="http://schemas.microsoft.com/office/drawing/2014/main" id="{0772B7CA-B76C-F827-8389-B2E808C12B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0800" y="811060"/>
            <a:ext cx="914400" cy="914400"/>
          </a:xfrm>
          <a:prstGeom prst="rect">
            <a:avLst/>
          </a:prstGeom>
        </p:spPr>
      </p:pic>
      <p:pic>
        <p:nvPicPr>
          <p:cNvPr id="7" name="Graphic 6" descr="Classroom with solid fill">
            <a:extLst>
              <a:ext uri="{FF2B5EF4-FFF2-40B4-BE49-F238E27FC236}">
                <a16:creationId xmlns:a16="http://schemas.microsoft.com/office/drawing/2014/main" id="{5421A3A0-E8A0-D9CF-B332-9CBF5BA4F48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4691" y="790183"/>
            <a:ext cx="914400" cy="914400"/>
          </a:xfrm>
          <a:prstGeom prst="rect">
            <a:avLst/>
          </a:prstGeom>
        </p:spPr>
      </p:pic>
      <p:pic>
        <p:nvPicPr>
          <p:cNvPr id="6" name="Graphic 5" descr="Classroom with solid fill">
            <a:extLst>
              <a:ext uri="{FF2B5EF4-FFF2-40B4-BE49-F238E27FC236}">
                <a16:creationId xmlns:a16="http://schemas.microsoft.com/office/drawing/2014/main" id="{4B24196A-FDE1-679D-2FF2-B191D7DC2E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0185748" y="706675"/>
            <a:ext cx="933189" cy="914400"/>
          </a:xfrm>
          <a:prstGeom prst="rect">
            <a:avLst/>
          </a:prstGeom>
        </p:spPr>
      </p:pic>
      <p:pic>
        <p:nvPicPr>
          <p:cNvPr id="9" name="Content Placeholder 4" descr="Bar chart with solid fill">
            <a:extLst>
              <a:ext uri="{FF2B5EF4-FFF2-40B4-BE49-F238E27FC236}">
                <a16:creationId xmlns:a16="http://schemas.microsoft.com/office/drawing/2014/main" id="{6C513B1C-F92A-F301-7B94-EC910D9606E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46074" y="794283"/>
            <a:ext cx="914400" cy="914400"/>
          </a:xfrm>
          <a:prstGeom prst="rect">
            <a:avLst/>
          </a:prstGeom>
        </p:spPr>
      </p:pic>
      <p:pic>
        <p:nvPicPr>
          <p:cNvPr id="4" name="Picture 3" descr="A black text on a white background&#10;&#10;AI-generated content may be incorrect.">
            <a:extLst>
              <a:ext uri="{FF2B5EF4-FFF2-40B4-BE49-F238E27FC236}">
                <a16:creationId xmlns:a16="http://schemas.microsoft.com/office/drawing/2014/main" id="{B7D5B82F-1D7F-3A37-558D-D1583F4DE759}"/>
              </a:ext>
            </a:extLst>
          </p:cNvPr>
          <p:cNvPicPr>
            <a:picLocks noChangeAspect="1"/>
          </p:cNvPicPr>
          <p:nvPr/>
        </p:nvPicPr>
        <p:blipFill>
          <a:blip r:embed="rId8"/>
          <a:stretch>
            <a:fillRect/>
          </a:stretch>
        </p:blipFill>
        <p:spPr>
          <a:xfrm>
            <a:off x="310149" y="2805766"/>
            <a:ext cx="8200112" cy="2018908"/>
          </a:xfrm>
          <a:prstGeom prst="rect">
            <a:avLst/>
          </a:prstGeom>
        </p:spPr>
      </p:pic>
      <p:pic>
        <p:nvPicPr>
          <p:cNvPr id="8" name="Picture 7" descr="A black text on a white background&#10;&#10;AI-generated content may be incorrect.">
            <a:extLst>
              <a:ext uri="{FF2B5EF4-FFF2-40B4-BE49-F238E27FC236}">
                <a16:creationId xmlns:a16="http://schemas.microsoft.com/office/drawing/2014/main" id="{8DF6D538-7950-F505-A249-C3D0C45FE72A}"/>
              </a:ext>
            </a:extLst>
          </p:cNvPr>
          <p:cNvPicPr>
            <a:picLocks noChangeAspect="1"/>
          </p:cNvPicPr>
          <p:nvPr/>
        </p:nvPicPr>
        <p:blipFill>
          <a:blip r:embed="rId9"/>
          <a:stretch>
            <a:fillRect/>
          </a:stretch>
        </p:blipFill>
        <p:spPr>
          <a:xfrm>
            <a:off x="583570" y="4518569"/>
            <a:ext cx="9667875" cy="1933575"/>
          </a:xfrm>
          <a:prstGeom prst="rect">
            <a:avLst/>
          </a:prstGeom>
        </p:spPr>
      </p:pic>
      <p:sp>
        <p:nvSpPr>
          <p:cNvPr id="10" name="TextBox 9">
            <a:extLst>
              <a:ext uri="{FF2B5EF4-FFF2-40B4-BE49-F238E27FC236}">
                <a16:creationId xmlns:a16="http://schemas.microsoft.com/office/drawing/2014/main" id="{7A1726D7-A7C7-A904-F8F9-8ED6E3EDD0F8}"/>
              </a:ext>
            </a:extLst>
          </p:cNvPr>
          <p:cNvSpPr txBox="1"/>
          <p:nvPr/>
        </p:nvSpPr>
        <p:spPr>
          <a:xfrm>
            <a:off x="479842" y="2002130"/>
            <a:ext cx="1112691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00B050"/>
                </a:solidFill>
              </a:rPr>
              <a:t>First recall some of the definitions :-</a:t>
            </a:r>
          </a:p>
        </p:txBody>
      </p:sp>
    </p:spTree>
    <p:extLst>
      <p:ext uri="{BB962C8B-B14F-4D97-AF65-F5344CB8AC3E}">
        <p14:creationId xmlns:p14="http://schemas.microsoft.com/office/powerpoint/2010/main" val="3098541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441A-0E89-F662-E466-873225102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1CEA3-3A17-5E66-C113-42A33F7AC827}"/>
              </a:ext>
            </a:extLst>
          </p:cNvPr>
          <p:cNvSpPr>
            <a:spLocks noGrp="1"/>
          </p:cNvSpPr>
          <p:nvPr>
            <p:ph type="title"/>
          </p:nvPr>
        </p:nvSpPr>
        <p:spPr/>
        <p:txBody>
          <a:bodyPr/>
          <a:lstStyle/>
          <a:p>
            <a:r>
              <a:rPr lang="en-US" dirty="0"/>
              <a:t>                                        Methodology</a:t>
            </a:r>
            <a:endParaRPr lang="en-US" dirty="0">
              <a:solidFill>
                <a:srgbClr val="000000"/>
              </a:solidFill>
            </a:endParaRPr>
          </a:p>
          <a:p>
            <a:endParaRPr lang="en-US" dirty="0"/>
          </a:p>
        </p:txBody>
      </p:sp>
      <p:pic>
        <p:nvPicPr>
          <p:cNvPr id="5" name="Graphic 4" descr="Bar chart with solid fill">
            <a:extLst>
              <a:ext uri="{FF2B5EF4-FFF2-40B4-BE49-F238E27FC236}">
                <a16:creationId xmlns:a16="http://schemas.microsoft.com/office/drawing/2014/main" id="{D6A93502-3587-B686-6D27-DF60593850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0800" y="811060"/>
            <a:ext cx="914400" cy="914400"/>
          </a:xfrm>
          <a:prstGeom prst="rect">
            <a:avLst/>
          </a:prstGeom>
        </p:spPr>
      </p:pic>
      <p:pic>
        <p:nvPicPr>
          <p:cNvPr id="7" name="Graphic 6" descr="Classroom with solid fill">
            <a:extLst>
              <a:ext uri="{FF2B5EF4-FFF2-40B4-BE49-F238E27FC236}">
                <a16:creationId xmlns:a16="http://schemas.microsoft.com/office/drawing/2014/main" id="{54D41CF1-4CD2-CA38-A98A-872736D1142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4691" y="790183"/>
            <a:ext cx="914400" cy="914400"/>
          </a:xfrm>
          <a:prstGeom prst="rect">
            <a:avLst/>
          </a:prstGeom>
        </p:spPr>
      </p:pic>
      <p:pic>
        <p:nvPicPr>
          <p:cNvPr id="6" name="Graphic 5" descr="Classroom with solid fill">
            <a:extLst>
              <a:ext uri="{FF2B5EF4-FFF2-40B4-BE49-F238E27FC236}">
                <a16:creationId xmlns:a16="http://schemas.microsoft.com/office/drawing/2014/main" id="{F2687468-26C0-608C-D1D5-941D858331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0185748" y="706675"/>
            <a:ext cx="933189" cy="914400"/>
          </a:xfrm>
          <a:prstGeom prst="rect">
            <a:avLst/>
          </a:prstGeom>
        </p:spPr>
      </p:pic>
      <p:pic>
        <p:nvPicPr>
          <p:cNvPr id="9" name="Content Placeholder 4" descr="Bar chart with solid fill">
            <a:extLst>
              <a:ext uri="{FF2B5EF4-FFF2-40B4-BE49-F238E27FC236}">
                <a16:creationId xmlns:a16="http://schemas.microsoft.com/office/drawing/2014/main" id="{9CA0230E-18E1-62DF-3B9A-85B800013F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46074" y="794283"/>
            <a:ext cx="914400" cy="914400"/>
          </a:xfrm>
          <a:prstGeom prst="rect">
            <a:avLst/>
          </a:prstGeom>
        </p:spPr>
      </p:pic>
      <p:sp>
        <p:nvSpPr>
          <p:cNvPr id="4" name="TextBox 3">
            <a:extLst>
              <a:ext uri="{FF2B5EF4-FFF2-40B4-BE49-F238E27FC236}">
                <a16:creationId xmlns:a16="http://schemas.microsoft.com/office/drawing/2014/main" id="{16DA4240-7460-20BF-2105-04260785357D}"/>
              </a:ext>
            </a:extLst>
          </p:cNvPr>
          <p:cNvSpPr txBox="1"/>
          <p:nvPr/>
        </p:nvSpPr>
        <p:spPr>
          <a:xfrm>
            <a:off x="476031" y="2016131"/>
            <a:ext cx="1125673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00B050"/>
                </a:solidFill>
              </a:rPr>
              <a:t>First recall some of the definitions:- (Contd.)</a:t>
            </a:r>
            <a:endParaRPr lang="en-US" dirty="0"/>
          </a:p>
        </p:txBody>
      </p:sp>
      <p:pic>
        <p:nvPicPr>
          <p:cNvPr id="8" name="Picture 7" descr="A black text on a white background&#10;&#10;AI-generated content may be incorrect.">
            <a:extLst>
              <a:ext uri="{FF2B5EF4-FFF2-40B4-BE49-F238E27FC236}">
                <a16:creationId xmlns:a16="http://schemas.microsoft.com/office/drawing/2014/main" id="{EFE564E5-9C45-2BF2-3C09-6345426693F0}"/>
              </a:ext>
            </a:extLst>
          </p:cNvPr>
          <p:cNvPicPr>
            <a:picLocks noChangeAspect="1"/>
          </p:cNvPicPr>
          <p:nvPr/>
        </p:nvPicPr>
        <p:blipFill>
          <a:blip r:embed="rId8"/>
          <a:stretch>
            <a:fillRect/>
          </a:stretch>
        </p:blipFill>
        <p:spPr>
          <a:xfrm>
            <a:off x="2368921" y="2847975"/>
            <a:ext cx="7516789" cy="1976241"/>
          </a:xfrm>
          <a:prstGeom prst="rect">
            <a:avLst/>
          </a:prstGeom>
        </p:spPr>
      </p:pic>
    </p:spTree>
    <p:extLst>
      <p:ext uri="{BB962C8B-B14F-4D97-AF65-F5344CB8AC3E}">
        <p14:creationId xmlns:p14="http://schemas.microsoft.com/office/powerpoint/2010/main" val="2246164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D10E4-1887-CD9B-C67F-C15743030888}"/>
              </a:ext>
            </a:extLst>
          </p:cNvPr>
          <p:cNvSpPr>
            <a:spLocks noGrp="1"/>
          </p:cNvSpPr>
          <p:nvPr>
            <p:ph type="title"/>
          </p:nvPr>
        </p:nvSpPr>
        <p:spPr/>
        <p:txBody>
          <a:bodyPr/>
          <a:lstStyle/>
          <a:p>
            <a:r>
              <a:rPr lang="en-US" dirty="0"/>
              <a:t>                                        Methodology</a:t>
            </a:r>
          </a:p>
        </p:txBody>
      </p:sp>
      <p:sp>
        <p:nvSpPr>
          <p:cNvPr id="3" name="Content Placeholder 2">
            <a:extLst>
              <a:ext uri="{FF2B5EF4-FFF2-40B4-BE49-F238E27FC236}">
                <a16:creationId xmlns:a16="http://schemas.microsoft.com/office/drawing/2014/main" id="{6F82C744-D1C1-CF5F-68BD-885ADAE38B12}"/>
              </a:ext>
            </a:extLst>
          </p:cNvPr>
          <p:cNvSpPr>
            <a:spLocks noGrp="1"/>
          </p:cNvSpPr>
          <p:nvPr>
            <p:ph idx="1"/>
          </p:nvPr>
        </p:nvSpPr>
        <p:spPr/>
        <p:txBody>
          <a:bodyPr/>
          <a:lstStyle/>
          <a:p>
            <a:pPr marL="0" indent="0">
              <a:spcBef>
                <a:spcPts val="0"/>
              </a:spcBef>
              <a:spcAft>
                <a:spcPts val="0"/>
              </a:spcAft>
              <a:buNone/>
            </a:pPr>
            <a:endParaRPr lang="en-US" sz="2800" dirty="0">
              <a:solidFill>
                <a:srgbClr val="000000"/>
              </a:solidFill>
            </a:endParaRPr>
          </a:p>
          <a:p>
            <a:pPr marL="305435" indent="-305435"/>
            <a:endParaRPr lang="en-US" dirty="0"/>
          </a:p>
        </p:txBody>
      </p:sp>
      <p:sp>
        <p:nvSpPr>
          <p:cNvPr id="29" name="TextBox 28">
            <a:extLst>
              <a:ext uri="{FF2B5EF4-FFF2-40B4-BE49-F238E27FC236}">
                <a16:creationId xmlns:a16="http://schemas.microsoft.com/office/drawing/2014/main" id="{4392552F-48F8-2320-68D5-E8450FA637FF}"/>
              </a:ext>
            </a:extLst>
          </p:cNvPr>
          <p:cNvSpPr txBox="1"/>
          <p:nvPr/>
        </p:nvSpPr>
        <p:spPr>
          <a:xfrm>
            <a:off x="573537" y="2044133"/>
            <a:ext cx="11131227" cy="1292662"/>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rgbClr val="00B050"/>
                </a:solidFill>
              </a:rPr>
              <a:t>Calculation of NMR,PNMR,IMR</a:t>
            </a:r>
            <a:endParaRPr lang="en-US">
              <a:solidFill>
                <a:srgbClr val="00B050"/>
              </a:solidFill>
            </a:endParaRPr>
          </a:p>
          <a:p>
            <a:endParaRPr lang="en-US" sz="1600" dirty="0">
              <a:solidFill>
                <a:srgbClr val="00B050"/>
              </a:solidFill>
            </a:endParaRPr>
          </a:p>
          <a:p>
            <a:r>
              <a:rPr lang="en-US" sz="1600" dirty="0"/>
              <a:t>We calculate NMR,PNMR,IMR for each </a:t>
            </a:r>
            <a:r>
              <a:rPr lang="en-US" sz="1600" dirty="0" err="1"/>
              <a:t>ith</a:t>
            </a:r>
            <a:r>
              <a:rPr lang="en-US" sz="1600" dirty="0"/>
              <a:t> child separately:-</a:t>
            </a:r>
            <a:endParaRPr lang="en-US"/>
          </a:p>
          <a:p>
            <a:endParaRPr lang="en-US" dirty="0"/>
          </a:p>
        </p:txBody>
      </p:sp>
      <p:pic>
        <p:nvPicPr>
          <p:cNvPr id="30" name="Picture 29" descr="A screen shot of a computer&#10;&#10;AI-generated content may be incorrect.">
            <a:extLst>
              <a:ext uri="{FF2B5EF4-FFF2-40B4-BE49-F238E27FC236}">
                <a16:creationId xmlns:a16="http://schemas.microsoft.com/office/drawing/2014/main" id="{F1ABD20A-3D57-8E4F-26E2-6E0550AF6EDF}"/>
              </a:ext>
            </a:extLst>
          </p:cNvPr>
          <p:cNvPicPr>
            <a:picLocks noChangeAspect="1"/>
          </p:cNvPicPr>
          <p:nvPr/>
        </p:nvPicPr>
        <p:blipFill>
          <a:blip r:embed="rId2"/>
          <a:stretch>
            <a:fillRect/>
          </a:stretch>
        </p:blipFill>
        <p:spPr>
          <a:xfrm>
            <a:off x="127478" y="3424108"/>
            <a:ext cx="12020550" cy="2619375"/>
          </a:xfrm>
          <a:prstGeom prst="rect">
            <a:avLst/>
          </a:prstGeom>
        </p:spPr>
      </p:pic>
      <p:pic>
        <p:nvPicPr>
          <p:cNvPr id="32" name="Graphic 31" descr="Bar chart with solid fill">
            <a:extLst>
              <a:ext uri="{FF2B5EF4-FFF2-40B4-BE49-F238E27FC236}">
                <a16:creationId xmlns:a16="http://schemas.microsoft.com/office/drawing/2014/main" id="{C14606D1-3386-B38B-6877-BD7EFB2C24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90800" y="811060"/>
            <a:ext cx="914400" cy="914400"/>
          </a:xfrm>
          <a:prstGeom prst="rect">
            <a:avLst/>
          </a:prstGeom>
        </p:spPr>
      </p:pic>
      <p:pic>
        <p:nvPicPr>
          <p:cNvPr id="34" name="Graphic 33" descr="Classroom with solid fill">
            <a:extLst>
              <a:ext uri="{FF2B5EF4-FFF2-40B4-BE49-F238E27FC236}">
                <a16:creationId xmlns:a16="http://schemas.microsoft.com/office/drawing/2014/main" id="{9553ABDA-A8D0-59BC-31DF-E300A9D7B4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54691" y="790183"/>
            <a:ext cx="914400" cy="914400"/>
          </a:xfrm>
          <a:prstGeom prst="rect">
            <a:avLst/>
          </a:prstGeom>
        </p:spPr>
      </p:pic>
      <p:pic>
        <p:nvPicPr>
          <p:cNvPr id="36" name="Content Placeholder 4" descr="Bar chart with solid fill">
            <a:extLst>
              <a:ext uri="{FF2B5EF4-FFF2-40B4-BE49-F238E27FC236}">
                <a16:creationId xmlns:a16="http://schemas.microsoft.com/office/drawing/2014/main" id="{07D11A5C-67F4-5EC5-0F47-17053B20A34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46074" y="794283"/>
            <a:ext cx="914400" cy="914400"/>
          </a:xfrm>
          <a:prstGeom prst="rect">
            <a:avLst/>
          </a:prstGeom>
        </p:spPr>
      </p:pic>
      <p:pic>
        <p:nvPicPr>
          <p:cNvPr id="38" name="Graphic 37" descr="Classroom with solid fill">
            <a:extLst>
              <a:ext uri="{FF2B5EF4-FFF2-40B4-BE49-F238E27FC236}">
                <a16:creationId xmlns:a16="http://schemas.microsoft.com/office/drawing/2014/main" id="{7AAB5078-9436-A758-00FE-C409F55F0B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185748" y="706675"/>
            <a:ext cx="933189" cy="914400"/>
          </a:xfrm>
          <a:prstGeom prst="rect">
            <a:avLst/>
          </a:prstGeom>
        </p:spPr>
      </p:pic>
    </p:spTree>
    <p:extLst>
      <p:ext uri="{BB962C8B-B14F-4D97-AF65-F5344CB8AC3E}">
        <p14:creationId xmlns:p14="http://schemas.microsoft.com/office/powerpoint/2010/main" val="1883820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86075-E1AD-B6B6-1145-41446DEB33DB}"/>
              </a:ext>
            </a:extLst>
          </p:cNvPr>
          <p:cNvSpPr>
            <a:spLocks noGrp="1"/>
          </p:cNvSpPr>
          <p:nvPr>
            <p:ph type="title"/>
          </p:nvPr>
        </p:nvSpPr>
        <p:spPr/>
        <p:txBody>
          <a:bodyPr/>
          <a:lstStyle/>
          <a:p>
            <a:r>
              <a:rPr lang="en-US" dirty="0"/>
              <a:t>                                        Methodology</a:t>
            </a:r>
            <a:endParaRPr lang="en-US" dirty="0">
              <a:solidFill>
                <a:srgbClr val="000000"/>
              </a:solidFill>
            </a:endParaRPr>
          </a:p>
          <a:p>
            <a:endParaRPr lang="en-US" dirty="0"/>
          </a:p>
        </p:txBody>
      </p:sp>
      <p:pic>
        <p:nvPicPr>
          <p:cNvPr id="5" name="Graphic 4" descr="Bar chart with solid fill">
            <a:extLst>
              <a:ext uri="{FF2B5EF4-FFF2-40B4-BE49-F238E27FC236}">
                <a16:creationId xmlns:a16="http://schemas.microsoft.com/office/drawing/2014/main" id="{0B15A239-5037-610A-ED22-61E00A98C8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0800" y="811060"/>
            <a:ext cx="914400" cy="914400"/>
          </a:xfrm>
          <a:prstGeom prst="rect">
            <a:avLst/>
          </a:prstGeom>
        </p:spPr>
      </p:pic>
      <p:pic>
        <p:nvPicPr>
          <p:cNvPr id="7" name="Graphic 6" descr="Classroom with solid fill">
            <a:extLst>
              <a:ext uri="{FF2B5EF4-FFF2-40B4-BE49-F238E27FC236}">
                <a16:creationId xmlns:a16="http://schemas.microsoft.com/office/drawing/2014/main" id="{8F0909B1-49FC-A004-59F0-72A2F26F070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4691" y="790183"/>
            <a:ext cx="914400" cy="914400"/>
          </a:xfrm>
          <a:prstGeom prst="rect">
            <a:avLst/>
          </a:prstGeom>
        </p:spPr>
      </p:pic>
      <p:pic>
        <p:nvPicPr>
          <p:cNvPr id="9" name="Content Placeholder 4" descr="Bar chart with solid fill">
            <a:extLst>
              <a:ext uri="{FF2B5EF4-FFF2-40B4-BE49-F238E27FC236}">
                <a16:creationId xmlns:a16="http://schemas.microsoft.com/office/drawing/2014/main" id="{98D5D5B0-3510-D7E1-9A89-760A8BB21A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46074" y="794283"/>
            <a:ext cx="914400" cy="914400"/>
          </a:xfrm>
          <a:prstGeom prst="rect">
            <a:avLst/>
          </a:prstGeom>
        </p:spPr>
      </p:pic>
      <p:pic>
        <p:nvPicPr>
          <p:cNvPr id="11" name="Graphic 10" descr="Classroom with solid fill">
            <a:extLst>
              <a:ext uri="{FF2B5EF4-FFF2-40B4-BE49-F238E27FC236}">
                <a16:creationId xmlns:a16="http://schemas.microsoft.com/office/drawing/2014/main" id="{07DD1137-FA83-E0B1-FB1E-6B0B9248976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0185748" y="706675"/>
            <a:ext cx="933189" cy="914400"/>
          </a:xfrm>
          <a:prstGeom prst="rect">
            <a:avLst/>
          </a:prstGeom>
        </p:spPr>
      </p:pic>
      <p:sp>
        <p:nvSpPr>
          <p:cNvPr id="17" name="TextBox 16">
            <a:extLst>
              <a:ext uri="{FF2B5EF4-FFF2-40B4-BE49-F238E27FC236}">
                <a16:creationId xmlns:a16="http://schemas.microsoft.com/office/drawing/2014/main" id="{68C41987-A543-DC02-F5AB-803B9CD9D69F}"/>
              </a:ext>
            </a:extLst>
          </p:cNvPr>
          <p:cNvSpPr txBox="1"/>
          <p:nvPr/>
        </p:nvSpPr>
        <p:spPr>
          <a:xfrm>
            <a:off x="583976" y="2083571"/>
            <a:ext cx="11162791" cy="4770537"/>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rgbClr val="00B050"/>
                </a:solidFill>
                <a:ea typeface="+mn-lt"/>
                <a:cs typeface="+mn-lt"/>
              </a:rPr>
              <a:t>Calculation of NMR,PNMR,IMR (</a:t>
            </a:r>
            <a:r>
              <a:rPr lang="en-US" sz="2800" dirty="0" err="1">
                <a:solidFill>
                  <a:srgbClr val="00B050"/>
                </a:solidFill>
                <a:ea typeface="+mn-lt"/>
                <a:cs typeface="+mn-lt"/>
              </a:rPr>
              <a:t>Contd</a:t>
            </a:r>
            <a:r>
              <a:rPr lang="en-US" sz="2800" dirty="0">
                <a:solidFill>
                  <a:srgbClr val="00B050"/>
                </a:solidFill>
                <a:ea typeface="+mn-lt"/>
                <a:cs typeface="+mn-lt"/>
              </a:rPr>
              <a:t>)</a:t>
            </a:r>
            <a:endParaRPr lang="en-US" sz="2800" dirty="0">
              <a:ea typeface="+mn-lt"/>
              <a:cs typeface="+mn-lt"/>
            </a:endParaRPr>
          </a:p>
          <a:p>
            <a:endParaRPr lang="en-US" sz="1600" dirty="0">
              <a:ea typeface="+mn-lt"/>
              <a:cs typeface="+mn-lt"/>
            </a:endParaRPr>
          </a:p>
          <a:p>
            <a:r>
              <a:rPr lang="en-US" sz="2000">
                <a:solidFill>
                  <a:schemeClr val="tx1"/>
                </a:solidFill>
                <a:ea typeface="+mn-lt"/>
                <a:cs typeface="+mn-lt"/>
              </a:rPr>
              <a:t>• </a:t>
            </a:r>
            <a:r>
              <a:rPr lang="en-US" sz="2000">
                <a:solidFill>
                  <a:srgbClr val="FF0000"/>
                </a:solidFill>
                <a:ea typeface="+mn-lt"/>
                <a:cs typeface="+mn-lt"/>
              </a:rPr>
              <a:t>Similarly we calculate (NM2,...NM20);(PNM2,...,PNM20);(IM2,...,IM20) for 2nd,..,20 </a:t>
            </a:r>
            <a:r>
              <a:rPr lang="en-US" sz="2000" err="1">
                <a:solidFill>
                  <a:srgbClr val="FF0000"/>
                </a:solidFill>
                <a:ea typeface="+mn-lt"/>
                <a:cs typeface="+mn-lt"/>
              </a:rPr>
              <a:t>th</a:t>
            </a:r>
            <a:r>
              <a:rPr lang="en-US" sz="2000" dirty="0">
                <a:solidFill>
                  <a:srgbClr val="FF0000"/>
                </a:solidFill>
                <a:ea typeface="+mn-lt"/>
                <a:cs typeface="+mn-lt"/>
              </a:rPr>
              <a:t> child respectively.</a:t>
            </a:r>
            <a:endParaRPr lang="en-US" sz="2000">
              <a:solidFill>
                <a:srgbClr val="FF0000"/>
              </a:solidFill>
            </a:endParaRPr>
          </a:p>
          <a:p>
            <a:endParaRPr lang="en-US" sz="2000" dirty="0">
              <a:solidFill>
                <a:srgbClr val="FF0000"/>
              </a:solidFill>
              <a:ea typeface="+mn-lt"/>
              <a:cs typeface="+mn-lt"/>
            </a:endParaRPr>
          </a:p>
          <a:p>
            <a:r>
              <a:rPr lang="en-US" sz="2000" dirty="0">
                <a:solidFill>
                  <a:schemeClr val="tx1"/>
                </a:solidFill>
                <a:ea typeface="+mn-lt"/>
                <a:cs typeface="+mn-lt"/>
              </a:rPr>
              <a:t>• </a:t>
            </a:r>
            <a:r>
              <a:rPr lang="en-US" sz="2000" dirty="0">
                <a:solidFill>
                  <a:srgbClr val="FF0000"/>
                </a:solidFill>
                <a:ea typeface="+mn-lt"/>
                <a:cs typeface="+mn-lt"/>
              </a:rPr>
              <a:t>So, total Neo mortal deaths, NM = NM1+NM2+..+NM20</a:t>
            </a:r>
            <a:endParaRPr lang="en-US" sz="2000">
              <a:solidFill>
                <a:srgbClr val="FF0000"/>
              </a:solidFill>
            </a:endParaRPr>
          </a:p>
          <a:p>
            <a:r>
              <a:rPr lang="en-US" sz="2000" dirty="0">
                <a:solidFill>
                  <a:srgbClr val="FF0000"/>
                </a:solidFill>
                <a:ea typeface="+mn-lt"/>
                <a:cs typeface="+mn-lt"/>
              </a:rPr>
              <a:t>       total Post Neo mortal deaths, PNM= PNM1+PNM2+..+PNM20</a:t>
            </a:r>
            <a:endParaRPr lang="en-US" sz="2000">
              <a:solidFill>
                <a:srgbClr val="FF0000"/>
              </a:solidFill>
            </a:endParaRPr>
          </a:p>
          <a:p>
            <a:r>
              <a:rPr lang="en-US" sz="2000" dirty="0">
                <a:solidFill>
                  <a:srgbClr val="FF0000"/>
                </a:solidFill>
                <a:ea typeface="+mn-lt"/>
                <a:cs typeface="+mn-lt"/>
              </a:rPr>
              <a:t>       total Infant deaths, IM = IM1+IM2+..+IM20</a:t>
            </a:r>
            <a:endParaRPr lang="en-US" sz="2000" dirty="0">
              <a:solidFill>
                <a:srgbClr val="FF0000"/>
              </a:solidFill>
            </a:endParaRPr>
          </a:p>
          <a:p>
            <a:r>
              <a:rPr lang="en-US" sz="2000" dirty="0">
                <a:solidFill>
                  <a:srgbClr val="FF0000"/>
                </a:solidFill>
                <a:ea typeface="+mn-lt"/>
                <a:cs typeface="+mn-lt"/>
              </a:rPr>
              <a:t>       total living children, l = l1+l2+..+l20</a:t>
            </a:r>
            <a:endParaRPr lang="en-US" sz="2000" dirty="0">
              <a:solidFill>
                <a:srgbClr val="FF0000"/>
              </a:solidFill>
            </a:endParaRPr>
          </a:p>
          <a:p>
            <a:endParaRPr lang="en-US" sz="2000" dirty="0">
              <a:solidFill>
                <a:schemeClr val="tx1"/>
              </a:solidFill>
              <a:ea typeface="+mn-lt"/>
              <a:cs typeface="+mn-lt"/>
            </a:endParaRPr>
          </a:p>
          <a:p>
            <a:r>
              <a:rPr lang="en-US" sz="2000">
                <a:solidFill>
                  <a:schemeClr val="tx1"/>
                </a:solidFill>
                <a:ea typeface="+mn-lt"/>
                <a:cs typeface="+mn-lt"/>
              </a:rPr>
              <a:t>• </a:t>
            </a:r>
            <a:r>
              <a:rPr lang="en-US" sz="2000" dirty="0">
                <a:solidFill>
                  <a:srgbClr val="FF0000"/>
                </a:solidFill>
                <a:ea typeface="+mn-lt"/>
                <a:cs typeface="+mn-lt"/>
              </a:rPr>
              <a:t>So, the NMR = NM/l*1000</a:t>
            </a:r>
            <a:endParaRPr lang="en-US" sz="2000">
              <a:solidFill>
                <a:srgbClr val="FF0000"/>
              </a:solidFill>
            </a:endParaRPr>
          </a:p>
          <a:p>
            <a:r>
              <a:rPr lang="en-US" sz="2000" dirty="0">
                <a:solidFill>
                  <a:srgbClr val="FF0000"/>
                </a:solidFill>
                <a:ea typeface="+mn-lt"/>
                <a:cs typeface="+mn-lt"/>
              </a:rPr>
              <a:t>       the PNMR = PNM/l*1000</a:t>
            </a:r>
            <a:endParaRPr lang="en-US" sz="2000" dirty="0">
              <a:solidFill>
                <a:srgbClr val="FF0000"/>
              </a:solidFill>
            </a:endParaRPr>
          </a:p>
          <a:p>
            <a:r>
              <a:rPr lang="en-US" sz="2000" dirty="0">
                <a:solidFill>
                  <a:srgbClr val="FF0000"/>
                </a:solidFill>
                <a:ea typeface="+mn-lt"/>
                <a:cs typeface="+mn-lt"/>
              </a:rPr>
              <a:t>       the IMR = IM/l*1000</a:t>
            </a:r>
          </a:p>
          <a:p>
            <a:endParaRPr lang="en-US" sz="2000" dirty="0">
              <a:solidFill>
                <a:srgbClr val="FF0000"/>
              </a:solidFill>
              <a:ea typeface="+mn-lt"/>
              <a:cs typeface="+mn-lt"/>
            </a:endParaRPr>
          </a:p>
          <a:p>
            <a:r>
              <a:rPr lang="en-US" sz="2000">
                <a:solidFill>
                  <a:srgbClr val="00B0F0"/>
                </a:solidFill>
                <a:ea typeface="+mn-lt"/>
                <a:cs typeface="+mn-lt"/>
              </a:rPr>
              <a:t>After computing NMR,PNMR,IMR for both the states UP and Maharastra we plot the values in a graph</a:t>
            </a:r>
            <a:endParaRPr lang="en-US">
              <a:solidFill>
                <a:srgbClr val="00B0F0"/>
              </a:solidFill>
            </a:endParaRPr>
          </a:p>
          <a:p>
            <a:r>
              <a:rPr lang="en-US" sz="2000">
                <a:solidFill>
                  <a:srgbClr val="00B0F0"/>
                </a:solidFill>
                <a:ea typeface="+mn-lt"/>
                <a:cs typeface="+mn-lt"/>
              </a:rPr>
              <a:t>and compare those.</a:t>
            </a:r>
            <a:endParaRPr lang="en-US">
              <a:solidFill>
                <a:srgbClr val="00B0F0"/>
              </a:solidFill>
            </a:endParaRPr>
          </a:p>
        </p:txBody>
      </p:sp>
    </p:spTree>
    <p:extLst>
      <p:ext uri="{BB962C8B-B14F-4D97-AF65-F5344CB8AC3E}">
        <p14:creationId xmlns:p14="http://schemas.microsoft.com/office/powerpoint/2010/main" val="30574812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C69BD-9900-32F6-B975-37F4C210E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4916A0-F66C-4954-47CB-3312D940F200}"/>
              </a:ext>
            </a:extLst>
          </p:cNvPr>
          <p:cNvSpPr>
            <a:spLocks noGrp="1"/>
          </p:cNvSpPr>
          <p:nvPr>
            <p:ph type="title"/>
          </p:nvPr>
        </p:nvSpPr>
        <p:spPr/>
        <p:txBody>
          <a:bodyPr/>
          <a:lstStyle/>
          <a:p>
            <a:r>
              <a:rPr lang="en-US" dirty="0"/>
              <a:t>                                        Methodology</a:t>
            </a:r>
            <a:endParaRPr lang="en-US" dirty="0">
              <a:solidFill>
                <a:srgbClr val="000000"/>
              </a:solidFill>
            </a:endParaRPr>
          </a:p>
          <a:p>
            <a:endParaRPr lang="en-US" dirty="0"/>
          </a:p>
        </p:txBody>
      </p:sp>
      <p:pic>
        <p:nvPicPr>
          <p:cNvPr id="5" name="Graphic 4" descr="Bar chart with solid fill">
            <a:extLst>
              <a:ext uri="{FF2B5EF4-FFF2-40B4-BE49-F238E27FC236}">
                <a16:creationId xmlns:a16="http://schemas.microsoft.com/office/drawing/2014/main" id="{66C14E63-739C-7285-9005-17709535CA4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0800" y="811060"/>
            <a:ext cx="914400" cy="914400"/>
          </a:xfrm>
          <a:prstGeom prst="rect">
            <a:avLst/>
          </a:prstGeom>
        </p:spPr>
      </p:pic>
      <p:pic>
        <p:nvPicPr>
          <p:cNvPr id="7" name="Graphic 6" descr="Classroom with solid fill">
            <a:extLst>
              <a:ext uri="{FF2B5EF4-FFF2-40B4-BE49-F238E27FC236}">
                <a16:creationId xmlns:a16="http://schemas.microsoft.com/office/drawing/2014/main" id="{094EA676-0DE6-01A8-B0FE-8565AC691A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4691" y="790183"/>
            <a:ext cx="914400" cy="914400"/>
          </a:xfrm>
          <a:prstGeom prst="rect">
            <a:avLst/>
          </a:prstGeom>
        </p:spPr>
      </p:pic>
      <p:pic>
        <p:nvPicPr>
          <p:cNvPr id="6" name="Graphic 5" descr="Classroom with solid fill">
            <a:extLst>
              <a:ext uri="{FF2B5EF4-FFF2-40B4-BE49-F238E27FC236}">
                <a16:creationId xmlns:a16="http://schemas.microsoft.com/office/drawing/2014/main" id="{D4CB290B-8A77-0C8B-A633-D72440DDF6B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0185748" y="706675"/>
            <a:ext cx="933189" cy="914400"/>
          </a:xfrm>
          <a:prstGeom prst="rect">
            <a:avLst/>
          </a:prstGeom>
        </p:spPr>
      </p:pic>
      <p:pic>
        <p:nvPicPr>
          <p:cNvPr id="9" name="Content Placeholder 4" descr="Bar chart with solid fill">
            <a:extLst>
              <a:ext uri="{FF2B5EF4-FFF2-40B4-BE49-F238E27FC236}">
                <a16:creationId xmlns:a16="http://schemas.microsoft.com/office/drawing/2014/main" id="{90907919-F3EF-1201-2C6B-4633804B959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46074" y="794283"/>
            <a:ext cx="914400" cy="914400"/>
          </a:xfrm>
          <a:prstGeom prst="rect">
            <a:avLst/>
          </a:prstGeom>
        </p:spPr>
      </p:pic>
      <p:sp>
        <p:nvSpPr>
          <p:cNvPr id="10" name="TextBox 9">
            <a:extLst>
              <a:ext uri="{FF2B5EF4-FFF2-40B4-BE49-F238E27FC236}">
                <a16:creationId xmlns:a16="http://schemas.microsoft.com/office/drawing/2014/main" id="{FEA95F87-28C8-DF54-51A2-3F3F93C1DFB0}"/>
              </a:ext>
            </a:extLst>
          </p:cNvPr>
          <p:cNvSpPr txBox="1"/>
          <p:nvPr/>
        </p:nvSpPr>
        <p:spPr>
          <a:xfrm>
            <a:off x="566662" y="2114138"/>
            <a:ext cx="11180105"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rgbClr val="00B050"/>
                </a:solidFill>
              </a:rPr>
              <a:t>Relation between Infant mortality and foods other than breast milk given within few days of Birth:-</a:t>
            </a:r>
          </a:p>
          <a:p>
            <a:pPr algn="l"/>
            <a:endParaRPr lang="en-US" sz="2800" dirty="0">
              <a:solidFill>
                <a:srgbClr val="00B050"/>
              </a:solidFill>
            </a:endParaRPr>
          </a:p>
          <a:p>
            <a:r>
              <a:rPr lang="en-US" dirty="0">
                <a:solidFill>
                  <a:schemeClr val="tx1">
                    <a:lumMod val="95000"/>
                    <a:lumOff val="5000"/>
                  </a:schemeClr>
                </a:solidFill>
                <a:ea typeface="+mn-lt"/>
                <a:cs typeface="+mn-lt"/>
              </a:rPr>
              <a:t>Here our objective is to find if there is any significant relation between Infant mortality and foods other than</a:t>
            </a:r>
            <a:endParaRPr lang="en-US" dirty="0">
              <a:solidFill>
                <a:schemeClr val="tx1">
                  <a:lumMod val="95000"/>
                  <a:lumOff val="5000"/>
                </a:schemeClr>
              </a:solidFill>
            </a:endParaRPr>
          </a:p>
          <a:p>
            <a:r>
              <a:rPr lang="en-US" dirty="0">
                <a:solidFill>
                  <a:schemeClr val="tx1">
                    <a:lumMod val="95000"/>
                    <a:lumOff val="5000"/>
                  </a:schemeClr>
                </a:solidFill>
                <a:ea typeface="+mn-lt"/>
                <a:cs typeface="+mn-lt"/>
              </a:rPr>
              <a:t>breastmilk given within few days of birth. To do that we proceed as following :-</a:t>
            </a:r>
            <a:endParaRPr lang="en-US">
              <a:solidFill>
                <a:schemeClr val="tx1">
                  <a:lumMod val="95000"/>
                  <a:lumOff val="5000"/>
                </a:schemeClr>
              </a:solidFill>
            </a:endParaRPr>
          </a:p>
          <a:p>
            <a:endParaRPr lang="en-US" dirty="0">
              <a:solidFill>
                <a:schemeClr val="tx1">
                  <a:lumMod val="95000"/>
                  <a:lumOff val="5000"/>
                </a:schemeClr>
              </a:solidFill>
              <a:ea typeface="+mn-lt"/>
              <a:cs typeface="+mn-lt"/>
            </a:endParaRPr>
          </a:p>
          <a:p>
            <a:r>
              <a:rPr lang="en-US" dirty="0">
                <a:solidFill>
                  <a:schemeClr val="tx1">
                    <a:lumMod val="95000"/>
                    <a:lumOff val="5000"/>
                  </a:schemeClr>
                </a:solidFill>
                <a:ea typeface="+mn-lt"/>
                <a:cs typeface="+mn-lt"/>
              </a:rPr>
              <a:t>• Find the numbers of food item given to child within 3 days of birth for each individual food item.</a:t>
            </a:r>
            <a:endParaRPr lang="en-US">
              <a:solidFill>
                <a:schemeClr val="tx1">
                  <a:lumMod val="95000"/>
                  <a:lumOff val="5000"/>
                </a:schemeClr>
              </a:solidFill>
            </a:endParaRPr>
          </a:p>
          <a:p>
            <a:endParaRPr lang="en-US" dirty="0">
              <a:solidFill>
                <a:schemeClr val="tx1">
                  <a:lumMod val="95000"/>
                  <a:lumOff val="5000"/>
                </a:schemeClr>
              </a:solidFill>
              <a:ea typeface="+mn-lt"/>
              <a:cs typeface="+mn-lt"/>
            </a:endParaRPr>
          </a:p>
          <a:p>
            <a:r>
              <a:rPr lang="en-US" dirty="0">
                <a:solidFill>
                  <a:schemeClr val="tx1">
                    <a:lumMod val="95000"/>
                    <a:lumOff val="5000"/>
                  </a:schemeClr>
                </a:solidFill>
                <a:ea typeface="+mn-lt"/>
                <a:cs typeface="+mn-lt"/>
              </a:rPr>
              <a:t>• Among them we pick the most 5 consumed food item and then find we find correlation with these with</a:t>
            </a:r>
            <a:endParaRPr lang="en-US">
              <a:solidFill>
                <a:schemeClr val="tx1">
                  <a:lumMod val="95000"/>
                  <a:lumOff val="5000"/>
                </a:schemeClr>
              </a:solidFill>
            </a:endParaRPr>
          </a:p>
          <a:p>
            <a:r>
              <a:rPr lang="en-US" dirty="0">
                <a:solidFill>
                  <a:schemeClr val="tx1">
                    <a:lumMod val="95000"/>
                    <a:lumOff val="5000"/>
                  </a:schemeClr>
                </a:solidFill>
                <a:ea typeface="+mn-lt"/>
                <a:cs typeface="+mn-lt"/>
              </a:rPr>
              <a:t>the child whether alive or dead.</a:t>
            </a:r>
            <a:endParaRPr lang="en-US">
              <a:solidFill>
                <a:schemeClr val="tx1">
                  <a:lumMod val="95000"/>
                  <a:lumOff val="5000"/>
                </a:schemeClr>
              </a:solidFill>
            </a:endParaRPr>
          </a:p>
          <a:p>
            <a:endParaRPr lang="en-US" dirty="0">
              <a:solidFill>
                <a:schemeClr val="tx1">
                  <a:lumMod val="95000"/>
                  <a:lumOff val="5000"/>
                </a:schemeClr>
              </a:solidFill>
              <a:ea typeface="+mn-lt"/>
              <a:cs typeface="+mn-lt"/>
            </a:endParaRPr>
          </a:p>
          <a:p>
            <a:r>
              <a:rPr lang="en-US" dirty="0">
                <a:solidFill>
                  <a:schemeClr val="tx1">
                    <a:lumMod val="95000"/>
                    <a:lumOff val="5000"/>
                  </a:schemeClr>
                </a:solidFill>
                <a:ea typeface="+mn-lt"/>
                <a:cs typeface="+mn-lt"/>
              </a:rPr>
              <a:t>• We done this for the 1st child only as number of other child and relevant food consumed by them - the</a:t>
            </a:r>
            <a:endParaRPr lang="en-US">
              <a:solidFill>
                <a:schemeClr val="tx1">
                  <a:lumMod val="95000"/>
                  <a:lumOff val="5000"/>
                </a:schemeClr>
              </a:solidFill>
            </a:endParaRPr>
          </a:p>
          <a:p>
            <a:r>
              <a:rPr lang="en-US" dirty="0">
                <a:solidFill>
                  <a:schemeClr val="tx1">
                    <a:lumMod val="95000"/>
                    <a:lumOff val="5000"/>
                  </a:schemeClr>
                </a:solidFill>
                <a:ea typeface="+mn-lt"/>
                <a:cs typeface="+mn-lt"/>
              </a:rPr>
              <a:t>number is relevantly very low.</a:t>
            </a:r>
            <a:endParaRPr lang="en-US">
              <a:solidFill>
                <a:schemeClr val="tx1">
                  <a:lumMod val="95000"/>
                  <a:lumOff val="5000"/>
                </a:schemeClr>
              </a:solidFill>
            </a:endParaRPr>
          </a:p>
          <a:p>
            <a:endParaRPr lang="en-US" dirty="0"/>
          </a:p>
        </p:txBody>
      </p:sp>
    </p:spTree>
    <p:extLst>
      <p:ext uri="{BB962C8B-B14F-4D97-AF65-F5344CB8AC3E}">
        <p14:creationId xmlns:p14="http://schemas.microsoft.com/office/powerpoint/2010/main" val="1054175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D6163-6090-9674-0D98-0672ED6AB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D23E2-1CF3-08DE-AEAF-76984DFE85E6}"/>
              </a:ext>
            </a:extLst>
          </p:cNvPr>
          <p:cNvSpPr>
            <a:spLocks noGrp="1"/>
          </p:cNvSpPr>
          <p:nvPr>
            <p:ph type="title"/>
          </p:nvPr>
        </p:nvSpPr>
        <p:spPr/>
        <p:txBody>
          <a:bodyPr/>
          <a:lstStyle/>
          <a:p>
            <a:r>
              <a:rPr lang="en-US" dirty="0"/>
              <a:t>                                        Methodology</a:t>
            </a:r>
            <a:endParaRPr lang="en-US" dirty="0">
              <a:solidFill>
                <a:srgbClr val="000000"/>
              </a:solidFill>
            </a:endParaRPr>
          </a:p>
          <a:p>
            <a:endParaRPr lang="en-US" dirty="0"/>
          </a:p>
        </p:txBody>
      </p:sp>
      <p:pic>
        <p:nvPicPr>
          <p:cNvPr id="5" name="Graphic 4" descr="Bar chart with solid fill">
            <a:extLst>
              <a:ext uri="{FF2B5EF4-FFF2-40B4-BE49-F238E27FC236}">
                <a16:creationId xmlns:a16="http://schemas.microsoft.com/office/drawing/2014/main" id="{21F2D652-ED8C-2CF8-1D08-D1D6412A35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0800" y="811060"/>
            <a:ext cx="914400" cy="914400"/>
          </a:xfrm>
          <a:prstGeom prst="rect">
            <a:avLst/>
          </a:prstGeom>
        </p:spPr>
      </p:pic>
      <p:pic>
        <p:nvPicPr>
          <p:cNvPr id="7" name="Graphic 6" descr="Classroom with solid fill">
            <a:extLst>
              <a:ext uri="{FF2B5EF4-FFF2-40B4-BE49-F238E27FC236}">
                <a16:creationId xmlns:a16="http://schemas.microsoft.com/office/drawing/2014/main" id="{C3597D22-EAF9-FAA0-6B87-BFFF93D3CF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4691" y="790183"/>
            <a:ext cx="914400" cy="914400"/>
          </a:xfrm>
          <a:prstGeom prst="rect">
            <a:avLst/>
          </a:prstGeom>
        </p:spPr>
      </p:pic>
      <p:pic>
        <p:nvPicPr>
          <p:cNvPr id="6" name="Content Placeholder 4" descr="Bar chart with solid fill">
            <a:extLst>
              <a:ext uri="{FF2B5EF4-FFF2-40B4-BE49-F238E27FC236}">
                <a16:creationId xmlns:a16="http://schemas.microsoft.com/office/drawing/2014/main" id="{08EFE0E9-C39C-8C10-717A-7923F9EB60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46074" y="794283"/>
            <a:ext cx="914400" cy="914400"/>
          </a:xfrm>
          <a:prstGeom prst="rect">
            <a:avLst/>
          </a:prstGeom>
        </p:spPr>
      </p:pic>
      <p:pic>
        <p:nvPicPr>
          <p:cNvPr id="9" name="Graphic 8" descr="Classroom with solid fill">
            <a:extLst>
              <a:ext uri="{FF2B5EF4-FFF2-40B4-BE49-F238E27FC236}">
                <a16:creationId xmlns:a16="http://schemas.microsoft.com/office/drawing/2014/main" id="{E0EA55D7-60FA-7F4B-341A-3739425B6D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0185748" y="706675"/>
            <a:ext cx="933189" cy="914400"/>
          </a:xfrm>
          <a:prstGeom prst="rect">
            <a:avLst/>
          </a:prstGeom>
        </p:spPr>
      </p:pic>
      <p:sp>
        <p:nvSpPr>
          <p:cNvPr id="10" name="TextBox 9">
            <a:extLst>
              <a:ext uri="{FF2B5EF4-FFF2-40B4-BE49-F238E27FC236}">
                <a16:creationId xmlns:a16="http://schemas.microsoft.com/office/drawing/2014/main" id="{C2666064-C1EE-266D-9206-2F7D2281B84D}"/>
              </a:ext>
            </a:extLst>
          </p:cNvPr>
          <p:cNvSpPr txBox="1"/>
          <p:nvPr/>
        </p:nvSpPr>
        <p:spPr>
          <a:xfrm>
            <a:off x="462030" y="2002130"/>
            <a:ext cx="11326740" cy="44242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0">
            <a:extLst>
              <a:ext uri="{FF2B5EF4-FFF2-40B4-BE49-F238E27FC236}">
                <a16:creationId xmlns:a16="http://schemas.microsoft.com/office/drawing/2014/main" id="{76D430C0-8CCB-6944-E0AC-835BA8EC7EA5}"/>
              </a:ext>
            </a:extLst>
          </p:cNvPr>
          <p:cNvSpPr txBox="1"/>
          <p:nvPr/>
        </p:nvSpPr>
        <p:spPr>
          <a:xfrm>
            <a:off x="465592" y="1998567"/>
            <a:ext cx="11305364"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rgbClr val="00B050"/>
                </a:solidFill>
              </a:rPr>
              <a:t>Relation between Infant mortality and foods other than breast milk givenwithin few days of Birth:- (Contd)</a:t>
            </a:r>
            <a:endParaRPr lang="en-US" sz="2800"/>
          </a:p>
          <a:p>
            <a:endParaRPr lang="en-US" dirty="0"/>
          </a:p>
          <a:p>
            <a:r>
              <a:rPr lang="en-US"/>
              <a:t>Let's understand this with the code: </a:t>
            </a:r>
          </a:p>
          <a:p>
            <a:endParaRPr lang="en-US" dirty="0"/>
          </a:p>
        </p:txBody>
      </p:sp>
      <p:pic>
        <p:nvPicPr>
          <p:cNvPr id="12" name="Picture 11" descr="A black background with white text&#10;&#10;AI-generated content may be incorrect.">
            <a:extLst>
              <a:ext uri="{FF2B5EF4-FFF2-40B4-BE49-F238E27FC236}">
                <a16:creationId xmlns:a16="http://schemas.microsoft.com/office/drawing/2014/main" id="{C01EB5AB-9CDF-CEE3-54C9-010B94692168}"/>
              </a:ext>
            </a:extLst>
          </p:cNvPr>
          <p:cNvPicPr>
            <a:picLocks noChangeAspect="1"/>
          </p:cNvPicPr>
          <p:nvPr/>
        </p:nvPicPr>
        <p:blipFill>
          <a:blip r:embed="rId8"/>
          <a:stretch>
            <a:fillRect/>
          </a:stretch>
        </p:blipFill>
        <p:spPr>
          <a:xfrm>
            <a:off x="578350" y="3428348"/>
            <a:ext cx="2809875" cy="857250"/>
          </a:xfrm>
          <a:prstGeom prst="rect">
            <a:avLst/>
          </a:prstGeom>
        </p:spPr>
      </p:pic>
      <p:pic>
        <p:nvPicPr>
          <p:cNvPr id="13" name="Picture 12" descr="A computer screen shot of a computer code&#10;&#10;AI-generated content may be incorrect.">
            <a:extLst>
              <a:ext uri="{FF2B5EF4-FFF2-40B4-BE49-F238E27FC236}">
                <a16:creationId xmlns:a16="http://schemas.microsoft.com/office/drawing/2014/main" id="{B77DB0FC-6D50-0B36-74B8-8BA46AD4ECC5}"/>
              </a:ext>
            </a:extLst>
          </p:cNvPr>
          <p:cNvPicPr>
            <a:picLocks noChangeAspect="1"/>
          </p:cNvPicPr>
          <p:nvPr/>
        </p:nvPicPr>
        <p:blipFill>
          <a:blip r:embed="rId9"/>
          <a:stretch>
            <a:fillRect/>
          </a:stretch>
        </p:blipFill>
        <p:spPr>
          <a:xfrm>
            <a:off x="514155" y="4448958"/>
            <a:ext cx="11268075" cy="590550"/>
          </a:xfrm>
          <a:prstGeom prst="rect">
            <a:avLst/>
          </a:prstGeom>
        </p:spPr>
      </p:pic>
      <p:pic>
        <p:nvPicPr>
          <p:cNvPr id="14" name="Picture 13" descr="A black background with colorful text&#10;&#10;AI-generated content may be incorrect.">
            <a:extLst>
              <a:ext uri="{FF2B5EF4-FFF2-40B4-BE49-F238E27FC236}">
                <a16:creationId xmlns:a16="http://schemas.microsoft.com/office/drawing/2014/main" id="{6BE43093-62C2-386F-3904-76147C4D871A}"/>
              </a:ext>
            </a:extLst>
          </p:cNvPr>
          <p:cNvPicPr>
            <a:picLocks noChangeAspect="1"/>
          </p:cNvPicPr>
          <p:nvPr/>
        </p:nvPicPr>
        <p:blipFill>
          <a:blip r:embed="rId10"/>
          <a:stretch>
            <a:fillRect/>
          </a:stretch>
        </p:blipFill>
        <p:spPr>
          <a:xfrm>
            <a:off x="510371" y="5235032"/>
            <a:ext cx="7705725" cy="1419225"/>
          </a:xfrm>
          <a:prstGeom prst="rect">
            <a:avLst/>
          </a:prstGeom>
        </p:spPr>
      </p:pic>
    </p:spTree>
    <p:extLst>
      <p:ext uri="{BB962C8B-B14F-4D97-AF65-F5344CB8AC3E}">
        <p14:creationId xmlns:p14="http://schemas.microsoft.com/office/powerpoint/2010/main" val="20176453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7DDBB-0244-287E-6FC1-D33D1A982C2E}"/>
              </a:ext>
            </a:extLst>
          </p:cNvPr>
          <p:cNvSpPr>
            <a:spLocks noGrp="1"/>
          </p:cNvSpPr>
          <p:nvPr>
            <p:ph type="title"/>
          </p:nvPr>
        </p:nvSpPr>
        <p:spPr/>
        <p:txBody>
          <a:bodyPr/>
          <a:lstStyle/>
          <a:p>
            <a:r>
              <a:rPr lang="en-US" dirty="0"/>
              <a:t>                                        </a:t>
            </a:r>
            <a:r>
              <a:rPr lang="en-US"/>
              <a:t>Methodology</a:t>
            </a:r>
            <a:endParaRPr lang="en-US">
              <a:solidFill>
                <a:srgbClr val="000000"/>
              </a:solidFill>
            </a:endParaRPr>
          </a:p>
          <a:p>
            <a:endParaRPr lang="en-US" dirty="0"/>
          </a:p>
        </p:txBody>
      </p:sp>
      <p:pic>
        <p:nvPicPr>
          <p:cNvPr id="5" name="Graphic 4" descr="Classroom with solid fill">
            <a:extLst>
              <a:ext uri="{FF2B5EF4-FFF2-40B4-BE49-F238E27FC236}">
                <a16:creationId xmlns:a16="http://schemas.microsoft.com/office/drawing/2014/main" id="{4544C61E-C92C-4FE5-E52B-5BD3D33C1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54691" y="790183"/>
            <a:ext cx="914400" cy="914400"/>
          </a:xfrm>
          <a:prstGeom prst="rect">
            <a:avLst/>
          </a:prstGeom>
        </p:spPr>
      </p:pic>
      <p:pic>
        <p:nvPicPr>
          <p:cNvPr id="7" name="Graphic 6" descr="Bar chart with solid fill">
            <a:extLst>
              <a:ext uri="{FF2B5EF4-FFF2-40B4-BE49-F238E27FC236}">
                <a16:creationId xmlns:a16="http://schemas.microsoft.com/office/drawing/2014/main" id="{499E3A88-0E44-066E-B509-CE91A8B0EA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90800" y="811060"/>
            <a:ext cx="914400" cy="914400"/>
          </a:xfrm>
          <a:prstGeom prst="rect">
            <a:avLst/>
          </a:prstGeom>
        </p:spPr>
      </p:pic>
      <p:pic>
        <p:nvPicPr>
          <p:cNvPr id="9" name="Content Placeholder 4" descr="Bar chart with solid fill">
            <a:extLst>
              <a:ext uri="{FF2B5EF4-FFF2-40B4-BE49-F238E27FC236}">
                <a16:creationId xmlns:a16="http://schemas.microsoft.com/office/drawing/2014/main" id="{FC4BDAAE-4E84-9B8E-0063-28A8B1FFF04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46074" y="794283"/>
            <a:ext cx="914400" cy="914400"/>
          </a:xfrm>
          <a:prstGeom prst="rect">
            <a:avLst/>
          </a:prstGeom>
        </p:spPr>
      </p:pic>
      <p:pic>
        <p:nvPicPr>
          <p:cNvPr id="11" name="Graphic 10" descr="Classroom with solid fill">
            <a:extLst>
              <a:ext uri="{FF2B5EF4-FFF2-40B4-BE49-F238E27FC236}">
                <a16:creationId xmlns:a16="http://schemas.microsoft.com/office/drawing/2014/main" id="{CD15A075-FAE3-D744-6C87-E0907C3A90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0185748" y="706675"/>
            <a:ext cx="933189" cy="914400"/>
          </a:xfrm>
          <a:prstGeom prst="rect">
            <a:avLst/>
          </a:prstGeom>
        </p:spPr>
      </p:pic>
      <p:sp>
        <p:nvSpPr>
          <p:cNvPr id="12" name="TextBox 11">
            <a:extLst>
              <a:ext uri="{FF2B5EF4-FFF2-40B4-BE49-F238E27FC236}">
                <a16:creationId xmlns:a16="http://schemas.microsoft.com/office/drawing/2014/main" id="{33EF2398-2E2D-CE13-075D-9A6E4443768A}"/>
              </a:ext>
            </a:extLst>
          </p:cNvPr>
          <p:cNvSpPr txBox="1"/>
          <p:nvPr/>
        </p:nvSpPr>
        <p:spPr>
          <a:xfrm>
            <a:off x="476031" y="2086136"/>
            <a:ext cx="11228734" cy="45642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E52AE46B-9E0D-C5B4-86A5-87F135BCBF92}"/>
              </a:ext>
            </a:extLst>
          </p:cNvPr>
          <p:cNvSpPr txBox="1"/>
          <p:nvPr/>
        </p:nvSpPr>
        <p:spPr>
          <a:xfrm>
            <a:off x="476031" y="2114138"/>
            <a:ext cx="11270736"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rgbClr val="00B050"/>
                </a:solidFill>
              </a:rPr>
              <a:t>Relation between infant mortality rate , food given other than breastmilk </a:t>
            </a:r>
            <a:r>
              <a:rPr lang="en-US" sz="2800">
                <a:solidFill>
                  <a:srgbClr val="00B050"/>
                </a:solidFill>
              </a:rPr>
              <a:t>within some days of birth and mother’s education level...</a:t>
            </a:r>
          </a:p>
          <a:p>
            <a:pPr algn="l"/>
            <a:endParaRPr lang="en-US" sz="2800" dirty="0">
              <a:solidFill>
                <a:srgbClr val="00B050"/>
              </a:solidFill>
            </a:endParaRPr>
          </a:p>
          <a:p>
            <a:r>
              <a:rPr lang="en-US" sz="2000">
                <a:solidFill>
                  <a:srgbClr val="FF0000"/>
                </a:solidFill>
                <a:ea typeface="+mn-lt"/>
                <a:cs typeface="+mn-lt"/>
              </a:rPr>
              <a:t>Here our objective is to find if there is any significant relation between infantmortality rate , food given other than breastmilk within some days of birth and mother’s education level. To do that we proceed as following :-</a:t>
            </a:r>
            <a:endParaRPr lang="en-US" sz="2000">
              <a:solidFill>
                <a:srgbClr val="FF0000"/>
              </a:solidFill>
            </a:endParaRPr>
          </a:p>
          <a:p>
            <a:endParaRPr lang="en-US" sz="2000" dirty="0">
              <a:solidFill>
                <a:srgbClr val="00B050"/>
              </a:solidFill>
              <a:ea typeface="+mn-lt"/>
              <a:cs typeface="+mn-lt"/>
            </a:endParaRPr>
          </a:p>
          <a:p>
            <a:r>
              <a:rPr lang="en-US" sz="2000">
                <a:ea typeface="+mn-lt"/>
                <a:cs typeface="+mn-lt"/>
              </a:rPr>
              <a:t>•</a:t>
            </a:r>
            <a:r>
              <a:rPr lang="en-US" sz="2000" dirty="0">
                <a:solidFill>
                  <a:srgbClr val="00B050"/>
                </a:solidFill>
                <a:ea typeface="+mn-lt"/>
                <a:cs typeface="+mn-lt"/>
              </a:rPr>
              <a:t> </a:t>
            </a:r>
            <a:r>
              <a:rPr lang="en-US" sz="2000">
                <a:solidFill>
                  <a:srgbClr val="FF0000"/>
                </a:solidFill>
                <a:ea typeface="+mn-lt"/>
                <a:cs typeface="+mn-lt"/>
              </a:rPr>
              <a:t>We take the column "B$601", "M55$1" , "V107" and after removing the "NA"s we compute partial</a:t>
            </a:r>
            <a:endParaRPr lang="en-US" sz="2000">
              <a:solidFill>
                <a:srgbClr val="FF0000"/>
              </a:solidFill>
            </a:endParaRPr>
          </a:p>
          <a:p>
            <a:r>
              <a:rPr lang="en-US" sz="2000">
                <a:solidFill>
                  <a:srgbClr val="FF0000"/>
                </a:solidFill>
                <a:ea typeface="+mn-lt"/>
                <a:cs typeface="+mn-lt"/>
              </a:rPr>
              <a:t>correlation between them</a:t>
            </a:r>
            <a:r>
              <a:rPr lang="en-US" sz="2800">
                <a:solidFill>
                  <a:srgbClr val="FF0000"/>
                </a:solidFill>
                <a:ea typeface="+mn-lt"/>
                <a:cs typeface="+mn-lt"/>
              </a:rPr>
              <a:t>.</a:t>
            </a:r>
            <a:endParaRPr lang="en-US">
              <a:solidFill>
                <a:srgbClr val="FF0000"/>
              </a:solidFill>
            </a:endParaRPr>
          </a:p>
          <a:p>
            <a:endParaRPr lang="en-US" dirty="0"/>
          </a:p>
        </p:txBody>
      </p:sp>
    </p:spTree>
    <p:extLst>
      <p:ext uri="{BB962C8B-B14F-4D97-AF65-F5344CB8AC3E}">
        <p14:creationId xmlns:p14="http://schemas.microsoft.com/office/powerpoint/2010/main" val="5147966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780CA-24D2-67CF-2171-835B04F9A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5BADF-9E3D-9101-98AB-43876030C438}"/>
              </a:ext>
            </a:extLst>
          </p:cNvPr>
          <p:cNvSpPr>
            <a:spLocks noGrp="1"/>
          </p:cNvSpPr>
          <p:nvPr>
            <p:ph type="title"/>
          </p:nvPr>
        </p:nvSpPr>
        <p:spPr/>
        <p:txBody>
          <a:bodyPr/>
          <a:lstStyle/>
          <a:p>
            <a:r>
              <a:rPr lang="en-US" dirty="0"/>
              <a:t>                                        </a:t>
            </a:r>
            <a:r>
              <a:rPr lang="en-US"/>
              <a:t>Methodology</a:t>
            </a:r>
            <a:endParaRPr lang="en-US">
              <a:solidFill>
                <a:srgbClr val="000000"/>
              </a:solidFill>
            </a:endParaRPr>
          </a:p>
          <a:p>
            <a:endParaRPr lang="en-US" dirty="0"/>
          </a:p>
        </p:txBody>
      </p:sp>
      <p:pic>
        <p:nvPicPr>
          <p:cNvPr id="5" name="Graphic 4" descr="Classroom with solid fill">
            <a:extLst>
              <a:ext uri="{FF2B5EF4-FFF2-40B4-BE49-F238E27FC236}">
                <a16:creationId xmlns:a16="http://schemas.microsoft.com/office/drawing/2014/main" id="{9AFEECBC-7064-4209-5371-9FDC8F41A02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54691" y="790183"/>
            <a:ext cx="914400" cy="914400"/>
          </a:xfrm>
          <a:prstGeom prst="rect">
            <a:avLst/>
          </a:prstGeom>
        </p:spPr>
      </p:pic>
      <p:pic>
        <p:nvPicPr>
          <p:cNvPr id="7" name="Graphic 6" descr="Bar chart with solid fill">
            <a:extLst>
              <a:ext uri="{FF2B5EF4-FFF2-40B4-BE49-F238E27FC236}">
                <a16:creationId xmlns:a16="http://schemas.microsoft.com/office/drawing/2014/main" id="{8ECDE0C6-B15C-7033-C62C-3F252FB084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90800" y="811060"/>
            <a:ext cx="914400" cy="914400"/>
          </a:xfrm>
          <a:prstGeom prst="rect">
            <a:avLst/>
          </a:prstGeom>
        </p:spPr>
      </p:pic>
      <p:sp>
        <p:nvSpPr>
          <p:cNvPr id="6" name="TextBox 5">
            <a:extLst>
              <a:ext uri="{FF2B5EF4-FFF2-40B4-BE49-F238E27FC236}">
                <a16:creationId xmlns:a16="http://schemas.microsoft.com/office/drawing/2014/main" id="{C2E286A2-F1C5-69EA-9D35-1435B63D5999}"/>
              </a:ext>
            </a:extLst>
          </p:cNvPr>
          <p:cNvSpPr txBox="1"/>
          <p:nvPr/>
        </p:nvSpPr>
        <p:spPr>
          <a:xfrm>
            <a:off x="476031" y="2100137"/>
            <a:ext cx="11326740" cy="826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1A8EE46D-532D-B0BC-498E-7EDBA934390B}"/>
              </a:ext>
            </a:extLst>
          </p:cNvPr>
          <p:cNvSpPr txBox="1"/>
          <p:nvPr/>
        </p:nvSpPr>
        <p:spPr>
          <a:xfrm>
            <a:off x="476031" y="2044133"/>
            <a:ext cx="11200732" cy="9660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D8D61541-F56D-7A5A-67E5-795CEC2A2254}"/>
              </a:ext>
            </a:extLst>
          </p:cNvPr>
          <p:cNvSpPr txBox="1"/>
          <p:nvPr/>
        </p:nvSpPr>
        <p:spPr>
          <a:xfrm>
            <a:off x="476031" y="1946127"/>
            <a:ext cx="11270736" cy="1512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0">
            <a:extLst>
              <a:ext uri="{FF2B5EF4-FFF2-40B4-BE49-F238E27FC236}">
                <a16:creationId xmlns:a16="http://schemas.microsoft.com/office/drawing/2014/main" id="{4E52A9BC-D1C5-7F3D-C869-C04B32C7362C}"/>
              </a:ext>
            </a:extLst>
          </p:cNvPr>
          <p:cNvSpPr txBox="1"/>
          <p:nvPr/>
        </p:nvSpPr>
        <p:spPr>
          <a:xfrm>
            <a:off x="448029" y="2058135"/>
            <a:ext cx="11340741"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rgbClr val="00B050"/>
                </a:solidFill>
              </a:rPr>
              <a:t>Relation between infant mortality rate , food given other than breastmilkwithin some days of birth and mother’s education level...(Contd)</a:t>
            </a:r>
            <a:endParaRPr lang="en-US" sz="2800"/>
          </a:p>
          <a:p>
            <a:pPr algn="l"/>
            <a:endParaRPr lang="en-US" sz="2800" dirty="0">
              <a:solidFill>
                <a:srgbClr val="00B050"/>
              </a:solidFill>
            </a:endParaRPr>
          </a:p>
          <a:p>
            <a:r>
              <a:rPr lang="en-US" sz="1600">
                <a:solidFill>
                  <a:srgbClr val="FF0000"/>
                </a:solidFill>
              </a:rPr>
              <a:t>Again have a look into the code:-</a:t>
            </a:r>
          </a:p>
          <a:p>
            <a:endParaRPr lang="en-US" dirty="0"/>
          </a:p>
        </p:txBody>
      </p:sp>
      <p:pic>
        <p:nvPicPr>
          <p:cNvPr id="12" name="Picture 11" descr="A screen shot of a computer program&#10;&#10;AI-generated content may be incorrect.">
            <a:extLst>
              <a:ext uri="{FF2B5EF4-FFF2-40B4-BE49-F238E27FC236}">
                <a16:creationId xmlns:a16="http://schemas.microsoft.com/office/drawing/2014/main" id="{06E40EB1-3000-FDB7-F5C3-ECDD76C34232}"/>
              </a:ext>
            </a:extLst>
          </p:cNvPr>
          <p:cNvPicPr>
            <a:picLocks noChangeAspect="1"/>
          </p:cNvPicPr>
          <p:nvPr/>
        </p:nvPicPr>
        <p:blipFill>
          <a:blip r:embed="rId6"/>
          <a:stretch>
            <a:fillRect/>
          </a:stretch>
        </p:blipFill>
        <p:spPr>
          <a:xfrm>
            <a:off x="4701304" y="3297084"/>
            <a:ext cx="7486650" cy="3562350"/>
          </a:xfrm>
          <a:prstGeom prst="rect">
            <a:avLst/>
          </a:prstGeom>
        </p:spPr>
      </p:pic>
      <p:pic>
        <p:nvPicPr>
          <p:cNvPr id="14" name="Content Placeholder 4" descr="Bar chart with solid fill">
            <a:extLst>
              <a:ext uri="{FF2B5EF4-FFF2-40B4-BE49-F238E27FC236}">
                <a16:creationId xmlns:a16="http://schemas.microsoft.com/office/drawing/2014/main" id="{2096B79D-FDCE-1D5E-72D2-7E4CA64B829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46074" y="794283"/>
            <a:ext cx="914400" cy="914400"/>
          </a:xfrm>
          <a:prstGeom prst="rect">
            <a:avLst/>
          </a:prstGeom>
        </p:spPr>
      </p:pic>
      <p:pic>
        <p:nvPicPr>
          <p:cNvPr id="16" name="Graphic 15" descr="Classroom with solid fill">
            <a:extLst>
              <a:ext uri="{FF2B5EF4-FFF2-40B4-BE49-F238E27FC236}">
                <a16:creationId xmlns:a16="http://schemas.microsoft.com/office/drawing/2014/main" id="{9C4978CE-09A6-03E6-7EBB-D624563504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0185748" y="706675"/>
            <a:ext cx="933189" cy="914400"/>
          </a:xfrm>
          <a:prstGeom prst="rect">
            <a:avLst/>
          </a:prstGeom>
        </p:spPr>
      </p:pic>
    </p:spTree>
    <p:extLst>
      <p:ext uri="{BB962C8B-B14F-4D97-AF65-F5344CB8AC3E}">
        <p14:creationId xmlns:p14="http://schemas.microsoft.com/office/powerpoint/2010/main" val="19548687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6ED0B-43FB-502E-DD7A-A18BEDA1B2A7}"/>
              </a:ext>
            </a:extLst>
          </p:cNvPr>
          <p:cNvSpPr>
            <a:spLocks noGrp="1"/>
          </p:cNvSpPr>
          <p:nvPr>
            <p:ph type="title"/>
          </p:nvPr>
        </p:nvSpPr>
        <p:spPr/>
        <p:txBody>
          <a:bodyPr/>
          <a:lstStyle/>
          <a:p>
            <a:r>
              <a:rPr lang="en-US"/>
              <a:t>                                    Salient findings</a:t>
            </a:r>
          </a:p>
        </p:txBody>
      </p:sp>
      <p:pic>
        <p:nvPicPr>
          <p:cNvPr id="4" name="Content Placeholder 3" descr="Research with solid fill">
            <a:extLst>
              <a:ext uri="{FF2B5EF4-FFF2-40B4-BE49-F238E27FC236}">
                <a16:creationId xmlns:a16="http://schemas.microsoft.com/office/drawing/2014/main" id="{E2BA3E58-5BE1-8EE8-F30A-AAB965C9D81F}"/>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091374" y="759591"/>
            <a:ext cx="914400" cy="914400"/>
          </a:xfrm>
          <a:prstGeom prst="rect">
            <a:avLst/>
          </a:prstGeom>
        </p:spPr>
      </p:pic>
      <p:pic>
        <p:nvPicPr>
          <p:cNvPr id="6" name="Content Placeholder 3" descr="Research with solid fill">
            <a:extLst>
              <a:ext uri="{FF2B5EF4-FFF2-40B4-BE49-F238E27FC236}">
                <a16:creationId xmlns:a16="http://schemas.microsoft.com/office/drawing/2014/main" id="{9998F263-D241-CC69-16CA-5CEC3BB9C8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2562391" y="743902"/>
            <a:ext cx="979394" cy="903195"/>
          </a:xfrm>
          <a:prstGeom prst="rect">
            <a:avLst/>
          </a:prstGeom>
        </p:spPr>
      </p:pic>
      <p:pic>
        <p:nvPicPr>
          <p:cNvPr id="8" name="Graphic 7" descr="Checklist with solid fill">
            <a:extLst>
              <a:ext uri="{FF2B5EF4-FFF2-40B4-BE49-F238E27FC236}">
                <a16:creationId xmlns:a16="http://schemas.microsoft.com/office/drawing/2014/main" id="{DD9C933E-3A8A-3313-04A5-E25F48EA835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6741" y="741829"/>
            <a:ext cx="914400" cy="914400"/>
          </a:xfrm>
          <a:prstGeom prst="rect">
            <a:avLst/>
          </a:prstGeom>
        </p:spPr>
      </p:pic>
      <p:pic>
        <p:nvPicPr>
          <p:cNvPr id="9" name="Graphic 8" descr="Checklist with solid fill">
            <a:extLst>
              <a:ext uri="{FF2B5EF4-FFF2-40B4-BE49-F238E27FC236}">
                <a16:creationId xmlns:a16="http://schemas.microsoft.com/office/drawing/2014/main" id="{BE4360B7-4325-29F7-7C6D-31A2DDD516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3329" y="741829"/>
            <a:ext cx="914400" cy="914400"/>
          </a:xfrm>
          <a:prstGeom prst="rect">
            <a:avLst/>
          </a:prstGeom>
        </p:spPr>
      </p:pic>
      <p:sp>
        <p:nvSpPr>
          <p:cNvPr id="10" name="TextBox 9">
            <a:extLst>
              <a:ext uri="{FF2B5EF4-FFF2-40B4-BE49-F238E27FC236}">
                <a16:creationId xmlns:a16="http://schemas.microsoft.com/office/drawing/2014/main" id="{AC9552F4-F2F0-B3E5-2A11-446BC5AFE4EF}"/>
              </a:ext>
            </a:extLst>
          </p:cNvPr>
          <p:cNvSpPr txBox="1"/>
          <p:nvPr/>
        </p:nvSpPr>
        <p:spPr>
          <a:xfrm>
            <a:off x="476031" y="2016131"/>
            <a:ext cx="111447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B050"/>
                </a:solidFill>
                <a:ea typeface="+mn-lt"/>
                <a:cs typeface="+mn-lt"/>
              </a:rPr>
              <a:t>First let us see the value of NMR,PNMR,IMR for UP and Maharashtra separately:-</a:t>
            </a:r>
            <a:endParaRPr lang="en-US">
              <a:solidFill>
                <a:srgbClr val="00B050"/>
              </a:solidFill>
            </a:endParaRPr>
          </a:p>
        </p:txBody>
      </p:sp>
      <p:pic>
        <p:nvPicPr>
          <p:cNvPr id="11" name="Picture 10" descr="A screenshot of a computer code&#10;&#10;AI-generated content may be incorrect.">
            <a:extLst>
              <a:ext uri="{FF2B5EF4-FFF2-40B4-BE49-F238E27FC236}">
                <a16:creationId xmlns:a16="http://schemas.microsoft.com/office/drawing/2014/main" id="{33EA61AC-3A80-4C38-6442-21F4A8F143A9}"/>
              </a:ext>
            </a:extLst>
          </p:cNvPr>
          <p:cNvPicPr>
            <a:picLocks noChangeAspect="1"/>
          </p:cNvPicPr>
          <p:nvPr/>
        </p:nvPicPr>
        <p:blipFill>
          <a:blip r:embed="rId6"/>
          <a:stretch>
            <a:fillRect/>
          </a:stretch>
        </p:blipFill>
        <p:spPr>
          <a:xfrm>
            <a:off x="2883662" y="2395994"/>
            <a:ext cx="5662678" cy="4362450"/>
          </a:xfrm>
          <a:prstGeom prst="rect">
            <a:avLst/>
          </a:prstGeom>
        </p:spPr>
      </p:pic>
    </p:spTree>
    <p:extLst>
      <p:ext uri="{BB962C8B-B14F-4D97-AF65-F5344CB8AC3E}">
        <p14:creationId xmlns:p14="http://schemas.microsoft.com/office/powerpoint/2010/main" val="3784186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90CBA-05CB-D04B-D774-693A25C3B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FBA3F3-CFBD-741A-5DF4-9608FA07EC2E}"/>
              </a:ext>
            </a:extLst>
          </p:cNvPr>
          <p:cNvSpPr>
            <a:spLocks noGrp="1"/>
          </p:cNvSpPr>
          <p:nvPr>
            <p:ph type="title"/>
          </p:nvPr>
        </p:nvSpPr>
        <p:spPr/>
        <p:txBody>
          <a:bodyPr/>
          <a:lstStyle/>
          <a:p>
            <a:r>
              <a:rPr lang="en-US"/>
              <a:t>                                    Salient findings</a:t>
            </a:r>
          </a:p>
        </p:txBody>
      </p:sp>
      <p:pic>
        <p:nvPicPr>
          <p:cNvPr id="4" name="Content Placeholder 3" descr="Research with solid fill">
            <a:extLst>
              <a:ext uri="{FF2B5EF4-FFF2-40B4-BE49-F238E27FC236}">
                <a16:creationId xmlns:a16="http://schemas.microsoft.com/office/drawing/2014/main" id="{05356EA6-46F1-A11D-CBC7-AE247520D483}"/>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091374" y="759591"/>
            <a:ext cx="914400" cy="914400"/>
          </a:xfrm>
          <a:prstGeom prst="rect">
            <a:avLst/>
          </a:prstGeom>
        </p:spPr>
      </p:pic>
      <p:pic>
        <p:nvPicPr>
          <p:cNvPr id="6" name="Content Placeholder 3" descr="Research with solid fill">
            <a:extLst>
              <a:ext uri="{FF2B5EF4-FFF2-40B4-BE49-F238E27FC236}">
                <a16:creationId xmlns:a16="http://schemas.microsoft.com/office/drawing/2014/main" id="{DEA2CDB8-1852-0D47-A0F7-21B757211A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2562391" y="743902"/>
            <a:ext cx="979394" cy="903195"/>
          </a:xfrm>
          <a:prstGeom prst="rect">
            <a:avLst/>
          </a:prstGeom>
        </p:spPr>
      </p:pic>
      <p:pic>
        <p:nvPicPr>
          <p:cNvPr id="8" name="Graphic 7" descr="Checklist with solid fill">
            <a:extLst>
              <a:ext uri="{FF2B5EF4-FFF2-40B4-BE49-F238E27FC236}">
                <a16:creationId xmlns:a16="http://schemas.microsoft.com/office/drawing/2014/main" id="{E86664BA-5DE3-4807-6911-22C9DAC7068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6741" y="741829"/>
            <a:ext cx="914400" cy="914400"/>
          </a:xfrm>
          <a:prstGeom prst="rect">
            <a:avLst/>
          </a:prstGeom>
        </p:spPr>
      </p:pic>
      <p:pic>
        <p:nvPicPr>
          <p:cNvPr id="9" name="Graphic 8" descr="Checklist with solid fill">
            <a:extLst>
              <a:ext uri="{FF2B5EF4-FFF2-40B4-BE49-F238E27FC236}">
                <a16:creationId xmlns:a16="http://schemas.microsoft.com/office/drawing/2014/main" id="{4095AE37-90DD-B93D-4116-B5D2AE816D3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3329" y="741829"/>
            <a:ext cx="914400" cy="914400"/>
          </a:xfrm>
          <a:prstGeom prst="rect">
            <a:avLst/>
          </a:prstGeom>
        </p:spPr>
      </p:pic>
      <p:sp>
        <p:nvSpPr>
          <p:cNvPr id="3" name="TextBox 2">
            <a:extLst>
              <a:ext uri="{FF2B5EF4-FFF2-40B4-BE49-F238E27FC236}">
                <a16:creationId xmlns:a16="http://schemas.microsoft.com/office/drawing/2014/main" id="{9A722379-8FBF-9476-C0AC-FB7DB657E23B}"/>
              </a:ext>
            </a:extLst>
          </p:cNvPr>
          <p:cNvSpPr txBox="1"/>
          <p:nvPr/>
        </p:nvSpPr>
        <p:spPr>
          <a:xfrm>
            <a:off x="434028" y="2002130"/>
            <a:ext cx="112847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B050"/>
                </a:solidFill>
                <a:ea typeface="+mn-lt"/>
                <a:cs typeface="+mn-lt"/>
              </a:rPr>
              <a:t>Now compare these results by plotting in a bar plot : -</a:t>
            </a:r>
            <a:endParaRPr lang="en-US">
              <a:solidFill>
                <a:srgbClr val="00B050"/>
              </a:solidFill>
            </a:endParaRPr>
          </a:p>
        </p:txBody>
      </p:sp>
      <p:pic>
        <p:nvPicPr>
          <p:cNvPr id="5" name="Picture 4" descr="A graph of blue and orange bars&#10;&#10;AI-generated content may be incorrect.">
            <a:extLst>
              <a:ext uri="{FF2B5EF4-FFF2-40B4-BE49-F238E27FC236}">
                <a16:creationId xmlns:a16="http://schemas.microsoft.com/office/drawing/2014/main" id="{52DC65B2-D6AD-6F4A-1DEE-67D5042F55F9}"/>
              </a:ext>
            </a:extLst>
          </p:cNvPr>
          <p:cNvPicPr>
            <a:picLocks noChangeAspect="1"/>
          </p:cNvPicPr>
          <p:nvPr/>
        </p:nvPicPr>
        <p:blipFill>
          <a:blip r:embed="rId6"/>
          <a:stretch>
            <a:fillRect/>
          </a:stretch>
        </p:blipFill>
        <p:spPr>
          <a:xfrm>
            <a:off x="2551860" y="2367243"/>
            <a:ext cx="7704602" cy="3524250"/>
          </a:xfrm>
          <a:prstGeom prst="rect">
            <a:avLst/>
          </a:prstGeom>
        </p:spPr>
      </p:pic>
    </p:spTree>
    <p:extLst>
      <p:ext uri="{BB962C8B-B14F-4D97-AF65-F5344CB8AC3E}">
        <p14:creationId xmlns:p14="http://schemas.microsoft.com/office/powerpoint/2010/main" val="31411479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6FE2-3616-F02F-94AB-49B34C495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4DF6D-DE58-7DED-315F-9DC2823A7D28}"/>
              </a:ext>
            </a:extLst>
          </p:cNvPr>
          <p:cNvSpPr>
            <a:spLocks noGrp="1"/>
          </p:cNvSpPr>
          <p:nvPr>
            <p:ph type="title"/>
          </p:nvPr>
        </p:nvSpPr>
        <p:spPr/>
        <p:txBody>
          <a:bodyPr/>
          <a:lstStyle/>
          <a:p>
            <a:r>
              <a:rPr lang="en-US"/>
              <a:t>                                    Salient findings</a:t>
            </a:r>
          </a:p>
        </p:txBody>
      </p:sp>
      <p:pic>
        <p:nvPicPr>
          <p:cNvPr id="4" name="Content Placeholder 3" descr="Research with solid fill">
            <a:extLst>
              <a:ext uri="{FF2B5EF4-FFF2-40B4-BE49-F238E27FC236}">
                <a16:creationId xmlns:a16="http://schemas.microsoft.com/office/drawing/2014/main" id="{1FC9B48A-F939-D725-170F-BE44E97A9E61}"/>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091374" y="759591"/>
            <a:ext cx="914400" cy="914400"/>
          </a:xfrm>
          <a:prstGeom prst="rect">
            <a:avLst/>
          </a:prstGeom>
        </p:spPr>
      </p:pic>
      <p:pic>
        <p:nvPicPr>
          <p:cNvPr id="6" name="Content Placeholder 3" descr="Research with solid fill">
            <a:extLst>
              <a:ext uri="{FF2B5EF4-FFF2-40B4-BE49-F238E27FC236}">
                <a16:creationId xmlns:a16="http://schemas.microsoft.com/office/drawing/2014/main" id="{D2CB64D4-5541-2102-DE78-F96ADFCA6B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2562391" y="743902"/>
            <a:ext cx="979394" cy="903195"/>
          </a:xfrm>
          <a:prstGeom prst="rect">
            <a:avLst/>
          </a:prstGeom>
        </p:spPr>
      </p:pic>
      <p:pic>
        <p:nvPicPr>
          <p:cNvPr id="8" name="Graphic 7" descr="Checklist with solid fill">
            <a:extLst>
              <a:ext uri="{FF2B5EF4-FFF2-40B4-BE49-F238E27FC236}">
                <a16:creationId xmlns:a16="http://schemas.microsoft.com/office/drawing/2014/main" id="{65E0E2B1-3DBD-16F8-D0E1-20EEAA1957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6741" y="741829"/>
            <a:ext cx="914400" cy="914400"/>
          </a:xfrm>
          <a:prstGeom prst="rect">
            <a:avLst/>
          </a:prstGeom>
        </p:spPr>
      </p:pic>
      <p:pic>
        <p:nvPicPr>
          <p:cNvPr id="9" name="Graphic 8" descr="Checklist with solid fill">
            <a:extLst>
              <a:ext uri="{FF2B5EF4-FFF2-40B4-BE49-F238E27FC236}">
                <a16:creationId xmlns:a16="http://schemas.microsoft.com/office/drawing/2014/main" id="{506D6A0F-8B97-962A-049C-9058B4B2BC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3329" y="741829"/>
            <a:ext cx="914400" cy="914400"/>
          </a:xfrm>
          <a:prstGeom prst="rect">
            <a:avLst/>
          </a:prstGeom>
        </p:spPr>
      </p:pic>
      <p:sp>
        <p:nvSpPr>
          <p:cNvPr id="3" name="TextBox 2">
            <a:extLst>
              <a:ext uri="{FF2B5EF4-FFF2-40B4-BE49-F238E27FC236}">
                <a16:creationId xmlns:a16="http://schemas.microsoft.com/office/drawing/2014/main" id="{D4143724-3355-F8A1-956D-2C3F76D10DF6}"/>
              </a:ext>
            </a:extLst>
          </p:cNvPr>
          <p:cNvSpPr txBox="1"/>
          <p:nvPr/>
        </p:nvSpPr>
        <p:spPr>
          <a:xfrm>
            <a:off x="476031" y="1988129"/>
            <a:ext cx="1132674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mn-lt"/>
                <a:cs typeface="+mn-lt"/>
              </a:rPr>
              <a:t>So in all of the infant death rates UP has higher rates than Maharashtra. This may have many reasons but</a:t>
            </a:r>
            <a:endParaRPr lang="en-US" sz="1600"/>
          </a:p>
          <a:p>
            <a:r>
              <a:rPr lang="en-US" sz="1600">
                <a:ea typeface="+mn-lt"/>
                <a:cs typeface="+mn-lt"/>
              </a:rPr>
              <a:t>from the data what suggests is that lack of proper caring of the child after birth may be one reason.A newborn’s stomach</a:t>
            </a:r>
            <a:endParaRPr lang="en-US" sz="1600"/>
          </a:p>
          <a:p>
            <a:r>
              <a:rPr lang="en-US" sz="1600">
                <a:ea typeface="+mn-lt"/>
                <a:cs typeface="+mn-lt"/>
              </a:rPr>
              <a:t>and intestines are still developing. They cannot digest or absorb nutrients from solid or even semisolid foods</a:t>
            </a:r>
            <a:endParaRPr lang="en-US" sz="1600"/>
          </a:p>
          <a:p>
            <a:r>
              <a:rPr lang="en-US" sz="1600">
                <a:ea typeface="+mn-lt"/>
                <a:cs typeface="+mn-lt"/>
              </a:rPr>
              <a:t>efficiently.Introducing other foods too early causes indigestion, diarrhea, and nutrient loss. So ,giving food</a:t>
            </a:r>
            <a:endParaRPr lang="en-US" sz="1600"/>
          </a:p>
          <a:p>
            <a:r>
              <a:rPr lang="en-US" sz="1600">
                <a:ea typeface="+mn-lt"/>
                <a:cs typeface="+mn-lt"/>
              </a:rPr>
              <a:t>other than breast milk may be one cause of this infant mortality rate. So, we check correlation between death</a:t>
            </a:r>
            <a:endParaRPr lang="en-US" sz="1600"/>
          </a:p>
          <a:p>
            <a:r>
              <a:rPr lang="en-US" sz="1600">
                <a:ea typeface="+mn-lt"/>
                <a:cs typeface="+mn-lt"/>
              </a:rPr>
              <a:t>and food consumed ( top 5 food consumed for each state) and got the following results :-</a:t>
            </a:r>
            <a:endParaRPr lang="en-US" sz="1600"/>
          </a:p>
        </p:txBody>
      </p:sp>
      <p:pic>
        <p:nvPicPr>
          <p:cNvPr id="7" name="Picture 6" descr="A screenshot of a computer code&#10;&#10;AI-generated content may be incorrect.">
            <a:extLst>
              <a:ext uri="{FF2B5EF4-FFF2-40B4-BE49-F238E27FC236}">
                <a16:creationId xmlns:a16="http://schemas.microsoft.com/office/drawing/2014/main" id="{685B0183-8379-A61E-A3C7-F1AB7B6D8364}"/>
              </a:ext>
            </a:extLst>
          </p:cNvPr>
          <p:cNvPicPr>
            <a:picLocks noChangeAspect="1"/>
          </p:cNvPicPr>
          <p:nvPr/>
        </p:nvPicPr>
        <p:blipFill>
          <a:blip r:embed="rId6"/>
          <a:srcRect t="4075" r="3579"/>
          <a:stretch>
            <a:fillRect/>
          </a:stretch>
        </p:blipFill>
        <p:spPr>
          <a:xfrm>
            <a:off x="995231" y="3573726"/>
            <a:ext cx="4502079" cy="3284276"/>
          </a:xfrm>
          <a:prstGeom prst="rect">
            <a:avLst/>
          </a:prstGeom>
        </p:spPr>
      </p:pic>
      <p:pic>
        <p:nvPicPr>
          <p:cNvPr id="10" name="Picture 9" descr="A screenshot of a computer code&#10;&#10;AI-generated content may be incorrect.">
            <a:extLst>
              <a:ext uri="{FF2B5EF4-FFF2-40B4-BE49-F238E27FC236}">
                <a16:creationId xmlns:a16="http://schemas.microsoft.com/office/drawing/2014/main" id="{42E93B61-57DC-FF8B-9697-CBF47F1066F5}"/>
              </a:ext>
            </a:extLst>
          </p:cNvPr>
          <p:cNvPicPr>
            <a:picLocks noChangeAspect="1"/>
          </p:cNvPicPr>
          <p:nvPr/>
        </p:nvPicPr>
        <p:blipFill>
          <a:blip r:embed="rId7"/>
          <a:stretch>
            <a:fillRect/>
          </a:stretch>
        </p:blipFill>
        <p:spPr>
          <a:xfrm>
            <a:off x="6136709" y="3449420"/>
            <a:ext cx="5002061" cy="3403818"/>
          </a:xfrm>
          <a:prstGeom prst="rect">
            <a:avLst/>
          </a:prstGeom>
        </p:spPr>
      </p:pic>
    </p:spTree>
    <p:extLst>
      <p:ext uri="{BB962C8B-B14F-4D97-AF65-F5344CB8AC3E}">
        <p14:creationId xmlns:p14="http://schemas.microsoft.com/office/powerpoint/2010/main" val="1595044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8553A-6821-7CEB-4884-4726407E5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91D2D-4A74-D4ED-0F5A-5F9FADA76871}"/>
              </a:ext>
            </a:extLst>
          </p:cNvPr>
          <p:cNvSpPr>
            <a:spLocks noGrp="1"/>
          </p:cNvSpPr>
          <p:nvPr>
            <p:ph type="title"/>
          </p:nvPr>
        </p:nvSpPr>
        <p:spPr/>
        <p:txBody>
          <a:bodyPr/>
          <a:lstStyle/>
          <a:p>
            <a:r>
              <a:rPr lang="en-US"/>
              <a:t>                                    Salient findings</a:t>
            </a:r>
          </a:p>
        </p:txBody>
      </p:sp>
      <p:pic>
        <p:nvPicPr>
          <p:cNvPr id="4" name="Content Placeholder 3" descr="Research with solid fill">
            <a:extLst>
              <a:ext uri="{FF2B5EF4-FFF2-40B4-BE49-F238E27FC236}">
                <a16:creationId xmlns:a16="http://schemas.microsoft.com/office/drawing/2014/main" id="{F202BBFC-F153-0F55-A812-92A01E21F1B5}"/>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091374" y="759591"/>
            <a:ext cx="914400" cy="914400"/>
          </a:xfrm>
          <a:prstGeom prst="rect">
            <a:avLst/>
          </a:prstGeom>
        </p:spPr>
      </p:pic>
      <p:pic>
        <p:nvPicPr>
          <p:cNvPr id="6" name="Content Placeholder 3" descr="Research with solid fill">
            <a:extLst>
              <a:ext uri="{FF2B5EF4-FFF2-40B4-BE49-F238E27FC236}">
                <a16:creationId xmlns:a16="http://schemas.microsoft.com/office/drawing/2014/main" id="{F1229BD5-9704-8B9D-C5E0-E937DB21BB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2562391" y="743902"/>
            <a:ext cx="979394" cy="903195"/>
          </a:xfrm>
          <a:prstGeom prst="rect">
            <a:avLst/>
          </a:prstGeom>
        </p:spPr>
      </p:pic>
      <p:pic>
        <p:nvPicPr>
          <p:cNvPr id="8" name="Graphic 7" descr="Checklist with solid fill">
            <a:extLst>
              <a:ext uri="{FF2B5EF4-FFF2-40B4-BE49-F238E27FC236}">
                <a16:creationId xmlns:a16="http://schemas.microsoft.com/office/drawing/2014/main" id="{C718D577-3581-91BD-930A-9AD8D4BAF40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6741" y="741829"/>
            <a:ext cx="914400" cy="914400"/>
          </a:xfrm>
          <a:prstGeom prst="rect">
            <a:avLst/>
          </a:prstGeom>
        </p:spPr>
      </p:pic>
      <p:pic>
        <p:nvPicPr>
          <p:cNvPr id="9" name="Graphic 8" descr="Checklist with solid fill">
            <a:extLst>
              <a:ext uri="{FF2B5EF4-FFF2-40B4-BE49-F238E27FC236}">
                <a16:creationId xmlns:a16="http://schemas.microsoft.com/office/drawing/2014/main" id="{8E5F7468-2F00-682C-FF80-2C08C3BFF4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3329" y="741829"/>
            <a:ext cx="914400" cy="914400"/>
          </a:xfrm>
          <a:prstGeom prst="rect">
            <a:avLst/>
          </a:prstGeom>
        </p:spPr>
      </p:pic>
      <p:sp>
        <p:nvSpPr>
          <p:cNvPr id="3" name="TextBox 2">
            <a:extLst>
              <a:ext uri="{FF2B5EF4-FFF2-40B4-BE49-F238E27FC236}">
                <a16:creationId xmlns:a16="http://schemas.microsoft.com/office/drawing/2014/main" id="{4922F7E3-D021-78AB-21AF-5F5587CCE51B}"/>
              </a:ext>
            </a:extLst>
          </p:cNvPr>
          <p:cNvSpPr txBox="1"/>
          <p:nvPr/>
        </p:nvSpPr>
        <p:spPr>
          <a:xfrm>
            <a:off x="448029" y="2002130"/>
            <a:ext cx="11354742" cy="4802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DBBEBA76-8C8D-65AB-F45E-B779D0B0E554}"/>
              </a:ext>
            </a:extLst>
          </p:cNvPr>
          <p:cNvSpPr txBox="1"/>
          <p:nvPr/>
        </p:nvSpPr>
        <p:spPr>
          <a:xfrm>
            <a:off x="448029" y="2002131"/>
            <a:ext cx="1132674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F0000"/>
                </a:solidFill>
                <a:ea typeface="+mn-lt"/>
                <a:cs typeface="+mn-lt"/>
              </a:rPr>
              <a:t>One Natural Question ? </a:t>
            </a:r>
          </a:p>
          <a:p>
            <a:endParaRPr lang="en-US" sz="2400" dirty="0">
              <a:solidFill>
                <a:srgbClr val="FF0000"/>
              </a:solidFill>
              <a:ea typeface="+mn-lt"/>
              <a:cs typeface="+mn-lt"/>
            </a:endParaRPr>
          </a:p>
          <a:p>
            <a:r>
              <a:rPr lang="en-US">
                <a:ea typeface="+mn-lt"/>
                <a:cs typeface="+mn-lt"/>
              </a:rPr>
              <a:t>Now after calculating correlation we observe that in all the cases the correlation is too low or negative in</a:t>
            </a:r>
            <a:endParaRPr lang="en-US"/>
          </a:p>
          <a:p>
            <a:r>
              <a:rPr lang="en-US">
                <a:ea typeface="+mn-lt"/>
                <a:cs typeface="+mn-lt"/>
              </a:rPr>
              <a:t>also some cases. So this implies that relation between the child is alive or not and food other than breast milk</a:t>
            </a:r>
            <a:endParaRPr lang="en-US"/>
          </a:p>
          <a:p>
            <a:r>
              <a:rPr lang="en-US">
                <a:ea typeface="+mn-lt"/>
                <a:cs typeface="+mn-lt"/>
              </a:rPr>
              <a:t>given within 3 days is negatively correlated. This means food consumed other than breast milk within 3 days</a:t>
            </a:r>
            <a:endParaRPr lang="en-US"/>
          </a:p>
          <a:p>
            <a:r>
              <a:rPr lang="en-US">
                <a:ea typeface="+mn-lt"/>
                <a:cs typeface="+mn-lt"/>
              </a:rPr>
              <a:t>of birth may cause infant mortality and hence can increase infant mortality rate.</a:t>
            </a:r>
            <a:endParaRPr lang="en-US"/>
          </a:p>
          <a:p>
            <a:endParaRPr lang="en-US" dirty="0">
              <a:ea typeface="+mn-lt"/>
              <a:cs typeface="+mn-lt"/>
            </a:endParaRPr>
          </a:p>
          <a:p>
            <a:r>
              <a:rPr lang="en-US">
                <a:ea typeface="+mn-lt"/>
                <a:cs typeface="+mn-lt"/>
              </a:rPr>
              <a:t>After this the natural question which arise is that why the parents give these type of food to their new</a:t>
            </a:r>
            <a:endParaRPr lang="en-US"/>
          </a:p>
          <a:p>
            <a:r>
              <a:rPr lang="en-US">
                <a:ea typeface="+mn-lt"/>
                <a:cs typeface="+mn-lt"/>
              </a:rPr>
              <a:t>born childrens ? This occurs may be due to mother with low or no formal education often don’t know</a:t>
            </a:r>
            <a:endParaRPr lang="en-US"/>
          </a:p>
          <a:p>
            <a:r>
              <a:rPr lang="en-US">
                <a:ea typeface="+mn-lt"/>
                <a:cs typeface="+mn-lt"/>
              </a:rPr>
              <a:t>that exclusive breastfeeding (only breast milk for 6 months) is scientifically recommended by WHO and</a:t>
            </a:r>
            <a:endParaRPr lang="en-US"/>
          </a:p>
          <a:p>
            <a:r>
              <a:rPr lang="en-US">
                <a:ea typeface="+mn-lt"/>
                <a:cs typeface="+mn-lt"/>
              </a:rPr>
              <a:t>UNICEF.  They may believe that babies need water, cow’s milk, or semi-solid food early to grow properly. This</a:t>
            </a:r>
            <a:endParaRPr lang="en-US"/>
          </a:p>
          <a:p>
            <a:r>
              <a:rPr lang="en-US">
                <a:ea typeface="+mn-lt"/>
                <a:cs typeface="+mn-lt"/>
              </a:rPr>
              <a:t>misunderstanding directly leads to unsafe feeding and higher infant illness. So this encourages us to test if</a:t>
            </a:r>
            <a:endParaRPr lang="en-US"/>
          </a:p>
          <a:p>
            <a:r>
              <a:rPr lang="en-US">
                <a:ea typeface="+mn-lt"/>
                <a:cs typeface="+mn-lt"/>
              </a:rPr>
              <a:t>there is a significant relation between Infantmortality rate , food given other than breast milk within some</a:t>
            </a:r>
            <a:endParaRPr lang="en-US"/>
          </a:p>
          <a:p>
            <a:r>
              <a:rPr lang="en-US">
                <a:ea typeface="+mn-lt"/>
                <a:cs typeface="+mn-lt"/>
              </a:rPr>
              <a:t>days of birth andmother’s education level. We obtain the following results : -</a:t>
            </a:r>
            <a:endParaRPr lang="en-US"/>
          </a:p>
        </p:txBody>
      </p:sp>
      <p:pic>
        <p:nvPicPr>
          <p:cNvPr id="7" name="Graphic 6" descr="Thought bubble with solid fill">
            <a:extLst>
              <a:ext uri="{FF2B5EF4-FFF2-40B4-BE49-F238E27FC236}">
                <a16:creationId xmlns:a16="http://schemas.microsoft.com/office/drawing/2014/main" id="{77E5BFB8-7F9F-6F5F-848A-A0E37C3F61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45859" y="1817594"/>
            <a:ext cx="914400" cy="914400"/>
          </a:xfrm>
          <a:prstGeom prst="rect">
            <a:avLst/>
          </a:prstGeom>
        </p:spPr>
      </p:pic>
    </p:spTree>
    <p:extLst>
      <p:ext uri="{BB962C8B-B14F-4D97-AF65-F5344CB8AC3E}">
        <p14:creationId xmlns:p14="http://schemas.microsoft.com/office/powerpoint/2010/main" val="35618158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5A370-2ABA-755D-B5AB-AB00B3F7E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57C731-2861-33CC-B929-8C0B15E1CC75}"/>
              </a:ext>
            </a:extLst>
          </p:cNvPr>
          <p:cNvSpPr>
            <a:spLocks noGrp="1"/>
          </p:cNvSpPr>
          <p:nvPr>
            <p:ph type="title"/>
          </p:nvPr>
        </p:nvSpPr>
        <p:spPr/>
        <p:txBody>
          <a:bodyPr/>
          <a:lstStyle/>
          <a:p>
            <a:r>
              <a:rPr lang="en-US"/>
              <a:t>                                    Salient findings</a:t>
            </a:r>
          </a:p>
        </p:txBody>
      </p:sp>
      <p:pic>
        <p:nvPicPr>
          <p:cNvPr id="4" name="Content Placeholder 3" descr="Research with solid fill">
            <a:extLst>
              <a:ext uri="{FF2B5EF4-FFF2-40B4-BE49-F238E27FC236}">
                <a16:creationId xmlns:a16="http://schemas.microsoft.com/office/drawing/2014/main" id="{8693E37D-81F0-3BA4-E925-2BC6EB1AF0F8}"/>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091374" y="759591"/>
            <a:ext cx="914400" cy="914400"/>
          </a:xfrm>
          <a:prstGeom prst="rect">
            <a:avLst/>
          </a:prstGeom>
        </p:spPr>
      </p:pic>
      <p:pic>
        <p:nvPicPr>
          <p:cNvPr id="6" name="Content Placeholder 3" descr="Research with solid fill">
            <a:extLst>
              <a:ext uri="{FF2B5EF4-FFF2-40B4-BE49-F238E27FC236}">
                <a16:creationId xmlns:a16="http://schemas.microsoft.com/office/drawing/2014/main" id="{4EAFECCF-D784-8EE6-2F5E-220DB68B76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2562391" y="743902"/>
            <a:ext cx="979394" cy="903195"/>
          </a:xfrm>
          <a:prstGeom prst="rect">
            <a:avLst/>
          </a:prstGeom>
        </p:spPr>
      </p:pic>
      <p:pic>
        <p:nvPicPr>
          <p:cNvPr id="8" name="Graphic 7" descr="Checklist with solid fill">
            <a:extLst>
              <a:ext uri="{FF2B5EF4-FFF2-40B4-BE49-F238E27FC236}">
                <a16:creationId xmlns:a16="http://schemas.microsoft.com/office/drawing/2014/main" id="{35FD42ED-4104-30B5-2F84-4B6D326EBC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6741" y="741829"/>
            <a:ext cx="914400" cy="914400"/>
          </a:xfrm>
          <a:prstGeom prst="rect">
            <a:avLst/>
          </a:prstGeom>
        </p:spPr>
      </p:pic>
      <p:pic>
        <p:nvPicPr>
          <p:cNvPr id="9" name="Graphic 8" descr="Checklist with solid fill">
            <a:extLst>
              <a:ext uri="{FF2B5EF4-FFF2-40B4-BE49-F238E27FC236}">
                <a16:creationId xmlns:a16="http://schemas.microsoft.com/office/drawing/2014/main" id="{D9263313-9792-6ACB-767B-E7D2C7B65AD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3329" y="741829"/>
            <a:ext cx="914400" cy="914400"/>
          </a:xfrm>
          <a:prstGeom prst="rect">
            <a:avLst/>
          </a:prstGeom>
        </p:spPr>
      </p:pic>
      <p:pic>
        <p:nvPicPr>
          <p:cNvPr id="10" name="Picture 9" descr="A white paper with blue text&#10;&#10;AI-generated content may be incorrect.">
            <a:extLst>
              <a:ext uri="{FF2B5EF4-FFF2-40B4-BE49-F238E27FC236}">
                <a16:creationId xmlns:a16="http://schemas.microsoft.com/office/drawing/2014/main" id="{525C02F0-3707-BAE1-420A-48C437D6853F}"/>
              </a:ext>
            </a:extLst>
          </p:cNvPr>
          <p:cNvPicPr>
            <a:picLocks noChangeAspect="1"/>
          </p:cNvPicPr>
          <p:nvPr/>
        </p:nvPicPr>
        <p:blipFill>
          <a:blip r:embed="rId6"/>
          <a:stretch>
            <a:fillRect/>
          </a:stretch>
        </p:blipFill>
        <p:spPr>
          <a:xfrm>
            <a:off x="584483" y="2094652"/>
            <a:ext cx="6638925" cy="2105025"/>
          </a:xfrm>
          <a:prstGeom prst="rect">
            <a:avLst/>
          </a:prstGeom>
        </p:spPr>
      </p:pic>
      <p:pic>
        <p:nvPicPr>
          <p:cNvPr id="12" name="Picture 11" descr="A screenshot of a computer code&#10;&#10;AI-generated content may be incorrect.">
            <a:extLst>
              <a:ext uri="{FF2B5EF4-FFF2-40B4-BE49-F238E27FC236}">
                <a16:creationId xmlns:a16="http://schemas.microsoft.com/office/drawing/2014/main" id="{24465BDF-317F-1BFA-340D-DB436A80DC6B}"/>
              </a:ext>
            </a:extLst>
          </p:cNvPr>
          <p:cNvPicPr>
            <a:picLocks noChangeAspect="1"/>
          </p:cNvPicPr>
          <p:nvPr/>
        </p:nvPicPr>
        <p:blipFill>
          <a:blip r:embed="rId7"/>
          <a:stretch>
            <a:fillRect/>
          </a:stretch>
        </p:blipFill>
        <p:spPr>
          <a:xfrm>
            <a:off x="586048" y="4460505"/>
            <a:ext cx="7324725" cy="2028825"/>
          </a:xfrm>
          <a:prstGeom prst="rect">
            <a:avLst/>
          </a:prstGeom>
        </p:spPr>
      </p:pic>
    </p:spTree>
    <p:extLst>
      <p:ext uri="{BB962C8B-B14F-4D97-AF65-F5344CB8AC3E}">
        <p14:creationId xmlns:p14="http://schemas.microsoft.com/office/powerpoint/2010/main" val="29861673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0F961-7BF5-18AB-1CD4-57945971CF14}"/>
              </a:ext>
            </a:extLst>
          </p:cNvPr>
          <p:cNvSpPr>
            <a:spLocks noGrp="1"/>
          </p:cNvSpPr>
          <p:nvPr>
            <p:ph type="title"/>
          </p:nvPr>
        </p:nvSpPr>
        <p:spPr/>
        <p:txBody>
          <a:bodyPr/>
          <a:lstStyle/>
          <a:p>
            <a:r>
              <a:rPr lang="en-US"/>
              <a:t>                                         Discussion</a:t>
            </a:r>
          </a:p>
        </p:txBody>
      </p:sp>
      <p:sp>
        <p:nvSpPr>
          <p:cNvPr id="5" name="TextBox 4">
            <a:extLst>
              <a:ext uri="{FF2B5EF4-FFF2-40B4-BE49-F238E27FC236}">
                <a16:creationId xmlns:a16="http://schemas.microsoft.com/office/drawing/2014/main" id="{E203FB5A-25FD-141B-C9AA-DAA11EC066EF}"/>
              </a:ext>
            </a:extLst>
          </p:cNvPr>
          <p:cNvSpPr txBox="1"/>
          <p:nvPr/>
        </p:nvSpPr>
        <p:spPr>
          <a:xfrm>
            <a:off x="476030" y="2058134"/>
            <a:ext cx="11312739" cy="36625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So here also we find that partial correlation between deaths of infants and education level of mother given food other than breast milk given within 3 days is negatively correlated which means mother’s education level has significant impact on reducing infantmortality. If a mother has good education then she must know about her child’s proper diet. Also good health means reduction in infant mortality. </a:t>
            </a:r>
            <a:endParaRPr lang="en-US">
              <a:solidFill>
                <a:srgbClr val="000000"/>
              </a:solidFill>
              <a:ea typeface="+mn-lt"/>
              <a:cs typeface="+mn-lt"/>
            </a:endParaRPr>
          </a:p>
          <a:p>
            <a:endParaRPr lang="en-US" sz="2000" b="1" dirty="0">
              <a:solidFill>
                <a:srgbClr val="FF0000"/>
              </a:solidFill>
              <a:ea typeface="+mn-lt"/>
              <a:cs typeface="+mn-lt"/>
            </a:endParaRPr>
          </a:p>
          <a:p>
            <a:r>
              <a:rPr lang="en-US" sz="2000" b="1">
                <a:solidFill>
                  <a:srgbClr val="FF0000"/>
                </a:solidFill>
                <a:ea typeface="+mn-lt"/>
                <a:cs typeface="+mn-lt"/>
              </a:rPr>
              <a:t>Reasons for Higher Infant Mortality in Uttar Pradesh than in Maharashtra:-</a:t>
            </a:r>
            <a:endParaRPr lang="en-US"/>
          </a:p>
          <a:p>
            <a:endParaRPr lang="en-US" sz="2000" b="1" dirty="0">
              <a:solidFill>
                <a:srgbClr val="FF0000"/>
              </a:solidFill>
            </a:endParaRPr>
          </a:p>
          <a:p>
            <a:r>
              <a:rPr lang="en-US" sz="2000">
                <a:solidFill>
                  <a:srgbClr val="0070C0"/>
                </a:solidFill>
                <a:ea typeface="+mn-lt"/>
                <a:cs typeface="+mn-lt"/>
              </a:rPr>
              <a:t>1.</a:t>
            </a:r>
            <a:r>
              <a:rPr lang="en-US" sz="2000" dirty="0">
                <a:solidFill>
                  <a:srgbClr val="92D050"/>
                </a:solidFill>
                <a:ea typeface="+mn-lt"/>
                <a:cs typeface="+mn-lt"/>
              </a:rPr>
              <a:t>  </a:t>
            </a:r>
            <a:r>
              <a:rPr lang="en-US" sz="2000">
                <a:solidFill>
                  <a:srgbClr val="0070C0"/>
                </a:solidFill>
                <a:latin typeface="Bookman Old Style"/>
                <a:ea typeface="+mn-lt"/>
                <a:cs typeface="+mn-lt"/>
              </a:rPr>
              <a:t>Healthcare Infrastructure and Access</a:t>
            </a:r>
          </a:p>
          <a:p>
            <a:r>
              <a:rPr lang="en-US" sz="2000">
                <a:solidFill>
                  <a:srgbClr val="0070C0"/>
                </a:solidFill>
                <a:latin typeface="Bookman Old Style"/>
                <a:ea typeface="+mn-lt"/>
                <a:cs typeface="+mn-lt"/>
              </a:rPr>
              <a:t>2.  Socioeconomic Factors</a:t>
            </a:r>
          </a:p>
          <a:p>
            <a:r>
              <a:rPr lang="en-US" sz="2000">
                <a:solidFill>
                  <a:srgbClr val="0070C0"/>
                </a:solidFill>
                <a:latin typeface="Bookman Old Style"/>
              </a:rPr>
              <a:t>3.</a:t>
            </a:r>
            <a:r>
              <a:rPr lang="en-US" sz="2000">
                <a:solidFill>
                  <a:srgbClr val="0070C0"/>
                </a:solidFill>
                <a:latin typeface="Bookman Old Style"/>
                <a:ea typeface="+mn-lt"/>
                <a:cs typeface="+mn-lt"/>
              </a:rPr>
              <a:t> Cultural and Behavioral Factors</a:t>
            </a:r>
          </a:p>
          <a:p>
            <a:r>
              <a:rPr lang="en-US" sz="2000">
                <a:solidFill>
                  <a:srgbClr val="0070C0"/>
                </a:solidFill>
                <a:latin typeface="Bookman Old Style"/>
              </a:rPr>
              <a:t>4.</a:t>
            </a:r>
            <a:r>
              <a:rPr lang="en-US" sz="2000">
                <a:solidFill>
                  <a:srgbClr val="0070C0"/>
                </a:solidFill>
                <a:latin typeface="Bookman Old Style"/>
                <a:ea typeface="+mn-lt"/>
                <a:cs typeface="+mn-lt"/>
              </a:rPr>
              <a:t> Implementation of Government Programs</a:t>
            </a:r>
          </a:p>
          <a:p>
            <a:r>
              <a:rPr lang="en-US" sz="2000">
                <a:solidFill>
                  <a:srgbClr val="0070C0"/>
                </a:solidFill>
                <a:latin typeface="Bookman Old Style"/>
              </a:rPr>
              <a:t>5.</a:t>
            </a:r>
            <a:r>
              <a:rPr lang="en-US" sz="2000">
                <a:solidFill>
                  <a:srgbClr val="0070C0"/>
                </a:solidFill>
                <a:latin typeface="Bookman Old Style"/>
                <a:ea typeface="+mn-lt"/>
                <a:cs typeface="+mn-lt"/>
              </a:rPr>
              <a:t> Urbanization and Infrastructure</a:t>
            </a:r>
            <a:endParaRPr lang="en-US" sz="2000">
              <a:solidFill>
                <a:srgbClr val="0070C0"/>
              </a:solidFill>
              <a:latin typeface="Bookman Old Style"/>
            </a:endParaRPr>
          </a:p>
        </p:txBody>
      </p:sp>
      <p:pic>
        <p:nvPicPr>
          <p:cNvPr id="6" name="Graphic 5" descr="Meeting with solid fill">
            <a:extLst>
              <a:ext uri="{FF2B5EF4-FFF2-40B4-BE49-F238E27FC236}">
                <a16:creationId xmlns:a16="http://schemas.microsoft.com/office/drawing/2014/main" id="{1409B20B-133A-F143-527A-DD26973969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05622" y="706677"/>
            <a:ext cx="914400" cy="914400"/>
          </a:xfrm>
          <a:prstGeom prst="rect">
            <a:avLst/>
          </a:prstGeom>
        </p:spPr>
      </p:pic>
      <p:pic>
        <p:nvPicPr>
          <p:cNvPr id="7" name="Graphic 6" descr="Boardroom with solid fill">
            <a:extLst>
              <a:ext uri="{FF2B5EF4-FFF2-40B4-BE49-F238E27FC236}">
                <a16:creationId xmlns:a16="http://schemas.microsoft.com/office/drawing/2014/main" id="{FCD81A12-A6F9-8DD1-B990-A37B2D6A0C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33428" y="703415"/>
            <a:ext cx="914400" cy="914400"/>
          </a:xfrm>
          <a:prstGeom prst="rect">
            <a:avLst/>
          </a:prstGeom>
        </p:spPr>
      </p:pic>
      <p:pic>
        <p:nvPicPr>
          <p:cNvPr id="8" name="Graphic 7" descr="Boardroom with solid fill">
            <a:extLst>
              <a:ext uri="{FF2B5EF4-FFF2-40B4-BE49-F238E27FC236}">
                <a16:creationId xmlns:a16="http://schemas.microsoft.com/office/drawing/2014/main" id="{A020F9FC-195A-6B3B-1863-9029C5C8FB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3099" y="703415"/>
            <a:ext cx="914400" cy="914400"/>
          </a:xfrm>
          <a:prstGeom prst="rect">
            <a:avLst/>
          </a:prstGeom>
        </p:spPr>
      </p:pic>
      <p:pic>
        <p:nvPicPr>
          <p:cNvPr id="9" name="Graphic 8" descr="Meeting with solid fill">
            <a:extLst>
              <a:ext uri="{FF2B5EF4-FFF2-40B4-BE49-F238E27FC236}">
                <a16:creationId xmlns:a16="http://schemas.microsoft.com/office/drawing/2014/main" id="{60AF6404-32C1-BA05-9568-007A1403B1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84717" y="706677"/>
            <a:ext cx="914400" cy="914400"/>
          </a:xfrm>
          <a:prstGeom prst="rect">
            <a:avLst/>
          </a:prstGeom>
        </p:spPr>
      </p:pic>
    </p:spTree>
    <p:extLst>
      <p:ext uri="{BB962C8B-B14F-4D97-AF65-F5344CB8AC3E}">
        <p14:creationId xmlns:p14="http://schemas.microsoft.com/office/powerpoint/2010/main" val="38320775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4DF7F-CED4-0AB5-EE1D-F2B60E54F640}"/>
              </a:ext>
            </a:extLst>
          </p:cNvPr>
          <p:cNvSpPr>
            <a:spLocks noGrp="1"/>
          </p:cNvSpPr>
          <p:nvPr>
            <p:ph type="title"/>
          </p:nvPr>
        </p:nvSpPr>
        <p:spPr/>
        <p:txBody>
          <a:bodyPr/>
          <a:lstStyle/>
          <a:p>
            <a:r>
              <a:rPr lang="en-US"/>
              <a:t>                                         Conclusion</a:t>
            </a:r>
          </a:p>
        </p:txBody>
      </p:sp>
      <p:sp>
        <p:nvSpPr>
          <p:cNvPr id="4" name="TextBox 3">
            <a:extLst>
              <a:ext uri="{FF2B5EF4-FFF2-40B4-BE49-F238E27FC236}">
                <a16:creationId xmlns:a16="http://schemas.microsoft.com/office/drawing/2014/main" id="{11076715-7AA3-4548-B644-79B030E928EC}"/>
              </a:ext>
            </a:extLst>
          </p:cNvPr>
          <p:cNvSpPr txBox="1"/>
          <p:nvPr/>
        </p:nvSpPr>
        <p:spPr>
          <a:xfrm>
            <a:off x="476030" y="2058134"/>
            <a:ext cx="7518491"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In summary, the higher infant mortality rate in Uttar Pradesh results from poor healthcare access, lower maternal education and nutrition, inadequate sanitation, and weaker implementation of health programs. To overcome this situation, it is essential to strengthen primary healthcare infrastructure, ensure timely maternal and child health services, and improve access to institutional deliveries and neonatal care. Increasing female education and awareness about hygiene, nutrition, and immunization can significantly reduce infant deaths. Effective implementation andmonitoring of government schemes such as the National Health Mission and POSHAN Abhiyaan are also crucial.</a:t>
            </a:r>
          </a:p>
          <a:p>
            <a:endParaRPr lang="en-US" dirty="0"/>
          </a:p>
          <a:p>
            <a:endParaRPr lang="en-US" dirty="0"/>
          </a:p>
          <a:p>
            <a:r>
              <a:rPr lang="en-US">
                <a:solidFill>
                  <a:srgbClr val="FF0000"/>
                </a:solidFill>
                <a:ea typeface="+mn-lt"/>
                <a:cs typeface="+mn-lt"/>
              </a:rPr>
              <a:t>A combined effort of government, community participation, and awareness</a:t>
            </a:r>
            <a:endParaRPr lang="en-US">
              <a:solidFill>
                <a:srgbClr val="FF0000"/>
              </a:solidFill>
            </a:endParaRPr>
          </a:p>
          <a:p>
            <a:r>
              <a:rPr lang="en-US">
                <a:solidFill>
                  <a:srgbClr val="FF0000"/>
                </a:solidFill>
                <a:ea typeface="+mn-lt"/>
                <a:cs typeface="+mn-lt"/>
              </a:rPr>
              <a:t>campaigns can help Uttar Pradesh achieve lower infantmortality and better overall health outcomes, similar to Maharashtra.</a:t>
            </a:r>
            <a:endParaRPr lang="en-US">
              <a:solidFill>
                <a:srgbClr val="FF0000"/>
              </a:solidFill>
            </a:endParaRPr>
          </a:p>
        </p:txBody>
      </p:sp>
      <p:pic>
        <p:nvPicPr>
          <p:cNvPr id="5" name="Graphic 4" descr="Children with solid fill">
            <a:extLst>
              <a:ext uri="{FF2B5EF4-FFF2-40B4-BE49-F238E27FC236}">
                <a16:creationId xmlns:a16="http://schemas.microsoft.com/office/drawing/2014/main" id="{C82F7B7B-23F6-FDBC-7FBA-BCA9694F49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44536" y="2669242"/>
            <a:ext cx="2404782" cy="2404782"/>
          </a:xfrm>
          <a:prstGeom prst="rect">
            <a:avLst/>
          </a:prstGeom>
        </p:spPr>
      </p:pic>
      <p:pic>
        <p:nvPicPr>
          <p:cNvPr id="8" name="Graphic 7" descr="Cheers with solid fill">
            <a:extLst>
              <a:ext uri="{FF2B5EF4-FFF2-40B4-BE49-F238E27FC236}">
                <a16:creationId xmlns:a16="http://schemas.microsoft.com/office/drawing/2014/main" id="{0C1EC910-38B2-6D52-6ACD-408D08603D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25653" y="797859"/>
            <a:ext cx="914400" cy="914400"/>
          </a:xfrm>
          <a:prstGeom prst="rect">
            <a:avLst/>
          </a:prstGeom>
        </p:spPr>
      </p:pic>
      <p:pic>
        <p:nvPicPr>
          <p:cNvPr id="9" name="Graphic 8" descr="Cheers with solid fill">
            <a:extLst>
              <a:ext uri="{FF2B5EF4-FFF2-40B4-BE49-F238E27FC236}">
                <a16:creationId xmlns:a16="http://schemas.microsoft.com/office/drawing/2014/main" id="{C3EDA2F0-F073-65C5-6446-F833D3C42AF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50241" y="741829"/>
            <a:ext cx="914400" cy="914400"/>
          </a:xfrm>
          <a:prstGeom prst="rect">
            <a:avLst/>
          </a:prstGeom>
        </p:spPr>
      </p:pic>
      <p:pic>
        <p:nvPicPr>
          <p:cNvPr id="10" name="Graphic 9" descr="Cheers with solid fill">
            <a:extLst>
              <a:ext uri="{FF2B5EF4-FFF2-40B4-BE49-F238E27FC236}">
                <a16:creationId xmlns:a16="http://schemas.microsoft.com/office/drawing/2014/main" id="{5EC6A510-03AC-4B17-1C26-4156251F14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94476" y="797858"/>
            <a:ext cx="914400" cy="914400"/>
          </a:xfrm>
          <a:prstGeom prst="rect">
            <a:avLst/>
          </a:prstGeom>
        </p:spPr>
      </p:pic>
      <p:pic>
        <p:nvPicPr>
          <p:cNvPr id="11" name="Graphic 10" descr="Cheers with solid fill">
            <a:extLst>
              <a:ext uri="{FF2B5EF4-FFF2-40B4-BE49-F238E27FC236}">
                <a16:creationId xmlns:a16="http://schemas.microsoft.com/office/drawing/2014/main" id="{E6F4432B-0FC2-83D6-3C18-FEFCE0CF28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0064" y="786653"/>
            <a:ext cx="914400" cy="914400"/>
          </a:xfrm>
          <a:prstGeom prst="rect">
            <a:avLst/>
          </a:prstGeom>
        </p:spPr>
      </p:pic>
    </p:spTree>
    <p:extLst>
      <p:ext uri="{BB962C8B-B14F-4D97-AF65-F5344CB8AC3E}">
        <p14:creationId xmlns:p14="http://schemas.microsoft.com/office/powerpoint/2010/main" val="28572958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48019-9D4D-FFB8-7742-309F22D4F9BA}"/>
              </a:ext>
            </a:extLst>
          </p:cNvPr>
          <p:cNvSpPr>
            <a:spLocks noGrp="1"/>
          </p:cNvSpPr>
          <p:nvPr>
            <p:ph type="title"/>
          </p:nvPr>
        </p:nvSpPr>
        <p:spPr/>
        <p:txBody>
          <a:bodyPr/>
          <a:lstStyle/>
          <a:p>
            <a:r>
              <a:rPr lang="en-US"/>
              <a:t>RESEARCH QUESTION 4</a:t>
            </a:r>
          </a:p>
        </p:txBody>
      </p:sp>
      <p:sp>
        <p:nvSpPr>
          <p:cNvPr id="3" name="Content Placeholder 2">
            <a:extLst>
              <a:ext uri="{FF2B5EF4-FFF2-40B4-BE49-F238E27FC236}">
                <a16:creationId xmlns:a16="http://schemas.microsoft.com/office/drawing/2014/main" id="{C54F420A-7A43-3023-4FB6-978CF3024449}"/>
              </a:ext>
            </a:extLst>
          </p:cNvPr>
          <p:cNvSpPr>
            <a:spLocks noGrp="1"/>
          </p:cNvSpPr>
          <p:nvPr>
            <p:ph idx="1"/>
          </p:nvPr>
        </p:nvSpPr>
        <p:spPr>
          <a:solidFill>
            <a:srgbClr val="ED7D31"/>
          </a:solidFill>
        </p:spPr>
        <p:txBody>
          <a:bodyPr>
            <a:normAutofit/>
          </a:bodyPr>
          <a:lstStyle/>
          <a:p>
            <a:pPr marL="305435" indent="-305435"/>
            <a:r>
              <a:rPr lang="en-US" sz="3200">
                <a:ea typeface="+mn-lt"/>
                <a:cs typeface="+mn-lt"/>
              </a:rPr>
              <a:t>How does fertility vary by place of residence (urban vs rural)? </a:t>
            </a:r>
            <a:endParaRPr lang="en-US" sz="3200"/>
          </a:p>
          <a:p>
            <a:pPr marL="305435" indent="-305435"/>
            <a:r>
              <a:rPr lang="en-US" sz="3200">
                <a:ea typeface="+mn-lt"/>
                <a:cs typeface="+mn-lt"/>
              </a:rPr>
              <a:t>The study aims to examine whether residence factors explain the variation in fertility levels. Specifically, we test whether a woman’s residence has a statistically significant effect on fertility.</a:t>
            </a:r>
            <a:endParaRPr lang="en-US"/>
          </a:p>
        </p:txBody>
      </p:sp>
    </p:spTree>
    <p:extLst>
      <p:ext uri="{BB962C8B-B14F-4D97-AF65-F5344CB8AC3E}">
        <p14:creationId xmlns:p14="http://schemas.microsoft.com/office/powerpoint/2010/main" val="39989258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AF95D-CFD3-E6D2-B8E1-9723FD7CC619}"/>
              </a:ext>
            </a:extLst>
          </p:cNvPr>
          <p:cNvSpPr>
            <a:spLocks noGrp="1"/>
          </p:cNvSpPr>
          <p:nvPr>
            <p:ph type="title"/>
          </p:nvPr>
        </p:nvSpPr>
        <p:spPr/>
        <p:txBody>
          <a:bodyPr/>
          <a:lstStyle/>
          <a:p>
            <a:r>
              <a:rPr lang="en-US"/>
              <a:t>MODEL AND HYPOTHESIS TESTING(regression model)</a:t>
            </a:r>
          </a:p>
        </p:txBody>
      </p:sp>
      <p:pic>
        <p:nvPicPr>
          <p:cNvPr id="4" name="Content Placeholder 3" descr="A white paper with black text&#10;&#10;AI-generated content may be incorrect.">
            <a:extLst>
              <a:ext uri="{FF2B5EF4-FFF2-40B4-BE49-F238E27FC236}">
                <a16:creationId xmlns:a16="http://schemas.microsoft.com/office/drawing/2014/main" id="{F20BF7B5-16BA-1B70-AAC1-B931C08FF5EA}"/>
              </a:ext>
            </a:extLst>
          </p:cNvPr>
          <p:cNvPicPr>
            <a:picLocks noGrp="1" noChangeAspect="1"/>
          </p:cNvPicPr>
          <p:nvPr>
            <p:ph idx="1"/>
          </p:nvPr>
        </p:nvPicPr>
        <p:blipFill>
          <a:blip r:embed="rId2"/>
          <a:stretch>
            <a:fillRect/>
          </a:stretch>
        </p:blipFill>
        <p:spPr>
          <a:xfrm>
            <a:off x="1965799" y="2033958"/>
            <a:ext cx="7058785" cy="4254687"/>
          </a:xfrm>
          <a:prstGeom prst="rect">
            <a:avLst/>
          </a:prstGeom>
        </p:spPr>
      </p:pic>
    </p:spTree>
    <p:extLst>
      <p:ext uri="{BB962C8B-B14F-4D97-AF65-F5344CB8AC3E}">
        <p14:creationId xmlns:p14="http://schemas.microsoft.com/office/powerpoint/2010/main" val="218671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DEB7A-7740-9E61-2916-8251D7A0C9EE}"/>
              </a:ext>
            </a:extLst>
          </p:cNvPr>
          <p:cNvSpPr>
            <a:spLocks noGrp="1"/>
          </p:cNvSpPr>
          <p:nvPr>
            <p:ph type="title"/>
          </p:nvPr>
        </p:nvSpPr>
        <p:spPr/>
        <p:txBody>
          <a:bodyPr/>
          <a:lstStyle/>
          <a:p>
            <a:r>
              <a:rPr lang="en-US"/>
              <a:t>Two-Sided T -TEST</a:t>
            </a:r>
          </a:p>
        </p:txBody>
      </p:sp>
      <p:pic>
        <p:nvPicPr>
          <p:cNvPr id="4" name="Content Placeholder 3" descr="A white background with black text&#10;&#10;AI-generated content may be incorrect.">
            <a:extLst>
              <a:ext uri="{FF2B5EF4-FFF2-40B4-BE49-F238E27FC236}">
                <a16:creationId xmlns:a16="http://schemas.microsoft.com/office/drawing/2014/main" id="{F02D4C8C-E3B5-CC2C-3F63-D7B84CBB5CF5}"/>
              </a:ext>
            </a:extLst>
          </p:cNvPr>
          <p:cNvPicPr>
            <a:picLocks noGrp="1" noChangeAspect="1"/>
          </p:cNvPicPr>
          <p:nvPr>
            <p:ph idx="1"/>
          </p:nvPr>
        </p:nvPicPr>
        <p:blipFill>
          <a:blip r:embed="rId2"/>
          <a:stretch>
            <a:fillRect/>
          </a:stretch>
        </p:blipFill>
        <p:spPr>
          <a:xfrm>
            <a:off x="2467216" y="2180496"/>
            <a:ext cx="6886337" cy="4137456"/>
          </a:xfrm>
          <a:prstGeom prst="rect">
            <a:avLst/>
          </a:prstGeom>
        </p:spPr>
      </p:pic>
    </p:spTree>
    <p:extLst>
      <p:ext uri="{BB962C8B-B14F-4D97-AF65-F5344CB8AC3E}">
        <p14:creationId xmlns:p14="http://schemas.microsoft.com/office/powerpoint/2010/main" val="2160734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C8C23-0455-7E72-989D-74D9D108C22F}"/>
              </a:ext>
            </a:extLst>
          </p:cNvPr>
          <p:cNvSpPr>
            <a:spLocks noGrp="1"/>
          </p:cNvSpPr>
          <p:nvPr>
            <p:ph type="title"/>
          </p:nvPr>
        </p:nvSpPr>
        <p:spPr/>
        <p:txBody>
          <a:bodyPr/>
          <a:lstStyle/>
          <a:p>
            <a:r>
              <a:rPr lang="en-US"/>
              <a:t>ASSUMPTIONS for regression model</a:t>
            </a:r>
          </a:p>
        </p:txBody>
      </p:sp>
      <p:sp>
        <p:nvSpPr>
          <p:cNvPr id="3" name="Content Placeholder 2">
            <a:extLst>
              <a:ext uri="{FF2B5EF4-FFF2-40B4-BE49-F238E27FC236}">
                <a16:creationId xmlns:a16="http://schemas.microsoft.com/office/drawing/2014/main" id="{66AC9E45-D7D6-7096-3FDE-8A6BF82F5863}"/>
              </a:ext>
            </a:extLst>
          </p:cNvPr>
          <p:cNvSpPr>
            <a:spLocks noGrp="1"/>
          </p:cNvSpPr>
          <p:nvPr>
            <p:ph idx="1"/>
          </p:nvPr>
        </p:nvSpPr>
        <p:spPr>
          <a:solidFill>
            <a:srgbClr val="FFC000"/>
          </a:solidFill>
        </p:spPr>
        <p:txBody>
          <a:bodyPr>
            <a:normAutofit/>
          </a:bodyPr>
          <a:lstStyle/>
          <a:p>
            <a:pPr marL="305435" indent="-305435"/>
            <a:r>
              <a:rPr lang="en-US"/>
              <a:t>The dependent variable is a count variable and takes non-negative integers.</a:t>
            </a:r>
          </a:p>
          <a:p>
            <a:pPr marL="305435" indent="-305435"/>
            <a:r>
              <a:rPr lang="en-US"/>
              <a:t>The response variable follows a Normal distribution.</a:t>
            </a:r>
            <a:endParaRPr lang="en-US">
              <a:solidFill>
                <a:srgbClr val="000000"/>
              </a:solidFill>
            </a:endParaRPr>
          </a:p>
          <a:p>
            <a:pPr marL="305435" indent="-305435"/>
            <a:endParaRPr lang="en-US"/>
          </a:p>
        </p:txBody>
      </p:sp>
    </p:spTree>
    <p:extLst>
      <p:ext uri="{BB962C8B-B14F-4D97-AF65-F5344CB8AC3E}">
        <p14:creationId xmlns:p14="http://schemas.microsoft.com/office/powerpoint/2010/main" val="40876327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A97E6-D9E7-4A9F-EB5E-08DBBEFE6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2819F-5698-A36C-DC8F-2C4C6D8C628B}"/>
              </a:ext>
            </a:extLst>
          </p:cNvPr>
          <p:cNvSpPr>
            <a:spLocks noGrp="1"/>
          </p:cNvSpPr>
          <p:nvPr>
            <p:ph type="title"/>
          </p:nvPr>
        </p:nvSpPr>
        <p:spPr/>
        <p:txBody>
          <a:bodyPr/>
          <a:lstStyle/>
          <a:p>
            <a:r>
              <a:rPr lang="en-US"/>
              <a:t>ASSUMPTIONS for two sided t test</a:t>
            </a:r>
          </a:p>
        </p:txBody>
      </p:sp>
      <p:sp>
        <p:nvSpPr>
          <p:cNvPr id="3" name="Content Placeholder 2">
            <a:extLst>
              <a:ext uri="{FF2B5EF4-FFF2-40B4-BE49-F238E27FC236}">
                <a16:creationId xmlns:a16="http://schemas.microsoft.com/office/drawing/2014/main" id="{89E3B0F0-E168-BD6A-EFAD-5412CB3025D6}"/>
              </a:ext>
            </a:extLst>
          </p:cNvPr>
          <p:cNvSpPr>
            <a:spLocks noGrp="1"/>
          </p:cNvSpPr>
          <p:nvPr>
            <p:ph idx="1"/>
          </p:nvPr>
        </p:nvSpPr>
        <p:spPr>
          <a:solidFill>
            <a:srgbClr val="FFC000"/>
          </a:solidFill>
        </p:spPr>
        <p:txBody>
          <a:bodyPr>
            <a:normAutofit/>
          </a:bodyPr>
          <a:lstStyle/>
          <a:p>
            <a:pPr marL="305435" indent="-305435"/>
            <a:r>
              <a:rPr lang="en-US">
                <a:solidFill>
                  <a:srgbClr val="3D3D3D"/>
                </a:solidFill>
              </a:rPr>
              <a:t>Observations are independent from one another.</a:t>
            </a:r>
            <a:endParaRPr lang="en-US"/>
          </a:p>
          <a:p>
            <a:pPr marL="305435" indent="-305435"/>
            <a:r>
              <a:rPr lang="en-US">
                <a:solidFill>
                  <a:srgbClr val="3D3D3D"/>
                </a:solidFill>
              </a:rPr>
              <a:t>The data for each groups are approximately normal distributed.</a:t>
            </a:r>
          </a:p>
          <a:p>
            <a:pPr marL="305435" indent="-305435"/>
            <a:endParaRPr lang="en-US"/>
          </a:p>
        </p:txBody>
      </p:sp>
    </p:spTree>
    <p:extLst>
      <p:ext uri="{BB962C8B-B14F-4D97-AF65-F5344CB8AC3E}">
        <p14:creationId xmlns:p14="http://schemas.microsoft.com/office/powerpoint/2010/main" val="36776066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9B8D-E623-A047-E39C-DFB5388D3F20}"/>
              </a:ext>
            </a:extLst>
          </p:cNvPr>
          <p:cNvSpPr>
            <a:spLocks noGrp="1"/>
          </p:cNvSpPr>
          <p:nvPr>
            <p:ph type="title"/>
          </p:nvPr>
        </p:nvSpPr>
        <p:spPr/>
        <p:txBody>
          <a:bodyPr/>
          <a:lstStyle/>
          <a:p>
            <a:r>
              <a:rPr lang="en-US"/>
              <a:t>UP AND MAHRASTHRA BOX PLOT AVG CHILDREN BORN BY RESIDENCE</a:t>
            </a:r>
          </a:p>
        </p:txBody>
      </p:sp>
      <p:pic>
        <p:nvPicPr>
          <p:cNvPr id="4" name="Content Placeholder 3" descr="A graph of a number of children born&#10;&#10;AI-generated content may be incorrect.">
            <a:extLst>
              <a:ext uri="{FF2B5EF4-FFF2-40B4-BE49-F238E27FC236}">
                <a16:creationId xmlns:a16="http://schemas.microsoft.com/office/drawing/2014/main" id="{2F9D7863-D398-F8C0-D19B-7A4B83239D9D}"/>
              </a:ext>
            </a:extLst>
          </p:cNvPr>
          <p:cNvPicPr>
            <a:picLocks noGrp="1" noChangeAspect="1"/>
          </p:cNvPicPr>
          <p:nvPr>
            <p:ph idx="1"/>
          </p:nvPr>
        </p:nvPicPr>
        <p:blipFill>
          <a:blip r:embed="rId2"/>
          <a:stretch>
            <a:fillRect/>
          </a:stretch>
        </p:blipFill>
        <p:spPr>
          <a:xfrm>
            <a:off x="1884" y="1955804"/>
            <a:ext cx="5496308" cy="4508688"/>
          </a:xfrm>
          <a:prstGeom prst="rect">
            <a:avLst/>
          </a:prstGeom>
        </p:spPr>
      </p:pic>
      <p:pic>
        <p:nvPicPr>
          <p:cNvPr id="6" name="Content Placeholder 3">
            <a:extLst>
              <a:ext uri="{FF2B5EF4-FFF2-40B4-BE49-F238E27FC236}">
                <a16:creationId xmlns:a16="http://schemas.microsoft.com/office/drawing/2014/main" id="{6BF85831-10C3-3852-DB6C-B31A4773520A}"/>
              </a:ext>
            </a:extLst>
          </p:cNvPr>
          <p:cNvPicPr>
            <a:picLocks noChangeAspect="1"/>
          </p:cNvPicPr>
          <p:nvPr/>
        </p:nvPicPr>
        <p:blipFill>
          <a:blip r:embed="rId3"/>
          <a:stretch>
            <a:fillRect/>
          </a:stretch>
        </p:blipFill>
        <p:spPr>
          <a:xfrm>
            <a:off x="6555082" y="1955805"/>
            <a:ext cx="4318142" cy="4508686"/>
          </a:xfrm>
          <a:prstGeom prst="rect">
            <a:avLst/>
          </a:prstGeom>
        </p:spPr>
      </p:pic>
    </p:spTree>
    <p:extLst>
      <p:ext uri="{BB962C8B-B14F-4D97-AF65-F5344CB8AC3E}">
        <p14:creationId xmlns:p14="http://schemas.microsoft.com/office/powerpoint/2010/main" val="35425663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C7EA1-1D5F-53A2-753F-00D6F6DCF811}"/>
              </a:ext>
            </a:extLst>
          </p:cNvPr>
          <p:cNvSpPr>
            <a:spLocks noGrp="1"/>
          </p:cNvSpPr>
          <p:nvPr>
            <p:ph type="title"/>
          </p:nvPr>
        </p:nvSpPr>
        <p:spPr/>
        <p:txBody>
          <a:bodyPr/>
          <a:lstStyle/>
          <a:p>
            <a:r>
              <a:rPr lang="en-US"/>
              <a:t>UP AND MAHRASTHRA BOX PLOT DISTRIBUTION OF FERTILITY BY RESIDENCE</a:t>
            </a:r>
          </a:p>
        </p:txBody>
      </p:sp>
      <p:pic>
        <p:nvPicPr>
          <p:cNvPr id="4" name="Content Placeholder 3" descr="A graph of a number of people&#10;&#10;AI-generated content may be incorrect.">
            <a:extLst>
              <a:ext uri="{FF2B5EF4-FFF2-40B4-BE49-F238E27FC236}">
                <a16:creationId xmlns:a16="http://schemas.microsoft.com/office/drawing/2014/main" id="{F832AE88-1F2A-A35A-A310-2D4636DF6CFF}"/>
              </a:ext>
            </a:extLst>
          </p:cNvPr>
          <p:cNvPicPr>
            <a:picLocks noGrp="1" noChangeAspect="1"/>
          </p:cNvPicPr>
          <p:nvPr>
            <p:ph idx="1"/>
          </p:nvPr>
        </p:nvPicPr>
        <p:blipFill>
          <a:blip r:embed="rId2"/>
          <a:stretch>
            <a:fillRect/>
          </a:stretch>
        </p:blipFill>
        <p:spPr>
          <a:xfrm>
            <a:off x="868615" y="2180496"/>
            <a:ext cx="4661614" cy="4147226"/>
          </a:xfrm>
          <a:prstGeom prst="rect">
            <a:avLst/>
          </a:prstGeom>
        </p:spPr>
      </p:pic>
      <p:pic>
        <p:nvPicPr>
          <p:cNvPr id="6" name="Content Placeholder 3">
            <a:extLst>
              <a:ext uri="{FF2B5EF4-FFF2-40B4-BE49-F238E27FC236}">
                <a16:creationId xmlns:a16="http://schemas.microsoft.com/office/drawing/2014/main" id="{F47F1B19-C333-9425-675D-50B2F80553AF}"/>
              </a:ext>
            </a:extLst>
          </p:cNvPr>
          <p:cNvPicPr>
            <a:picLocks noChangeAspect="1"/>
          </p:cNvPicPr>
          <p:nvPr/>
        </p:nvPicPr>
        <p:blipFill>
          <a:blip r:embed="rId3"/>
          <a:stretch>
            <a:fillRect/>
          </a:stretch>
        </p:blipFill>
        <p:spPr>
          <a:xfrm>
            <a:off x="5800387" y="2180496"/>
            <a:ext cx="4655225" cy="4147225"/>
          </a:xfrm>
          <a:prstGeom prst="rect">
            <a:avLst/>
          </a:prstGeom>
        </p:spPr>
      </p:pic>
    </p:spTree>
    <p:extLst>
      <p:ext uri="{BB962C8B-B14F-4D97-AF65-F5344CB8AC3E}">
        <p14:creationId xmlns:p14="http://schemas.microsoft.com/office/powerpoint/2010/main" val="847795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366AD-B5CF-EC31-7FCF-9C861973325A}"/>
              </a:ext>
            </a:extLst>
          </p:cNvPr>
          <p:cNvSpPr>
            <a:spLocks noGrp="1"/>
          </p:cNvSpPr>
          <p:nvPr>
            <p:ph type="title"/>
          </p:nvPr>
        </p:nvSpPr>
        <p:spPr/>
        <p:txBody>
          <a:bodyPr/>
          <a:lstStyle/>
          <a:p>
            <a:r>
              <a:rPr lang="en-US"/>
              <a:t>REGRESSION OUTPUT</a:t>
            </a:r>
          </a:p>
        </p:txBody>
      </p:sp>
      <p:pic>
        <p:nvPicPr>
          <p:cNvPr id="4" name="Content Placeholder 3" descr="A screenshot of a computer&#10;&#10;AI-generated content may be incorrect.">
            <a:extLst>
              <a:ext uri="{FF2B5EF4-FFF2-40B4-BE49-F238E27FC236}">
                <a16:creationId xmlns:a16="http://schemas.microsoft.com/office/drawing/2014/main" id="{6B3FBDE2-809E-BD02-A2CA-9162E06C95A2}"/>
              </a:ext>
            </a:extLst>
          </p:cNvPr>
          <p:cNvPicPr>
            <a:picLocks noGrp="1" noChangeAspect="1"/>
          </p:cNvPicPr>
          <p:nvPr>
            <p:ph idx="1"/>
          </p:nvPr>
        </p:nvPicPr>
        <p:blipFill>
          <a:blip r:embed="rId2"/>
          <a:stretch>
            <a:fillRect/>
          </a:stretch>
        </p:blipFill>
        <p:spPr>
          <a:xfrm>
            <a:off x="3036473" y="2082804"/>
            <a:ext cx="5796667" cy="4069071"/>
          </a:xfrm>
          <a:prstGeom prst="rect">
            <a:avLst/>
          </a:prstGeom>
        </p:spPr>
      </p:pic>
    </p:spTree>
    <p:extLst>
      <p:ext uri="{BB962C8B-B14F-4D97-AF65-F5344CB8AC3E}">
        <p14:creationId xmlns:p14="http://schemas.microsoft.com/office/powerpoint/2010/main" val="21493687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5C98E-C89A-3E1C-70E5-A0AF871D106B}"/>
              </a:ext>
            </a:extLst>
          </p:cNvPr>
          <p:cNvSpPr>
            <a:spLocks noGrp="1"/>
          </p:cNvSpPr>
          <p:nvPr>
            <p:ph type="title"/>
          </p:nvPr>
        </p:nvSpPr>
        <p:spPr/>
        <p:txBody>
          <a:bodyPr/>
          <a:lstStyle/>
          <a:p>
            <a:r>
              <a:rPr lang="en-US"/>
              <a:t>T-test Conclusion</a:t>
            </a:r>
          </a:p>
        </p:txBody>
      </p:sp>
      <p:pic>
        <p:nvPicPr>
          <p:cNvPr id="4" name="Content Placeholder 3" descr="A screenshot of a test results&#10;&#10;AI-generated content may be incorrect.">
            <a:extLst>
              <a:ext uri="{FF2B5EF4-FFF2-40B4-BE49-F238E27FC236}">
                <a16:creationId xmlns:a16="http://schemas.microsoft.com/office/drawing/2014/main" id="{A0A86A76-EE75-35D0-C5B3-9851C3ED9C40}"/>
              </a:ext>
            </a:extLst>
          </p:cNvPr>
          <p:cNvPicPr>
            <a:picLocks noGrp="1" noChangeAspect="1"/>
          </p:cNvPicPr>
          <p:nvPr>
            <p:ph idx="1"/>
          </p:nvPr>
        </p:nvPicPr>
        <p:blipFill>
          <a:blip r:embed="rId2"/>
          <a:stretch>
            <a:fillRect/>
          </a:stretch>
        </p:blipFill>
        <p:spPr>
          <a:xfrm>
            <a:off x="2955026" y="2180496"/>
            <a:ext cx="6281947" cy="3678303"/>
          </a:xfrm>
          <a:prstGeom prst="rect">
            <a:avLst/>
          </a:prstGeom>
        </p:spPr>
      </p:pic>
    </p:spTree>
    <p:extLst>
      <p:ext uri="{BB962C8B-B14F-4D97-AF65-F5344CB8AC3E}">
        <p14:creationId xmlns:p14="http://schemas.microsoft.com/office/powerpoint/2010/main" val="36469541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F320D-2A2E-B29D-2925-141D78E7FA42}"/>
              </a:ext>
            </a:extLst>
          </p:cNvPr>
          <p:cNvSpPr>
            <a:spLocks noGrp="1"/>
          </p:cNvSpPr>
          <p:nvPr>
            <p:ph type="title"/>
          </p:nvPr>
        </p:nvSpPr>
        <p:spPr/>
        <p:txBody>
          <a:bodyPr/>
          <a:lstStyle/>
          <a:p>
            <a:r>
              <a:rPr lang="en-US"/>
              <a:t>INTERPRETATION</a:t>
            </a:r>
          </a:p>
        </p:txBody>
      </p:sp>
      <p:sp>
        <p:nvSpPr>
          <p:cNvPr id="3" name="Content Placeholder 2">
            <a:extLst>
              <a:ext uri="{FF2B5EF4-FFF2-40B4-BE49-F238E27FC236}">
                <a16:creationId xmlns:a16="http://schemas.microsoft.com/office/drawing/2014/main" id="{C65039D6-41BE-22EF-65FD-C8A72B4A2BE4}"/>
              </a:ext>
            </a:extLst>
          </p:cNvPr>
          <p:cNvSpPr>
            <a:spLocks noGrp="1"/>
          </p:cNvSpPr>
          <p:nvPr>
            <p:ph idx="1"/>
          </p:nvPr>
        </p:nvSpPr>
        <p:spPr/>
        <p:txBody>
          <a:bodyPr>
            <a:normAutofit/>
          </a:bodyPr>
          <a:lstStyle/>
          <a:p>
            <a:pPr marL="305435" indent="-305435"/>
            <a:r>
              <a:rPr lang="en-US" sz="2800"/>
              <a:t>For both states the mean children born by residence is not same.</a:t>
            </a:r>
          </a:p>
          <a:p>
            <a:pPr marL="305435" indent="-305435"/>
            <a:r>
              <a:rPr lang="en-US" sz="2800"/>
              <a:t>The distribution of children born remains same for UP in both rural and urban areas.</a:t>
            </a:r>
          </a:p>
        </p:txBody>
      </p:sp>
    </p:spTree>
    <p:extLst>
      <p:ext uri="{BB962C8B-B14F-4D97-AF65-F5344CB8AC3E}">
        <p14:creationId xmlns:p14="http://schemas.microsoft.com/office/powerpoint/2010/main" val="33932888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05637-D2B6-A71F-E56D-1AD65AD33C34}"/>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0E20FFA3-B57B-3EE4-B80A-473E697A667C}"/>
              </a:ext>
            </a:extLst>
          </p:cNvPr>
          <p:cNvSpPr>
            <a:spLocks noGrp="1"/>
          </p:cNvSpPr>
          <p:nvPr>
            <p:ph idx="1"/>
          </p:nvPr>
        </p:nvSpPr>
        <p:spPr/>
        <p:txBody>
          <a:bodyPr>
            <a:normAutofit/>
          </a:bodyPr>
          <a:lstStyle/>
          <a:p>
            <a:pPr marL="305435" indent="-305435"/>
            <a:r>
              <a:rPr lang="en-US" sz="2800"/>
              <a:t>By changing the place of residence can affect the fertility rate for Maharashtra. But, for UP it does not make much effect. So, there must be other much strong factor that affect fertility rate in UP.</a:t>
            </a:r>
          </a:p>
        </p:txBody>
      </p:sp>
    </p:spTree>
    <p:extLst>
      <p:ext uri="{BB962C8B-B14F-4D97-AF65-F5344CB8AC3E}">
        <p14:creationId xmlns:p14="http://schemas.microsoft.com/office/powerpoint/2010/main" val="5894165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8CB08-6763-3120-B502-3E6EADC68D6F}"/>
              </a:ext>
            </a:extLst>
          </p:cNvPr>
          <p:cNvSpPr>
            <a:spLocks noGrp="1"/>
          </p:cNvSpPr>
          <p:nvPr>
            <p:ph type="title"/>
          </p:nvPr>
        </p:nvSpPr>
        <p:spPr/>
        <p:txBody>
          <a:bodyPr/>
          <a:lstStyle/>
          <a:p>
            <a:r>
              <a:rPr lang="en-US"/>
              <a:t>RESEARCH QUESTION 5:</a:t>
            </a:r>
          </a:p>
        </p:txBody>
      </p:sp>
      <p:sp>
        <p:nvSpPr>
          <p:cNvPr id="3" name="Content Placeholder 2">
            <a:extLst>
              <a:ext uri="{FF2B5EF4-FFF2-40B4-BE49-F238E27FC236}">
                <a16:creationId xmlns:a16="http://schemas.microsoft.com/office/drawing/2014/main" id="{0EE8CCD7-0E5E-F703-E5F0-FE7DFC89FC4F}"/>
              </a:ext>
            </a:extLst>
          </p:cNvPr>
          <p:cNvSpPr>
            <a:spLocks noGrp="1"/>
          </p:cNvSpPr>
          <p:nvPr>
            <p:ph idx="1"/>
          </p:nvPr>
        </p:nvSpPr>
        <p:spPr/>
        <p:txBody>
          <a:bodyPr>
            <a:normAutofit/>
          </a:bodyPr>
          <a:lstStyle/>
          <a:p>
            <a:pPr marL="0" indent="0">
              <a:buNone/>
            </a:pPr>
            <a:r>
              <a:rPr lang="en-US" sz="3600">
                <a:solidFill>
                  <a:schemeClr val="accent1">
                    <a:lumMod val="76000"/>
                  </a:schemeClr>
                </a:solidFill>
              </a:rPr>
              <a:t>While both Maharashtra and UP have an income gradient from west to east, signifying high spatial variance of income, we want to know that for which state is this variance higher?</a:t>
            </a:r>
          </a:p>
        </p:txBody>
      </p:sp>
    </p:spTree>
    <p:extLst>
      <p:ext uri="{BB962C8B-B14F-4D97-AF65-F5344CB8AC3E}">
        <p14:creationId xmlns:p14="http://schemas.microsoft.com/office/powerpoint/2010/main" val="36377244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1F2D-0415-62E9-F242-9A7935A802DF}"/>
              </a:ext>
            </a:extLst>
          </p:cNvPr>
          <p:cNvSpPr>
            <a:spLocks noGrp="1"/>
          </p:cNvSpPr>
          <p:nvPr>
            <p:ph type="title"/>
          </p:nvPr>
        </p:nvSpPr>
        <p:spPr/>
        <p:txBody>
          <a:bodyPr/>
          <a:lstStyle/>
          <a:p>
            <a:r>
              <a:rPr lang="en-US"/>
              <a:t>REASONS FOR THE INEQUALITY</a:t>
            </a:r>
          </a:p>
        </p:txBody>
      </p:sp>
      <p:sp>
        <p:nvSpPr>
          <p:cNvPr id="3" name="Content Placeholder 2">
            <a:extLst>
              <a:ext uri="{FF2B5EF4-FFF2-40B4-BE49-F238E27FC236}">
                <a16:creationId xmlns:a16="http://schemas.microsoft.com/office/drawing/2014/main" id="{AD55A842-078E-89BC-F526-381EF5C50EE3}"/>
              </a:ext>
            </a:extLst>
          </p:cNvPr>
          <p:cNvSpPr>
            <a:spLocks noGrp="1"/>
          </p:cNvSpPr>
          <p:nvPr>
            <p:ph idx="1"/>
          </p:nvPr>
        </p:nvSpPr>
        <p:spPr/>
        <p:txBody>
          <a:bodyPr/>
          <a:lstStyle/>
          <a:p>
            <a:pPr marL="0" indent="0">
              <a:buNone/>
            </a:pPr>
            <a:r>
              <a:rPr lang="en-US" sz="2400"/>
              <a:t>There is a common agricultural reason for this inequality in both states. In Maharashtra, the western areas receive monsoon rainfall but not the eastern areas as the winds get blocked by the Western Ghats. Similarly, western UP is inclined towards cash crops whereas eastern UP has minimal prevalence of cash crop agriculture. </a:t>
            </a:r>
          </a:p>
          <a:p>
            <a:pPr marL="0" indent="0">
              <a:buNone/>
            </a:pPr>
            <a:r>
              <a:rPr lang="en-US" sz="2400"/>
              <a:t>For Maharashtra, there is also a reason of trade as the western coast has access to the ocean and there are historical reasons such as development of Bombay.</a:t>
            </a:r>
          </a:p>
          <a:p>
            <a:pPr marL="0" indent="0">
              <a:buNone/>
            </a:pPr>
            <a:r>
              <a:rPr lang="en-US" sz="2400"/>
              <a:t>For UP, presence of Delhi NCR in proximity to the western side is also a major reason for this gradient.</a:t>
            </a:r>
          </a:p>
        </p:txBody>
      </p:sp>
    </p:spTree>
    <p:extLst>
      <p:ext uri="{BB962C8B-B14F-4D97-AF65-F5344CB8AC3E}">
        <p14:creationId xmlns:p14="http://schemas.microsoft.com/office/powerpoint/2010/main" val="3726707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84AA-04AD-4B90-5742-36B6D8DAE21F}"/>
              </a:ext>
            </a:extLst>
          </p:cNvPr>
          <p:cNvSpPr>
            <a:spLocks noGrp="1"/>
          </p:cNvSpPr>
          <p:nvPr>
            <p:ph type="title"/>
          </p:nvPr>
        </p:nvSpPr>
        <p:spPr/>
        <p:txBody>
          <a:bodyPr/>
          <a:lstStyle/>
          <a:p>
            <a:r>
              <a:rPr lang="en-US"/>
              <a:t>TWO MAPS – data from 2019-20</a:t>
            </a:r>
          </a:p>
        </p:txBody>
      </p:sp>
      <p:pic>
        <p:nvPicPr>
          <p:cNvPr id="5" name="Content Placeholder 4" descr="A map of india with different colored states&#10;&#10;AI-generated content may be incorrect.">
            <a:extLst>
              <a:ext uri="{FF2B5EF4-FFF2-40B4-BE49-F238E27FC236}">
                <a16:creationId xmlns:a16="http://schemas.microsoft.com/office/drawing/2014/main" id="{A7EADD69-AF95-4805-53BC-D2577F546F67}"/>
              </a:ext>
            </a:extLst>
          </p:cNvPr>
          <p:cNvPicPr>
            <a:picLocks noGrp="1" noChangeAspect="1"/>
          </p:cNvPicPr>
          <p:nvPr>
            <p:ph sz="half" idx="1"/>
          </p:nvPr>
        </p:nvPicPr>
        <p:blipFill>
          <a:blip r:embed="rId2"/>
          <a:stretch>
            <a:fillRect/>
          </a:stretch>
        </p:blipFill>
        <p:spPr>
          <a:xfrm>
            <a:off x="740587" y="2228003"/>
            <a:ext cx="4696570" cy="3901988"/>
          </a:xfrm>
          <a:prstGeom prst="rect">
            <a:avLst/>
          </a:prstGeom>
        </p:spPr>
      </p:pic>
      <p:pic>
        <p:nvPicPr>
          <p:cNvPr id="6" name="Content Placeholder 5" descr="A map of india with orange and green colors&#10;&#10;AI-generated content may be incorrect.">
            <a:extLst>
              <a:ext uri="{FF2B5EF4-FFF2-40B4-BE49-F238E27FC236}">
                <a16:creationId xmlns:a16="http://schemas.microsoft.com/office/drawing/2014/main" id="{7182895F-2B89-B09E-58A6-8CEFC100DBCF}"/>
              </a:ext>
            </a:extLst>
          </p:cNvPr>
          <p:cNvPicPr>
            <a:picLocks noGrp="1" noChangeAspect="1"/>
          </p:cNvPicPr>
          <p:nvPr>
            <p:ph sz="half" idx="2"/>
          </p:nvPr>
        </p:nvPicPr>
        <p:blipFill>
          <a:blip r:embed="rId3"/>
          <a:stretch>
            <a:fillRect/>
          </a:stretch>
        </p:blipFill>
        <p:spPr>
          <a:xfrm>
            <a:off x="6825182" y="2228003"/>
            <a:ext cx="4808112" cy="4047664"/>
          </a:xfrm>
          <a:prstGeom prst="rect">
            <a:avLst/>
          </a:prstGeom>
        </p:spPr>
      </p:pic>
    </p:spTree>
    <p:extLst>
      <p:ext uri="{BB962C8B-B14F-4D97-AF65-F5344CB8AC3E}">
        <p14:creationId xmlns:p14="http://schemas.microsoft.com/office/powerpoint/2010/main" val="2849674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877A-F2B2-4DFD-CCE1-6D1D82400997}"/>
              </a:ext>
            </a:extLst>
          </p:cNvPr>
          <p:cNvSpPr>
            <a:spLocks noGrp="1"/>
          </p:cNvSpPr>
          <p:nvPr>
            <p:ph type="title"/>
          </p:nvPr>
        </p:nvSpPr>
        <p:spPr/>
        <p:txBody>
          <a:bodyPr/>
          <a:lstStyle/>
          <a:p>
            <a:r>
              <a:rPr lang="en-US"/>
              <a:t>Structure of the data  &amp;  Methodology</a:t>
            </a:r>
          </a:p>
        </p:txBody>
      </p:sp>
      <p:sp>
        <p:nvSpPr>
          <p:cNvPr id="3" name="Content Placeholder 2">
            <a:extLst>
              <a:ext uri="{FF2B5EF4-FFF2-40B4-BE49-F238E27FC236}">
                <a16:creationId xmlns:a16="http://schemas.microsoft.com/office/drawing/2014/main" id="{34221381-63A0-C4E1-9E83-D4413D520621}"/>
              </a:ext>
            </a:extLst>
          </p:cNvPr>
          <p:cNvSpPr>
            <a:spLocks noGrp="1"/>
          </p:cNvSpPr>
          <p:nvPr>
            <p:ph idx="1"/>
          </p:nvPr>
        </p:nvSpPr>
        <p:spPr/>
        <p:txBody>
          <a:bodyPr/>
          <a:lstStyle/>
          <a:p>
            <a:pPr marL="0" indent="0">
              <a:buNone/>
            </a:pPr>
            <a:r>
              <a:rPr lang="en-US" sz="2400"/>
              <a:t>For both the states, we enlist the districts in alphabetic order alongside their corresponding latitude</a:t>
            </a:r>
            <a:r>
              <a:rPr lang="en-US">
                <a:solidFill>
                  <a:schemeClr val="tx1"/>
                </a:solidFill>
              </a:rPr>
              <a:t> </a:t>
            </a:r>
            <a:r>
              <a:rPr lang="en-US" sz="2400"/>
              <a:t>and longitude which captures the spatial information and also the average income of the districts. </a:t>
            </a:r>
          </a:p>
          <a:p>
            <a:pPr marL="0" indent="0">
              <a:buNone/>
            </a:pPr>
            <a:endParaRPr lang="en-US" sz="2400"/>
          </a:p>
          <a:p>
            <a:pPr marL="0" indent="0">
              <a:buNone/>
            </a:pPr>
            <a:r>
              <a:rPr lang="en-US" sz="2400"/>
              <a:t>We use a common tool from spatial statistics called a variogram to be able to answer our research question : Which of the two states has higher spatial inequality?</a:t>
            </a:r>
          </a:p>
        </p:txBody>
      </p:sp>
    </p:spTree>
    <p:extLst>
      <p:ext uri="{BB962C8B-B14F-4D97-AF65-F5344CB8AC3E}">
        <p14:creationId xmlns:p14="http://schemas.microsoft.com/office/powerpoint/2010/main" val="29832846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9C86-8CF0-521B-F1F7-4AD865367479}"/>
              </a:ext>
            </a:extLst>
          </p:cNvPr>
          <p:cNvSpPr>
            <a:spLocks noGrp="1"/>
          </p:cNvSpPr>
          <p:nvPr>
            <p:ph type="title"/>
          </p:nvPr>
        </p:nvSpPr>
        <p:spPr/>
        <p:txBody>
          <a:bodyPr/>
          <a:lstStyle/>
          <a:p>
            <a:r>
              <a:rPr lang="en-US"/>
              <a:t>Formula for variogram</a:t>
            </a:r>
          </a:p>
        </p:txBody>
      </p:sp>
      <p:pic>
        <p:nvPicPr>
          <p:cNvPr id="4" name="Content Placeholder 3" descr="A white paper with black text&#10;&#10;AI-generated content may be incorrect.">
            <a:extLst>
              <a:ext uri="{FF2B5EF4-FFF2-40B4-BE49-F238E27FC236}">
                <a16:creationId xmlns:a16="http://schemas.microsoft.com/office/drawing/2014/main" id="{A264BE56-2AAF-8D48-AB6B-38D4BE811056}"/>
              </a:ext>
            </a:extLst>
          </p:cNvPr>
          <p:cNvPicPr>
            <a:picLocks noGrp="1" noChangeAspect="1"/>
          </p:cNvPicPr>
          <p:nvPr>
            <p:ph idx="1"/>
          </p:nvPr>
        </p:nvPicPr>
        <p:blipFill>
          <a:blip r:embed="rId2"/>
          <a:stretch>
            <a:fillRect/>
          </a:stretch>
        </p:blipFill>
        <p:spPr>
          <a:xfrm>
            <a:off x="1776046" y="2016467"/>
            <a:ext cx="9214336" cy="4721468"/>
          </a:xfrm>
          <a:prstGeom prst="rect">
            <a:avLst/>
          </a:prstGeom>
        </p:spPr>
      </p:pic>
    </p:spTree>
    <p:extLst>
      <p:ext uri="{BB962C8B-B14F-4D97-AF65-F5344CB8AC3E}">
        <p14:creationId xmlns:p14="http://schemas.microsoft.com/office/powerpoint/2010/main" val="35535147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601F4-0047-D1DE-AAB9-FD1A4493FBEE}"/>
              </a:ext>
            </a:extLst>
          </p:cNvPr>
          <p:cNvSpPr>
            <a:spLocks noGrp="1"/>
          </p:cNvSpPr>
          <p:nvPr>
            <p:ph type="title"/>
          </p:nvPr>
        </p:nvSpPr>
        <p:spPr/>
        <p:txBody>
          <a:bodyPr/>
          <a:lstStyle/>
          <a:p>
            <a:r>
              <a:rPr lang="en-US"/>
              <a:t>HOW IT'S DONE IN PYTHON?</a:t>
            </a:r>
          </a:p>
        </p:txBody>
      </p:sp>
      <p:pic>
        <p:nvPicPr>
          <p:cNvPr id="5" name="Content Placeholder 4" descr="A screen shot of a computer program&#10;&#10;AI-generated content may be incorrect.">
            <a:extLst>
              <a:ext uri="{FF2B5EF4-FFF2-40B4-BE49-F238E27FC236}">
                <a16:creationId xmlns:a16="http://schemas.microsoft.com/office/drawing/2014/main" id="{80EDC01D-CBC4-C7CD-704A-4ACD684C2C62}"/>
              </a:ext>
            </a:extLst>
          </p:cNvPr>
          <p:cNvPicPr>
            <a:picLocks noGrp="1" noChangeAspect="1"/>
          </p:cNvPicPr>
          <p:nvPr>
            <p:ph sz="half" idx="1"/>
          </p:nvPr>
        </p:nvPicPr>
        <p:blipFill>
          <a:blip r:embed="rId2"/>
          <a:stretch>
            <a:fillRect/>
          </a:stretch>
        </p:blipFill>
        <p:spPr>
          <a:xfrm>
            <a:off x="1725525" y="2896483"/>
            <a:ext cx="3783665" cy="3629585"/>
          </a:xfrm>
          <a:prstGeom prst="rect">
            <a:avLst/>
          </a:prstGeom>
        </p:spPr>
      </p:pic>
      <p:sp>
        <p:nvSpPr>
          <p:cNvPr id="4" name="Content Placeholder 3">
            <a:extLst>
              <a:ext uri="{FF2B5EF4-FFF2-40B4-BE49-F238E27FC236}">
                <a16:creationId xmlns:a16="http://schemas.microsoft.com/office/drawing/2014/main" id="{434C4FDC-BD67-A1EC-5847-388D9D61F742}"/>
              </a:ext>
            </a:extLst>
          </p:cNvPr>
          <p:cNvSpPr>
            <a:spLocks noGrp="1"/>
          </p:cNvSpPr>
          <p:nvPr>
            <p:ph sz="half" idx="2"/>
          </p:nvPr>
        </p:nvSpPr>
        <p:spPr/>
        <p:txBody>
          <a:bodyPr/>
          <a:lstStyle/>
          <a:p>
            <a:pPr marL="0" indent="0">
              <a:buNone/>
            </a:pPr>
            <a:endParaRPr lang="en-US" sz="2400"/>
          </a:p>
          <a:p>
            <a:pPr marL="0" indent="0">
              <a:buNone/>
            </a:pPr>
            <a:r>
              <a:rPr lang="en-US" sz="2400"/>
              <a:t>We use the scikit-</a:t>
            </a:r>
            <a:r>
              <a:rPr lang="en-US" sz="2400" err="1"/>
              <a:t>gstat</a:t>
            </a:r>
            <a:r>
              <a:rPr lang="en-US" sz="2400"/>
              <a:t> python library to get a Variogram function:</a:t>
            </a:r>
            <a:endParaRPr lang="en-US"/>
          </a:p>
          <a:p>
            <a:pPr marL="0" indent="0">
              <a:buNone/>
            </a:pPr>
            <a:endParaRPr lang="en-US" sz="2400">
              <a:latin typeface="Gill Sans MT"/>
              <a:cs typeface="Courier New"/>
            </a:endParaRPr>
          </a:p>
          <a:p>
            <a:pPr marL="0" indent="0">
              <a:buNone/>
            </a:pPr>
            <a:r>
              <a:rPr lang="en-US" sz="2000">
                <a:latin typeface="Courier New"/>
                <a:cs typeface="Courier New"/>
              </a:rPr>
              <a:t>From </a:t>
            </a:r>
            <a:r>
              <a:rPr lang="en-US" sz="2000" err="1">
                <a:latin typeface="Courier New"/>
                <a:cs typeface="Courier New"/>
              </a:rPr>
              <a:t>skgstat</a:t>
            </a:r>
            <a:r>
              <a:rPr lang="en-US" sz="2000">
                <a:latin typeface="Courier New"/>
                <a:cs typeface="Courier New"/>
              </a:rPr>
              <a:t> import Variogram</a:t>
            </a:r>
          </a:p>
          <a:p>
            <a:pPr marL="0" indent="0">
              <a:buNone/>
            </a:pPr>
            <a:endParaRPr lang="en-US">
              <a:latin typeface="Courier New"/>
              <a:ea typeface="Calibri"/>
              <a:cs typeface="Courier New"/>
            </a:endParaRPr>
          </a:p>
          <a:p>
            <a:pPr marL="0" indent="0">
              <a:buNone/>
            </a:pPr>
            <a:endParaRPr lang="en-US">
              <a:latin typeface="Gill Sans MT"/>
              <a:ea typeface="Calibri"/>
              <a:cs typeface="Courier New"/>
            </a:endParaRPr>
          </a:p>
        </p:txBody>
      </p:sp>
      <p:pic>
        <p:nvPicPr>
          <p:cNvPr id="6" name="Picture 5">
            <a:extLst>
              <a:ext uri="{FF2B5EF4-FFF2-40B4-BE49-F238E27FC236}">
                <a16:creationId xmlns:a16="http://schemas.microsoft.com/office/drawing/2014/main" id="{60175826-2DE7-A004-2D11-36CAB39A4884}"/>
              </a:ext>
            </a:extLst>
          </p:cNvPr>
          <p:cNvPicPr>
            <a:picLocks noChangeAspect="1"/>
          </p:cNvPicPr>
          <p:nvPr/>
        </p:nvPicPr>
        <p:blipFill>
          <a:blip r:embed="rId3"/>
          <a:stretch>
            <a:fillRect/>
          </a:stretch>
        </p:blipFill>
        <p:spPr>
          <a:xfrm>
            <a:off x="579624" y="2226609"/>
            <a:ext cx="9183780" cy="533400"/>
          </a:xfrm>
          <a:prstGeom prst="rect">
            <a:avLst/>
          </a:prstGeom>
        </p:spPr>
      </p:pic>
    </p:spTree>
    <p:extLst>
      <p:ext uri="{BB962C8B-B14F-4D97-AF65-F5344CB8AC3E}">
        <p14:creationId xmlns:p14="http://schemas.microsoft.com/office/powerpoint/2010/main" val="23545573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8A74B-24C0-961A-D891-544992201A69}"/>
              </a:ext>
            </a:extLst>
          </p:cNvPr>
          <p:cNvSpPr>
            <a:spLocks noGrp="1"/>
          </p:cNvSpPr>
          <p:nvPr>
            <p:ph type="title"/>
          </p:nvPr>
        </p:nvSpPr>
        <p:spPr/>
        <p:txBody>
          <a:bodyPr/>
          <a:lstStyle/>
          <a:p>
            <a:r>
              <a:rPr lang="en-US"/>
              <a:t>Variogram for </a:t>
            </a:r>
            <a:r>
              <a:rPr lang="en-US" err="1"/>
              <a:t>maharashtra</a:t>
            </a:r>
          </a:p>
        </p:txBody>
      </p:sp>
      <p:pic>
        <p:nvPicPr>
          <p:cNvPr id="4" name="Content Placeholder 3" descr="A graph with red dots and blue lines&#10;&#10;AI-generated content may be incorrect.">
            <a:extLst>
              <a:ext uri="{FF2B5EF4-FFF2-40B4-BE49-F238E27FC236}">
                <a16:creationId xmlns:a16="http://schemas.microsoft.com/office/drawing/2014/main" id="{14610832-9E29-1A1A-C897-C02779231A3C}"/>
              </a:ext>
            </a:extLst>
          </p:cNvPr>
          <p:cNvPicPr>
            <a:picLocks noGrp="1" noChangeAspect="1"/>
          </p:cNvPicPr>
          <p:nvPr>
            <p:ph idx="1"/>
          </p:nvPr>
        </p:nvPicPr>
        <p:blipFill>
          <a:blip r:embed="rId2"/>
          <a:stretch>
            <a:fillRect/>
          </a:stretch>
        </p:blipFill>
        <p:spPr>
          <a:xfrm>
            <a:off x="585649" y="2068437"/>
            <a:ext cx="6975376" cy="4440303"/>
          </a:xfrm>
          <a:prstGeom prst="rect">
            <a:avLst/>
          </a:prstGeom>
        </p:spPr>
      </p:pic>
      <p:sp>
        <p:nvSpPr>
          <p:cNvPr id="5" name="TextBox 4">
            <a:extLst>
              <a:ext uri="{FF2B5EF4-FFF2-40B4-BE49-F238E27FC236}">
                <a16:creationId xmlns:a16="http://schemas.microsoft.com/office/drawing/2014/main" id="{4499945C-BACB-5D40-A886-5FA12EA8A9CA}"/>
              </a:ext>
            </a:extLst>
          </p:cNvPr>
          <p:cNvSpPr txBox="1"/>
          <p:nvPr/>
        </p:nvSpPr>
        <p:spPr>
          <a:xfrm>
            <a:off x="8282941" y="2436159"/>
            <a:ext cx="336021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a:br>
            <a:endParaRPr lang="en-US" sz="2400"/>
          </a:p>
          <a:p>
            <a:r>
              <a:rPr lang="en-US" sz="2400"/>
              <a:t>Nugget: 0.289</a:t>
            </a:r>
          </a:p>
          <a:p>
            <a:r>
              <a:rPr lang="en-US" sz="2400"/>
              <a:t>Sill: 1802.005</a:t>
            </a:r>
          </a:p>
          <a:p>
            <a:endParaRPr lang="en-US"/>
          </a:p>
          <a:p>
            <a:br>
              <a:rPr lang="en-US"/>
            </a:br>
            <a:endParaRPr lang="en-US"/>
          </a:p>
        </p:txBody>
      </p:sp>
    </p:spTree>
    <p:extLst>
      <p:ext uri="{BB962C8B-B14F-4D97-AF65-F5344CB8AC3E}">
        <p14:creationId xmlns:p14="http://schemas.microsoft.com/office/powerpoint/2010/main" val="30392051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EFAC9-6881-B7F9-E34E-E30FB35E3393}"/>
              </a:ext>
            </a:extLst>
          </p:cNvPr>
          <p:cNvSpPr>
            <a:spLocks noGrp="1"/>
          </p:cNvSpPr>
          <p:nvPr>
            <p:ph type="title"/>
          </p:nvPr>
        </p:nvSpPr>
        <p:spPr/>
        <p:txBody>
          <a:bodyPr/>
          <a:lstStyle/>
          <a:p>
            <a:r>
              <a:rPr lang="en-US"/>
              <a:t>Variogram for up</a:t>
            </a:r>
          </a:p>
        </p:txBody>
      </p:sp>
      <p:pic>
        <p:nvPicPr>
          <p:cNvPr id="5" name="Content Placeholder 4" descr="A graph with red dots and blue line&#10;&#10;AI-generated content may be incorrect.">
            <a:extLst>
              <a:ext uri="{FF2B5EF4-FFF2-40B4-BE49-F238E27FC236}">
                <a16:creationId xmlns:a16="http://schemas.microsoft.com/office/drawing/2014/main" id="{310437D6-57DA-3D2C-D16B-09AE294F600F}"/>
              </a:ext>
            </a:extLst>
          </p:cNvPr>
          <p:cNvPicPr>
            <a:picLocks noGrp="1" noChangeAspect="1"/>
          </p:cNvPicPr>
          <p:nvPr>
            <p:ph idx="1"/>
          </p:nvPr>
        </p:nvPicPr>
        <p:blipFill>
          <a:blip r:embed="rId2"/>
          <a:stretch>
            <a:fillRect/>
          </a:stretch>
        </p:blipFill>
        <p:spPr>
          <a:xfrm>
            <a:off x="846742" y="2001202"/>
            <a:ext cx="7013485" cy="4429097"/>
          </a:xfrm>
          <a:prstGeom prst="rect">
            <a:avLst/>
          </a:prstGeom>
        </p:spPr>
      </p:pic>
      <p:sp>
        <p:nvSpPr>
          <p:cNvPr id="6" name="TextBox 5">
            <a:extLst>
              <a:ext uri="{FF2B5EF4-FFF2-40B4-BE49-F238E27FC236}">
                <a16:creationId xmlns:a16="http://schemas.microsoft.com/office/drawing/2014/main" id="{D06A9E42-7A3D-4DA5-6AB1-CD2C403C320B}"/>
              </a:ext>
            </a:extLst>
          </p:cNvPr>
          <p:cNvSpPr txBox="1"/>
          <p:nvPr/>
        </p:nvSpPr>
        <p:spPr>
          <a:xfrm>
            <a:off x="8372480" y="2536965"/>
            <a:ext cx="2783448"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a:p>
          <a:p>
            <a:endParaRPr lang="en-US" sz="2400"/>
          </a:p>
          <a:p>
            <a:r>
              <a:rPr lang="en-US" sz="2400"/>
              <a:t>Nugget: 1.234</a:t>
            </a:r>
          </a:p>
          <a:p>
            <a:r>
              <a:rPr lang="en-US" sz="2400"/>
              <a:t>Sill: 3423.089</a:t>
            </a:r>
          </a:p>
          <a:p>
            <a:endParaRPr lang="en-US"/>
          </a:p>
          <a:p>
            <a:br>
              <a:rPr lang="en-US"/>
            </a:br>
            <a:endParaRPr lang="en-US"/>
          </a:p>
        </p:txBody>
      </p:sp>
    </p:spTree>
    <p:extLst>
      <p:ext uri="{BB962C8B-B14F-4D97-AF65-F5344CB8AC3E}">
        <p14:creationId xmlns:p14="http://schemas.microsoft.com/office/powerpoint/2010/main" val="6928195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B9456-4662-1F12-AD64-CA22B70066CF}"/>
              </a:ext>
            </a:extLst>
          </p:cNvPr>
          <p:cNvSpPr>
            <a:spLocks noGrp="1"/>
          </p:cNvSpPr>
          <p:nvPr>
            <p:ph type="title"/>
          </p:nvPr>
        </p:nvSpPr>
        <p:spPr/>
        <p:txBody>
          <a:bodyPr/>
          <a:lstStyle/>
          <a:p>
            <a:r>
              <a:rPr lang="en-US"/>
              <a:t>Conclusion and a CAVEAT</a:t>
            </a:r>
          </a:p>
        </p:txBody>
      </p:sp>
      <p:sp>
        <p:nvSpPr>
          <p:cNvPr id="3" name="Content Placeholder 2">
            <a:extLst>
              <a:ext uri="{FF2B5EF4-FFF2-40B4-BE49-F238E27FC236}">
                <a16:creationId xmlns:a16="http://schemas.microsoft.com/office/drawing/2014/main" id="{41655630-F377-EB7F-CC3E-A7EAB90ECCED}"/>
              </a:ext>
            </a:extLst>
          </p:cNvPr>
          <p:cNvSpPr>
            <a:spLocks noGrp="1"/>
          </p:cNvSpPr>
          <p:nvPr>
            <p:ph idx="1"/>
          </p:nvPr>
        </p:nvSpPr>
        <p:spPr>
          <a:xfrm>
            <a:off x="581192" y="1877938"/>
            <a:ext cx="11029615" cy="4854919"/>
          </a:xfrm>
        </p:spPr>
        <p:txBody>
          <a:bodyPr vert="horz" lIns="91440" tIns="45720" rIns="91440" bIns="45720" rtlCol="0" anchor="ctr">
            <a:noAutofit/>
          </a:bodyPr>
          <a:lstStyle/>
          <a:p>
            <a:pPr marL="0" indent="0">
              <a:buNone/>
            </a:pPr>
            <a:r>
              <a:rPr lang="en-US" sz="2400"/>
              <a:t>The spatial variance is given by SILL – NUGGET value of the variogram which about 1.5 times higher for UP than for Maharashtra. Thus we conclude that UP has a higher spatial variance of income than Maharashtra.</a:t>
            </a:r>
          </a:p>
          <a:p>
            <a:pPr marL="0" indent="0">
              <a:buNone/>
            </a:pPr>
            <a:endParaRPr lang="en-US" sz="2400"/>
          </a:p>
          <a:p>
            <a:pPr marL="0" indent="0">
              <a:buNone/>
            </a:pPr>
            <a:r>
              <a:rPr lang="en-US" sz="2400"/>
              <a:t>Although there is a caveat that may put the interpretability of this result in question. Variogram is applicable to stationary spatial data having constant mean and variance which is clearly untrue in our case due to the presence of the gradient. For this reason, I transformed the data by taking the square roots of the incomes. But this still leads to non-smoothness of the variogram. </a:t>
            </a:r>
          </a:p>
        </p:txBody>
      </p:sp>
    </p:spTree>
    <p:extLst>
      <p:ext uri="{BB962C8B-B14F-4D97-AF65-F5344CB8AC3E}">
        <p14:creationId xmlns:p14="http://schemas.microsoft.com/office/powerpoint/2010/main" val="1192535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endParaRPr lang="en-US">
              <a:solidFill>
                <a:schemeClr val="bg2"/>
              </a:solidFill>
            </a:endParaRPr>
          </a:p>
          <a:p>
            <a:endParaRPr lang="en-US">
              <a:solidFill>
                <a:schemeClr val="bg2"/>
              </a:solidFill>
            </a:endParaRPr>
          </a:p>
          <a:p>
            <a:endParaRPr lang="en-US">
              <a:solidFill>
                <a:schemeClr val="bg2"/>
              </a:solidFill>
            </a:endParaRPr>
          </a:p>
        </p:txBody>
      </p:sp>
      <p:pic>
        <p:nvPicPr>
          <p:cNvPr id="4" name="Picture 3" descr="A group of people walking in a street&#10;&#10;AI-generated content may be incorrect.">
            <a:extLst>
              <a:ext uri="{FF2B5EF4-FFF2-40B4-BE49-F238E27FC236}">
                <a16:creationId xmlns:a16="http://schemas.microsoft.com/office/drawing/2014/main" id="{67485415-9275-D49D-2F11-07F22A211D7A}"/>
              </a:ext>
            </a:extLst>
          </p:cNvPr>
          <p:cNvPicPr>
            <a:picLocks noChangeAspect="1"/>
          </p:cNvPicPr>
          <p:nvPr/>
        </p:nvPicPr>
        <p:blipFill>
          <a:blip r:embed="rId3"/>
          <a:stretch>
            <a:fillRect/>
          </a:stretch>
        </p:blipFill>
        <p:spPr>
          <a:xfrm>
            <a:off x="807663" y="712135"/>
            <a:ext cx="7226113" cy="2968437"/>
          </a:xfrm>
          <a:prstGeom prst="rect">
            <a:avLst/>
          </a:prstGeom>
        </p:spPr>
      </p:pic>
      <p:pic>
        <p:nvPicPr>
          <p:cNvPr id="6" name="Picture 5" descr="A city with many boats and buildings&#10;&#10;AI-generated content may be incorrect.">
            <a:extLst>
              <a:ext uri="{FF2B5EF4-FFF2-40B4-BE49-F238E27FC236}">
                <a16:creationId xmlns:a16="http://schemas.microsoft.com/office/drawing/2014/main" id="{F5BE50E4-EDAD-0EE3-6EA1-1C649954E4E0}"/>
              </a:ext>
            </a:extLst>
          </p:cNvPr>
          <p:cNvPicPr>
            <a:picLocks noChangeAspect="1"/>
          </p:cNvPicPr>
          <p:nvPr/>
        </p:nvPicPr>
        <p:blipFill>
          <a:blip r:embed="rId4"/>
          <a:stretch>
            <a:fillRect/>
          </a:stretch>
        </p:blipFill>
        <p:spPr>
          <a:xfrm>
            <a:off x="806823" y="3668806"/>
            <a:ext cx="7227794" cy="2714066"/>
          </a:xfrm>
          <a:prstGeom prst="rect">
            <a:avLst/>
          </a:prstGeom>
        </p:spPr>
      </p:pic>
      <p:pic>
        <p:nvPicPr>
          <p:cNvPr id="5" name="Graphic 4" descr="Handshake with solid fill">
            <a:extLst>
              <a:ext uri="{FF2B5EF4-FFF2-40B4-BE49-F238E27FC236}">
                <a16:creationId xmlns:a16="http://schemas.microsoft.com/office/drawing/2014/main" id="{D7E915EF-9338-3EC9-75AD-15E901E676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24682" y="3431241"/>
            <a:ext cx="914400" cy="914400"/>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2.xml><?xml version="1.0" encoding="utf-8"?>
<ds:datastoreItem xmlns:ds="http://schemas.openxmlformats.org/officeDocument/2006/customXml" ds:itemID="{3791575F-4C21-47C4-8D13-EB9BE66B536F}">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792209EB-3212-4116-B574-D1F56C7C492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Tech design</Template>
  <TotalTime>0</TotalTime>
  <Words>3322</Words>
  <Application>Microsoft Office PowerPoint</Application>
  <PresentationFormat>Widescreen</PresentationFormat>
  <Paragraphs>286</Paragraphs>
  <Slides>69</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Aptos Narrow</vt:lpstr>
      <vt:lpstr>Arial</vt:lpstr>
      <vt:lpstr>Bookman Old Style</vt:lpstr>
      <vt:lpstr>Calibri</vt:lpstr>
      <vt:lpstr>Century Gothic</vt:lpstr>
      <vt:lpstr>Courier New</vt:lpstr>
      <vt:lpstr>Gill Sans MT</vt:lpstr>
      <vt:lpstr>Wingdings 2</vt:lpstr>
      <vt:lpstr>Custom</vt:lpstr>
      <vt:lpstr>Demographic Analysis and Comparative Study of Maharashtra and Uttar Pradesh</vt:lpstr>
      <vt:lpstr>RESEARCH QUSETION 1:</vt:lpstr>
      <vt:lpstr>MODEL AND HYPOTHESIS TESTING:</vt:lpstr>
      <vt:lpstr>LET'S TALK ABOUT  VARIABLES:</vt:lpstr>
      <vt:lpstr>PowerPoint Presentation</vt:lpstr>
      <vt:lpstr>LET'S DISCUSS POISSON REGRESSION MODEL:</vt:lpstr>
      <vt:lpstr>PowerPoint Presentation</vt:lpstr>
      <vt:lpstr>ASSUMPTION:</vt:lpstr>
      <vt:lpstr>ASSUMPTION  VERIFICATION:</vt:lpstr>
      <vt:lpstr>PowerPoint Presentation</vt:lpstr>
      <vt:lpstr>ASFR COMPARISON : MAHARASHTRA VS UP</vt:lpstr>
      <vt:lpstr>PowerPoint Presentation</vt:lpstr>
      <vt:lpstr>TFR COMPARISON: MAHARASHTRA VS UP</vt:lpstr>
      <vt:lpstr>Poisson REGRESSION RESULT:</vt:lpstr>
      <vt:lpstr>INTERPRETATION:</vt:lpstr>
      <vt:lpstr>PREDICTER NUMBER OF CHILDREN BY MOTHER EDUCATION:</vt:lpstr>
      <vt:lpstr>CONTRACEPTIVE USE: </vt:lpstr>
      <vt:lpstr>CONCLUSION:</vt:lpstr>
      <vt:lpstr>RESEARCH QUESTION 2:</vt:lpstr>
      <vt:lpstr>Weighted prevalence of early childbirth</vt:lpstr>
      <vt:lpstr>DISTRIBUTION of age at first birth by state</vt:lpstr>
      <vt:lpstr>Hypothesis testing</vt:lpstr>
      <vt:lpstr>RESULTs AND INTERPRETATION</vt:lpstr>
      <vt:lpstr>Plots for weighted prevalence comparison grouped by education and wealth</vt:lpstr>
      <vt:lpstr>INTERPRETATION FROM PLOTS</vt:lpstr>
      <vt:lpstr>Logistic regression model</vt:lpstr>
      <vt:lpstr>LOGISTIC REGRESSION RESULTS AND INTERPRETATION</vt:lpstr>
      <vt:lpstr>CONCLUSION</vt:lpstr>
      <vt:lpstr>                                   RESEARCH QUESTION 3 </vt:lpstr>
      <vt:lpstr>                                           Research objective  </vt:lpstr>
      <vt:lpstr>                                 Research hypothesis</vt:lpstr>
      <vt:lpstr>    </vt:lpstr>
      <vt:lpstr>                                          Methodology</vt:lpstr>
      <vt:lpstr>                                        Methodology </vt:lpstr>
      <vt:lpstr>                                        Methodology </vt:lpstr>
      <vt:lpstr>                                        Methodology</vt:lpstr>
      <vt:lpstr>                                        Methodology </vt:lpstr>
      <vt:lpstr>                                        Methodology </vt:lpstr>
      <vt:lpstr>                                        Methodology </vt:lpstr>
      <vt:lpstr>                                        Methodology </vt:lpstr>
      <vt:lpstr>                                        Methodology </vt:lpstr>
      <vt:lpstr>                                    Salient findings</vt:lpstr>
      <vt:lpstr>                                    Salient findings</vt:lpstr>
      <vt:lpstr>                                    Salient findings</vt:lpstr>
      <vt:lpstr>                                    Salient findings</vt:lpstr>
      <vt:lpstr>                                    Salient findings</vt:lpstr>
      <vt:lpstr>                                         Discussion</vt:lpstr>
      <vt:lpstr>                                         Conclusion</vt:lpstr>
      <vt:lpstr>RESEARCH QUESTION 4</vt:lpstr>
      <vt:lpstr>MODEL AND HYPOTHESIS TESTING(regression model)</vt:lpstr>
      <vt:lpstr>Two-Sided T -TEST</vt:lpstr>
      <vt:lpstr>ASSUMPTIONS for regression model</vt:lpstr>
      <vt:lpstr>ASSUMPTIONS for two sided t test</vt:lpstr>
      <vt:lpstr>UP AND MAHRASTHRA BOX PLOT AVG CHILDREN BORN BY RESIDENCE</vt:lpstr>
      <vt:lpstr>UP AND MAHRASTHRA BOX PLOT DISTRIBUTION OF FERTILITY BY RESIDENCE</vt:lpstr>
      <vt:lpstr>REGRESSION OUTPUT</vt:lpstr>
      <vt:lpstr>T-test Conclusion</vt:lpstr>
      <vt:lpstr>INTERPRETATION</vt:lpstr>
      <vt:lpstr>Conclusion</vt:lpstr>
      <vt:lpstr>RESEARCH QUESTION 5:</vt:lpstr>
      <vt:lpstr>REASONS FOR THE INEQUALITY</vt:lpstr>
      <vt:lpstr>TWO MAPS – data from 2019-20</vt:lpstr>
      <vt:lpstr>Structure of the data  &amp;  Methodology</vt:lpstr>
      <vt:lpstr>Formula for variogram</vt:lpstr>
      <vt:lpstr>HOW IT'S DONE IN PYTHON?</vt:lpstr>
      <vt:lpstr>Variogram for maharashtra</vt:lpstr>
      <vt:lpstr>Variogram for up</vt:lpstr>
      <vt:lpstr>Conclusion and a CAVEAT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AYUSH BARAN SEN</dc:creator>
  <cp:lastModifiedBy>Rahul Ganguly</cp:lastModifiedBy>
  <cp:revision>565</cp:revision>
  <dcterms:created xsi:type="dcterms:W3CDTF">2025-11-03T08:28:43Z</dcterms:created>
  <dcterms:modified xsi:type="dcterms:W3CDTF">2025-11-04T12:04:27Z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